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YgkaKbKGS2QJbAyBxfPYoBEYP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Diapositive de titre du module FM02 — IA Générative (14h).</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82" name="Google Shape;82;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131" name="Google Shape;131;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172" name="Google Shape;172;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217" name="Google Shape;217;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251" name="Google Shape;251;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ÉLÉMENTS DE RÉPONSE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Visages réalistes : StyleGAN (GAN). Le générateur transforme un bruit z en visage. Forces : très réaliste, génération rapide en une passe. Limites : mode collapse, peu de contrôle par le texte. Risque : deepfakes, faux profils (fraude). Parade : marquage C2PA, obligation de transparence de l'AI Act.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Musique : MusicGen. Un prompt texte décrit le style, le modèle génère l'audio. Forces : prototypage rapide, musique libre pour un contenu. Limites : cohérence sur la durée, qualité sonore. Risque : droit d'auteur des morceaux d'entraînement, imitation d'artistes.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Image depuis un texte : Stable Diffusion (diffusion dans l'espace latent d'un VAE). Forces : haute qualité, grande diversité, contrôle par le prompt. Limites : lent (nombreuses étapes de débruitage), artefacts. Risques : droit d'auteur, stéréotypes reproduits (biais).</a:t>
            </a:r>
            <a:endParaRPr/>
          </a:p>
        </p:txBody>
      </p:sp>
      <p:sp>
        <p:nvSpPr>
          <p:cNvPr id="296" name="Google Shape;29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7" name="Google Shape;3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Mettre au besoin  la différence entre encoder only, decoder only, et encoder decoder (illustration de huggingface par exemple)</a:t>
            </a:r>
            <a:endParaRPr/>
          </a:p>
        </p:txBody>
      </p:sp>
      <p:sp>
        <p:nvSpPr>
          <p:cNvPr id="385" name="Google Shape;3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443" name="Google Shape;44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S’il y a le temps expliquer le BPE</a:t>
            </a:r>
            <a:endParaRPr/>
          </a:p>
        </p:txBody>
      </p:sp>
      <p:sp>
        <p:nvSpPr>
          <p:cNvPr id="474" name="Google Shape;4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mettre l’accent sur  l’aspect sémantique et rechercher le wordtovec au besoin </a:t>
            </a:r>
            <a:endParaRPr/>
          </a:p>
        </p:txBody>
      </p:sp>
      <p:sp>
        <p:nvSpPr>
          <p:cNvPr id="499" name="Google Shape;49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3" name="Google Shape;5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Revoir le RLHF et le DPO</a:t>
            </a:r>
            <a:endParaRPr/>
          </a:p>
        </p:txBody>
      </p:sp>
      <p:sp>
        <p:nvSpPr>
          <p:cNvPr id="554" name="Google Shape;55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575" name="Google Shape;575;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5" name="Google Shape;6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à voir s’il faut mettre une illustration </a:t>
            </a:r>
            <a:endParaRPr/>
          </a:p>
        </p:txBody>
      </p:sp>
      <p:sp>
        <p:nvSpPr>
          <p:cNvPr id="606" name="Google Shape;6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8" name="Google Shape;62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655" name="Google Shape;655;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5" name="Google Shape;6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parler de langchain</a:t>
            </a:r>
            <a:endParaRPr/>
          </a:p>
        </p:txBody>
      </p:sp>
      <p:sp>
        <p:nvSpPr>
          <p:cNvPr id="831" name="Google Shape;831;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3" name="Google Shape;853;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6" name="Google Shape;876;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Lire les docs FAISS Qdrant </a:t>
            </a:r>
            <a:endParaRPr/>
          </a:p>
        </p:txBody>
      </p:sp>
      <p:sp>
        <p:nvSpPr>
          <p:cNvPr id="877" name="Google Shape;877;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6" name="Google Shape;896;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7" name="Google Shape;897;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a:p>
        </p:txBody>
      </p:sp>
      <p:sp>
        <p:nvSpPr>
          <p:cNvPr id="937" name="Google Shape;937;p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7" name="Google Shape;96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h4e54527ace7bd23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4" name="Google Shape;1014;h4e54527ace7bd23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h4e54527ace7bd23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www.deeplearningbook.org/contents/generative_model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huggingface.co/models" TargetMode="External"/><Relationship Id="rId4" Type="http://schemas.openxmlformats.org/officeDocument/2006/relationships/hyperlink" Target="https://github.com/CompVis/stable-diffusion" TargetMode="External"/><Relationship Id="rId5" Type="http://schemas.openxmlformats.org/officeDocument/2006/relationships/hyperlink" Target="https://github.com/facebookresearch/audiocraft" TargetMode="External"/><Relationship Id="rId6" Type="http://schemas.openxmlformats.org/officeDocument/2006/relationships/hyperlink" Target="https://alphafold.ebi.ac.uk" TargetMode="External"/><Relationship Id="rId7" Type="http://schemas.openxmlformats.org/officeDocument/2006/relationships/hyperlink" Target="https://artificialintelligenceact.eu/" TargetMode="External"/><Relationship Id="rId8" Type="http://schemas.openxmlformats.org/officeDocument/2006/relationships/hyperlink" Target="https://c2pa.or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poloclub.github.io/ganlab/" TargetMode="External"/><Relationship Id="rId4" Type="http://schemas.openxmlformats.org/officeDocument/2006/relationships/hyperlink" Target="https://thispersondoesnotexist.com" TargetMode="External"/><Relationship Id="rId5" Type="http://schemas.openxmlformats.org/officeDocument/2006/relationships/hyperlink" Target="https://arxiv.org/abs/1406.266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arxiv.org/abs/1312.6114" TargetMode="External"/><Relationship Id="rId4" Type="http://schemas.openxmlformats.org/officeDocument/2006/relationships/hyperlink" Target="https://lilianweng.github.io/posts/2018-08-12-va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thispersondoesnotexist.com" TargetMode="External"/><Relationship Id="rId4" Type="http://schemas.openxmlformats.org/officeDocument/2006/relationships/hyperlink" Target="https://arxiv.org/abs/2112.10752" TargetMode="External"/><Relationship Id="rId5" Type="http://schemas.openxmlformats.org/officeDocument/2006/relationships/hyperlink" Target="https://github.com/facebookresearch/audiocraft" TargetMode="External"/><Relationship Id="rId6" Type="http://schemas.openxmlformats.org/officeDocument/2006/relationships/hyperlink" Target="https://arxiv.org/abs/2502.09992" TargetMode="External"/><Relationship Id="rId7" Type="http://schemas.openxmlformats.org/officeDocument/2006/relationships/hyperlink" Target="https://arxiv.org/abs/2006.11239" TargetMode="External"/><Relationship Id="rId8" Type="http://schemas.openxmlformats.org/officeDocument/2006/relationships/hyperlink" Target="https://poloclub.github.io/diffusion-explain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arxiv.org/abs/1706.0376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jalammar.github.io/illustrated-transformer/"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platform.openai.com/tokenizer" TargetMode="External"/><Relationship Id="rId4" Type="http://schemas.openxmlformats.org/officeDocument/2006/relationships/hyperlink" Target="https://github.com/openai/tiktoken" TargetMode="External"/><Relationship Id="rId5"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arxiv.org/pdf/1301.3781" TargetMode="Externa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arxiv.org/abs/2203.0215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arxiv.org/pdf/2305.1829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hyperlink" Target="https://arxiv.org/abs/2201.11903"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hyperlink" Target="https://arxiv.org/abs/2005.1140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https://huggingface.co/spaces/mteb/leaderboar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hyperlink" Target="https://www.deeplearningbook.org" TargetMode="External"/><Relationship Id="rId4" Type="http://schemas.openxmlformats.org/officeDocument/2006/relationships/hyperlink" Target="https://github.com/ageron/handson-ml3" TargetMode="External"/><Relationship Id="rId5" Type="http://schemas.openxmlformats.org/officeDocument/2006/relationships/hyperlink" Target="https://github.com/davidADSP/Generative_Deep_Learning_2nd_Edition"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15" name="Shape 15"/>
        <p:cNvGrpSpPr/>
        <p:nvPr/>
      </p:nvGrpSpPr>
      <p:grpSpPr>
        <a:xfrm>
          <a:off x="0" y="0"/>
          <a:ext cx="0" cy="0"/>
          <a:chOff x="0" y="0"/>
          <a:chExt cx="0" cy="0"/>
        </a:xfrm>
      </p:grpSpPr>
      <p:sp>
        <p:nvSpPr>
          <p:cNvPr id="16" name="Google Shape;16;p1"/>
          <p:cNvSpPr/>
          <p:nvPr/>
        </p:nvSpPr>
        <p:spPr>
          <a:xfrm>
            <a:off x="9784080" y="502920"/>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 name="Google Shape;17;p1"/>
          <p:cNvSpPr/>
          <p:nvPr/>
        </p:nvSpPr>
        <p:spPr>
          <a:xfrm>
            <a:off x="10168128" y="502920"/>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 name="Google Shape;18;p1"/>
          <p:cNvSpPr/>
          <p:nvPr/>
        </p:nvSpPr>
        <p:spPr>
          <a:xfrm>
            <a:off x="10552176" y="502920"/>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 name="Google Shape;19;p1"/>
          <p:cNvSpPr/>
          <p:nvPr/>
        </p:nvSpPr>
        <p:spPr>
          <a:xfrm>
            <a:off x="10936224" y="502920"/>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 name="Google Shape;20;p1"/>
          <p:cNvSpPr/>
          <p:nvPr/>
        </p:nvSpPr>
        <p:spPr>
          <a:xfrm>
            <a:off x="11320272" y="502920"/>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 name="Google Shape;21;p1"/>
          <p:cNvSpPr/>
          <p:nvPr/>
        </p:nvSpPr>
        <p:spPr>
          <a:xfrm>
            <a:off x="9784080" y="886968"/>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 name="Google Shape;22;p1"/>
          <p:cNvSpPr/>
          <p:nvPr/>
        </p:nvSpPr>
        <p:spPr>
          <a:xfrm>
            <a:off x="10168128" y="886968"/>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 name="Google Shape;23;p1"/>
          <p:cNvSpPr/>
          <p:nvPr/>
        </p:nvSpPr>
        <p:spPr>
          <a:xfrm>
            <a:off x="10552176" y="886968"/>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 name="Google Shape;24;p1"/>
          <p:cNvSpPr/>
          <p:nvPr/>
        </p:nvSpPr>
        <p:spPr>
          <a:xfrm>
            <a:off x="10936224" y="886968"/>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 name="Google Shape;25;p1"/>
          <p:cNvSpPr/>
          <p:nvPr/>
        </p:nvSpPr>
        <p:spPr>
          <a:xfrm>
            <a:off x="11320272" y="886968"/>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 name="Google Shape;26;p1"/>
          <p:cNvSpPr/>
          <p:nvPr/>
        </p:nvSpPr>
        <p:spPr>
          <a:xfrm>
            <a:off x="9784080" y="1271016"/>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 name="Google Shape;27;p1"/>
          <p:cNvSpPr/>
          <p:nvPr/>
        </p:nvSpPr>
        <p:spPr>
          <a:xfrm>
            <a:off x="10168128" y="1271016"/>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 name="Google Shape;28;p1"/>
          <p:cNvSpPr/>
          <p:nvPr/>
        </p:nvSpPr>
        <p:spPr>
          <a:xfrm>
            <a:off x="10552176" y="1271016"/>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 name="Google Shape;29;p1"/>
          <p:cNvSpPr/>
          <p:nvPr/>
        </p:nvSpPr>
        <p:spPr>
          <a:xfrm>
            <a:off x="10936224" y="1271016"/>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 name="Google Shape;30;p1"/>
          <p:cNvSpPr/>
          <p:nvPr/>
        </p:nvSpPr>
        <p:spPr>
          <a:xfrm>
            <a:off x="11320272" y="1271016"/>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 name="Google Shape;31;p1"/>
          <p:cNvSpPr/>
          <p:nvPr/>
        </p:nvSpPr>
        <p:spPr>
          <a:xfrm>
            <a:off x="9784080" y="1655064"/>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 name="Google Shape;32;p1"/>
          <p:cNvSpPr/>
          <p:nvPr/>
        </p:nvSpPr>
        <p:spPr>
          <a:xfrm>
            <a:off x="10168128" y="1655064"/>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 name="Google Shape;33;p1"/>
          <p:cNvSpPr/>
          <p:nvPr/>
        </p:nvSpPr>
        <p:spPr>
          <a:xfrm>
            <a:off x="10552176" y="1655064"/>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 name="Google Shape;34;p1"/>
          <p:cNvSpPr/>
          <p:nvPr/>
        </p:nvSpPr>
        <p:spPr>
          <a:xfrm>
            <a:off x="10936224" y="1655064"/>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 name="Google Shape;35;p1"/>
          <p:cNvSpPr/>
          <p:nvPr/>
        </p:nvSpPr>
        <p:spPr>
          <a:xfrm>
            <a:off x="11320272" y="1655064"/>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 name="Google Shape;36;p1"/>
          <p:cNvSpPr/>
          <p:nvPr/>
        </p:nvSpPr>
        <p:spPr>
          <a:xfrm>
            <a:off x="9784080" y="2039112"/>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 name="Google Shape;37;p1"/>
          <p:cNvSpPr/>
          <p:nvPr/>
        </p:nvSpPr>
        <p:spPr>
          <a:xfrm>
            <a:off x="10168128" y="2039112"/>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8" name="Google Shape;38;p1"/>
          <p:cNvSpPr/>
          <p:nvPr/>
        </p:nvSpPr>
        <p:spPr>
          <a:xfrm>
            <a:off x="10552176" y="2039112"/>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 name="Google Shape;39;p1"/>
          <p:cNvSpPr/>
          <p:nvPr/>
        </p:nvSpPr>
        <p:spPr>
          <a:xfrm>
            <a:off x="10936224" y="2039112"/>
            <a:ext cx="137160" cy="13716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 name="Google Shape;40;p1"/>
          <p:cNvSpPr/>
          <p:nvPr/>
        </p:nvSpPr>
        <p:spPr>
          <a:xfrm>
            <a:off x="11320272" y="2039112"/>
            <a:ext cx="137160" cy="13716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 name="Google Shape;41;p1"/>
          <p:cNvSpPr/>
          <p:nvPr/>
        </p:nvSpPr>
        <p:spPr>
          <a:xfrm>
            <a:off x="566928" y="1828800"/>
            <a:ext cx="11055096"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500"/>
              <a:buFont typeface="Calibri"/>
              <a:buNone/>
            </a:pPr>
            <a:r>
              <a:rPr b="1" i="0" lang="en-US" spc="0" sz="1500" u="none" cap="none" strike="noStrike">
                <a:solidFill>
                  <a:srgbClr val="C77B4C"/>
                </a:solidFill>
                <a:latin typeface="Calibri"/>
                <a:ea typeface="Calibri"/>
                <a:cs typeface="Calibri"/>
                <a:sym typeface="Calibri"/>
              </a:rPr>
              <a:t>MODULE FM02  ·  14 HEURES</a:t>
            </a:r>
            <a:endParaRPr b="0" i="0" spc="0" sz="1500" u="none" cap="none" strike="noStrike">
              <a:solidFill>
                <a:schemeClr val="dk1"/>
              </a:solidFill>
              <a:latin typeface="Calibri"/>
              <a:ea typeface="Calibri"/>
              <a:cs typeface="Calibri"/>
              <a:sym typeface="Calibri"/>
            </a:endParaRPr>
          </a:p>
        </p:txBody>
      </p:sp>
      <p:sp>
        <p:nvSpPr>
          <p:cNvPr id="42" name="Google Shape;42;p1"/>
          <p:cNvSpPr/>
          <p:nvPr/>
        </p:nvSpPr>
        <p:spPr>
          <a:xfrm>
            <a:off x="566928" y="2240280"/>
            <a:ext cx="11055096"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5400"/>
              <a:buFont typeface="Cambria"/>
              <a:buNone/>
            </a:pPr>
            <a:r>
              <a:rPr b="1" i="0" lang="en-US" spc="0" sz="5400" u="none" cap="none" strike="noStrike">
                <a:solidFill>
                  <a:srgbClr val="F1EADF"/>
                </a:solidFill>
                <a:latin typeface="Cambria"/>
                <a:ea typeface="Cambria"/>
                <a:cs typeface="Cambria"/>
                <a:sym typeface="Cambria"/>
              </a:rPr>
              <a:t>IA Générative</a:t>
            </a:r>
            <a:endParaRPr b="0" i="0" spc="0" sz="5400" u="none" cap="none" strike="noStrike">
              <a:solidFill>
                <a:schemeClr val="dk1"/>
              </a:solidFill>
              <a:latin typeface="Calibri"/>
              <a:ea typeface="Calibri"/>
              <a:cs typeface="Calibri"/>
              <a:sym typeface="Calibri"/>
            </a:endParaRPr>
          </a:p>
        </p:txBody>
      </p:sp>
      <p:sp>
        <p:nvSpPr>
          <p:cNvPr id="43" name="Google Shape;43;p1"/>
          <p:cNvSpPr/>
          <p:nvPr/>
        </p:nvSpPr>
        <p:spPr>
          <a:xfrm>
            <a:off x="566928" y="3146530"/>
            <a:ext cx="8769000" cy="8229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FFFFFF"/>
              </a:buClr>
              <a:buSzPts val="2000"/>
              <a:buFont typeface="Calibri"/>
              <a:buNone/>
            </a:pPr>
            <a:r>
              <a:rPr b="0" i="0" lang="en-US" spc="0" sz="2000" u="none" cap="none" strike="noStrike">
                <a:solidFill>
                  <a:srgbClr val="FFFFFF"/>
                </a:solidFill>
                <a:latin typeface="Calibri"/>
                <a:ea typeface="Calibri"/>
                <a:cs typeface="Calibri"/>
                <a:sym typeface="Calibri"/>
              </a:rPr>
              <a:t>Concevoir, construire et évaluer des applications LLM</a:t>
            </a:r>
            <a:endParaRPr b="0" i="0" spc="0" sz="2000" u="none" cap="none" strike="noStrike">
              <a:solidFill>
                <a:schemeClr val="dk1"/>
              </a:solidFill>
              <a:latin typeface="Calibri"/>
              <a:ea typeface="Calibri"/>
              <a:cs typeface="Calibri"/>
              <a:sym typeface="Calibri"/>
            </a:endParaRPr>
          </a:p>
        </p:txBody>
      </p:sp>
      <p:sp>
        <p:nvSpPr>
          <p:cNvPr id="44" name="Google Shape;44;p1"/>
          <p:cNvSpPr/>
          <p:nvPr/>
        </p:nvSpPr>
        <p:spPr>
          <a:xfrm>
            <a:off x="566928" y="5212080"/>
            <a:ext cx="11055096" cy="914400"/>
          </a:xfrm>
          <a:prstGeom prst="roundRect">
            <a:avLst>
              <a:gd fmla="val 8000"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 name="Google Shape;45;p1"/>
          <p:cNvSpPr/>
          <p:nvPr/>
        </p:nvSpPr>
        <p:spPr>
          <a:xfrm>
            <a:off x="841248" y="5230368"/>
            <a:ext cx="64008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C77B4C"/>
              </a:buClr>
              <a:buSzPts val="1500"/>
              <a:buFont typeface="Calibri"/>
              <a:buNone/>
            </a:pPr>
            <a:r>
              <a:rPr b="1" i="0" lang="en-US" spc="0" sz="1500" u="none" cap="none" strike="noStrike">
                <a:solidFill>
                  <a:srgbClr val="C77B4C"/>
                </a:solidFill>
                <a:latin typeface="Calibri"/>
                <a:ea typeface="Calibri"/>
                <a:cs typeface="Calibri"/>
                <a:sym typeface="Calibri"/>
              </a:rPr>
              <a:t>Bloc RNCP40573-BC04B</a:t>
            </a:r>
            <a:endParaRPr b="0" i="0" spc="0" sz="15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F1EADF"/>
              </a:buClr>
              <a:buSzPts val="1500"/>
              <a:buFont typeface="Calibri"/>
              <a:buNone/>
            </a:pPr>
            <a:r>
              <a:rPr b="0" i="0" lang="en-US" spc="0" sz="1500" u="none" cap="none" strike="noStrike">
                <a:solidFill>
                  <a:srgbClr val="F1EADF"/>
                </a:solidFill>
                <a:latin typeface="Calibri"/>
                <a:ea typeface="Calibri"/>
                <a:cs typeface="Calibri"/>
                <a:sym typeface="Calibri"/>
              </a:rPr>
              <a:t>M2 Lead Developer Full Stack - ENSITECH</a:t>
            </a:r>
            <a:endParaRPr b="0" i="0" spc="0" sz="1500" u="none" cap="none" strike="noStrike">
              <a:solidFill>
                <a:schemeClr val="dk1"/>
              </a:solidFill>
              <a:latin typeface="Calibri"/>
              <a:ea typeface="Calibri"/>
              <a:cs typeface="Calibri"/>
              <a:sym typeface="Calibri"/>
            </a:endParaRPr>
          </a:p>
        </p:txBody>
      </p:sp>
      <p:sp>
        <p:nvSpPr>
          <p:cNvPr id="46" name="Google Shape;46;p1"/>
          <p:cNvSpPr/>
          <p:nvPr/>
        </p:nvSpPr>
        <p:spPr>
          <a:xfrm>
            <a:off x="7184900" y="3969425"/>
            <a:ext cx="46617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C77B4C"/>
              </a:buClr>
              <a:buSzPts val="1500"/>
              <a:buFont typeface="Calibri"/>
              <a:buNone/>
            </a:pPr>
            <a:r>
              <a:rPr b="0" i="0" lang="en-US" spc="0" sz="1500" u="none" cap="none" strike="noStrike">
                <a:solidFill>
                  <a:schemeClr val="lt1"/>
                </a:solidFill>
                <a:latin typeface="Calibri"/>
                <a:ea typeface="Calibri"/>
                <a:cs typeface="Calibri"/>
                <a:sym typeface="Calibri"/>
              </a:rPr>
              <a:t>AMEKOE Kodjo, Data Scientist, Model Risk Management</a:t>
            </a:r>
            <a:endParaRPr b="0" i="0" spc="0" sz="1500" u="none" cap="none" strike="noStrike">
              <a:solidFill>
                <a:schemeClr val="lt1"/>
              </a:solidFill>
              <a:latin typeface="Calibri"/>
              <a:ea typeface="Calibri"/>
              <a:cs typeface="Calibri"/>
              <a:sym typeface="Calibri"/>
            </a:endParaRPr>
          </a:p>
          <a:p>
            <a:pPr indent="0" lvl="0" marL="0" marR="0" rtl="0" algn="l">
              <a:lnSpc>
                <a:spcPct val="120000"/>
              </a:lnSpc>
              <a:spcBef>
                <a:spcPts val="0"/>
              </a:spcBef>
              <a:spcAft>
                <a:spcPts val="0"/>
              </a:spcAft>
              <a:buClr>
                <a:srgbClr val="C77B4C"/>
              </a:buClr>
              <a:buSzPts val="1500"/>
              <a:buFont typeface="Calibri"/>
              <a:buNone/>
            </a:pPr>
            <a:r>
              <a:rPr b="0" i="0" lang="en-US" spc="0" sz="1500" u="none" cap="none" strike="noStrike">
                <a:solidFill>
                  <a:schemeClr val="lt1"/>
                </a:solidFill>
                <a:latin typeface="Calibri"/>
                <a:ea typeface="Calibri"/>
                <a:cs typeface="Calibri"/>
                <a:sym typeface="Calibri"/>
              </a:rPr>
              <a:t>EDAH Kodjo, Lead Consultant, Big Data &amp; IA</a:t>
            </a:r>
            <a:endParaRPr b="0" i="0" spc="0" sz="1500" u="none" cap="none" strike="noStrike">
              <a:solidFill>
                <a:schemeClr val="lt1"/>
              </a:solidFill>
              <a:latin typeface="Calibri"/>
              <a:ea typeface="Calibri"/>
              <a:cs typeface="Calibri"/>
              <a:sym typeface="Calibri"/>
            </a:endParaRPr>
          </a:p>
          <a:p>
            <a:pPr indent="0" lvl="0" marL="0" marR="0" rtl="0" algn="r">
              <a:lnSpc>
                <a:spcPct val="120000"/>
              </a:lnSpc>
              <a:spcBef>
                <a:spcPts val="0"/>
              </a:spcBef>
              <a:spcAft>
                <a:spcPts val="0"/>
              </a:spcAft>
              <a:buClr>
                <a:srgbClr val="F1EADF"/>
              </a:buClr>
              <a:buSzPts val="1500"/>
              <a:buFont typeface="Calibri"/>
              <a:buNone/>
            </a:pPr>
            <a:r>
              <a:t/>
            </a:r>
            <a:endParaRPr b="0" i="0" spc="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51" name="Shape 51"/>
        <p:cNvGrpSpPr/>
        <p:nvPr/>
      </p:nvGrpSpPr>
      <p:grpSpPr>
        <a:xfrm>
          <a:off x="0" y="0"/>
          <a:ext cx="0" cy="0"/>
          <a:chOff x="0" y="0"/>
          <a:chExt cx="0" cy="0"/>
        </a:xfrm>
      </p:grpSpPr>
      <p:sp>
        <p:nvSpPr>
          <p:cNvPr id="52" name="Google Shape;52;p2"/>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INTRODUCTION</a:t>
            </a:r>
            <a:endParaRPr b="0" i="0" spc="0" sz="1200" u="none" cap="none" strike="noStrike">
              <a:solidFill>
                <a:schemeClr val="dk1"/>
              </a:solidFill>
              <a:latin typeface="Calibri"/>
              <a:ea typeface="Calibri"/>
              <a:cs typeface="Calibri"/>
              <a:sym typeface="Calibri"/>
            </a:endParaRPr>
          </a:p>
        </p:txBody>
      </p:sp>
      <p:sp>
        <p:nvSpPr>
          <p:cNvPr id="53" name="Google Shape;53;p2"/>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Objectifs &amp; périmètre du module</a:t>
            </a:r>
            <a:endParaRPr b="0" i="0" spc="0" sz="2900" u="none" cap="none" strike="noStrike">
              <a:solidFill>
                <a:schemeClr val="dk1"/>
              </a:solidFill>
              <a:latin typeface="Calibri"/>
              <a:ea typeface="Calibri"/>
              <a:cs typeface="Calibri"/>
              <a:sym typeface="Calibri"/>
            </a:endParaRPr>
          </a:p>
        </p:txBody>
      </p:sp>
      <p:sp>
        <p:nvSpPr>
          <p:cNvPr id="54" name="Google Shape;54;p2"/>
          <p:cNvSpPr/>
          <p:nvPr/>
        </p:nvSpPr>
        <p:spPr>
          <a:xfrm>
            <a:off x="566928" y="1554480"/>
            <a:ext cx="11055096" cy="822960"/>
          </a:xfrm>
          <a:prstGeom prst="roundRect">
            <a:avLst>
              <a:gd fmla="val 8889"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 name="Google Shape;55;p2"/>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56" name="Google Shape;56;p2"/>
          <p:cNvSpPr/>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Comprendre comment intégrer, piloter et évaluer un LLM dans une architecture logicielle Full Stack.</a:t>
            </a:r>
            <a:endParaRPr b="0" i="0" spc="0" sz="1400" u="none" cap="none" strike="noStrike">
              <a:solidFill>
                <a:schemeClr val="dk1"/>
              </a:solidFill>
              <a:latin typeface="Calibri"/>
              <a:ea typeface="Calibri"/>
              <a:cs typeface="Calibri"/>
              <a:sym typeface="Calibri"/>
            </a:endParaRPr>
          </a:p>
        </p:txBody>
      </p:sp>
      <p:sp>
        <p:nvSpPr>
          <p:cNvPr id="57" name="Google Shape;57;p2"/>
          <p:cNvSpPr/>
          <p:nvPr/>
        </p:nvSpPr>
        <p:spPr>
          <a:xfrm>
            <a:off x="566928" y="2606040"/>
            <a:ext cx="5390388"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 name="Google Shape;58;p2"/>
          <p:cNvSpPr/>
          <p:nvPr/>
        </p:nvSpPr>
        <p:spPr>
          <a:xfrm>
            <a:off x="822960" y="2880360"/>
            <a:ext cx="502920" cy="50292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 name="Google Shape;59;p2"/>
          <p:cNvSpPr/>
          <p:nvPr/>
        </p:nvSpPr>
        <p:spPr>
          <a:xfrm>
            <a:off x="822960" y="2880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1</a:t>
            </a:r>
            <a:endParaRPr b="0" i="0" spc="0" sz="2000" u="none" cap="none" strike="noStrike">
              <a:solidFill>
                <a:schemeClr val="dk1"/>
              </a:solidFill>
              <a:latin typeface="Calibri"/>
              <a:ea typeface="Calibri"/>
              <a:cs typeface="Calibri"/>
              <a:sym typeface="Calibri"/>
            </a:endParaRPr>
          </a:p>
        </p:txBody>
      </p:sp>
      <p:sp>
        <p:nvSpPr>
          <p:cNvPr id="60" name="Google Shape;60;p2"/>
          <p:cNvSpPr/>
          <p:nvPr/>
        </p:nvSpPr>
        <p:spPr>
          <a:xfrm>
            <a:off x="1527048" y="2843784"/>
            <a:ext cx="424738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Mécanique interne</a:t>
            </a:r>
            <a:endParaRPr b="0" i="0" spc="0" sz="1600" u="none" cap="none" strike="noStrike">
              <a:solidFill>
                <a:schemeClr val="dk1"/>
              </a:solidFill>
              <a:latin typeface="Calibri"/>
              <a:ea typeface="Calibri"/>
              <a:cs typeface="Calibri"/>
              <a:sym typeface="Calibri"/>
            </a:endParaRPr>
          </a:p>
        </p:txBody>
      </p:sp>
      <p:sp>
        <p:nvSpPr>
          <p:cNvPr id="61" name="Google Shape;61;p2"/>
          <p:cNvSpPr/>
          <p:nvPr/>
        </p:nvSpPr>
        <p:spPr>
          <a:xfrm>
            <a:off x="1527048" y="3227832"/>
            <a:ext cx="4247388" cy="64008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Maîtriser le fonctionnement de la génération de texte.</a:t>
            </a:r>
            <a:endParaRPr b="0" i="0" spc="0" sz="1250" u="none" cap="none" strike="noStrike">
              <a:solidFill>
                <a:schemeClr val="dk1"/>
              </a:solidFill>
              <a:latin typeface="Calibri"/>
              <a:ea typeface="Calibri"/>
              <a:cs typeface="Calibri"/>
              <a:sym typeface="Calibri"/>
            </a:endParaRPr>
          </a:p>
        </p:txBody>
      </p:sp>
      <p:sp>
        <p:nvSpPr>
          <p:cNvPr id="62" name="Google Shape;62;p2"/>
          <p:cNvSpPr/>
          <p:nvPr/>
        </p:nvSpPr>
        <p:spPr>
          <a:xfrm>
            <a:off x="6231636" y="2606040"/>
            <a:ext cx="5390388"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 name="Google Shape;63;p2"/>
          <p:cNvSpPr/>
          <p:nvPr/>
        </p:nvSpPr>
        <p:spPr>
          <a:xfrm>
            <a:off x="6487668" y="2880360"/>
            <a:ext cx="502920" cy="50292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 name="Google Shape;64;p2"/>
          <p:cNvSpPr/>
          <p:nvPr/>
        </p:nvSpPr>
        <p:spPr>
          <a:xfrm>
            <a:off x="6487668" y="2880360"/>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2</a:t>
            </a:r>
            <a:endParaRPr b="0" i="0" spc="0" sz="2000" u="none" cap="none" strike="noStrike">
              <a:solidFill>
                <a:schemeClr val="dk1"/>
              </a:solidFill>
              <a:latin typeface="Calibri"/>
              <a:ea typeface="Calibri"/>
              <a:cs typeface="Calibri"/>
              <a:sym typeface="Calibri"/>
            </a:endParaRPr>
          </a:p>
        </p:txBody>
      </p:sp>
      <p:sp>
        <p:nvSpPr>
          <p:cNvPr id="65" name="Google Shape;65;p2"/>
          <p:cNvSpPr/>
          <p:nvPr/>
        </p:nvSpPr>
        <p:spPr>
          <a:xfrm>
            <a:off x="7191756" y="2843784"/>
            <a:ext cx="424738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Pipeline RAG</a:t>
            </a:r>
            <a:endParaRPr b="0" i="0" spc="0" sz="1600" u="none" cap="none" strike="noStrike">
              <a:solidFill>
                <a:schemeClr val="dk1"/>
              </a:solidFill>
              <a:latin typeface="Calibri"/>
              <a:ea typeface="Calibri"/>
              <a:cs typeface="Calibri"/>
              <a:sym typeface="Calibri"/>
            </a:endParaRPr>
          </a:p>
        </p:txBody>
      </p:sp>
      <p:sp>
        <p:nvSpPr>
          <p:cNvPr id="66" name="Google Shape;66;p2"/>
          <p:cNvSpPr/>
          <p:nvPr/>
        </p:nvSpPr>
        <p:spPr>
          <a:xfrm>
            <a:off x="7191756" y="3227832"/>
            <a:ext cx="4247388" cy="64008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Implémenter une architecture Retrieval-Augmented Generation.</a:t>
            </a:r>
            <a:endParaRPr b="0" i="0" spc="0" sz="1250" u="none" cap="none" strike="noStrike">
              <a:solidFill>
                <a:schemeClr val="dk1"/>
              </a:solidFill>
              <a:latin typeface="Calibri"/>
              <a:ea typeface="Calibri"/>
              <a:cs typeface="Calibri"/>
              <a:sym typeface="Calibri"/>
            </a:endParaRPr>
          </a:p>
        </p:txBody>
      </p:sp>
      <p:sp>
        <p:nvSpPr>
          <p:cNvPr id="67" name="Google Shape;67;p2"/>
          <p:cNvSpPr/>
          <p:nvPr/>
        </p:nvSpPr>
        <p:spPr>
          <a:xfrm>
            <a:off x="566928" y="4160520"/>
            <a:ext cx="5390388"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 name="Google Shape;68;p2"/>
          <p:cNvSpPr/>
          <p:nvPr/>
        </p:nvSpPr>
        <p:spPr>
          <a:xfrm>
            <a:off x="822960" y="4434840"/>
            <a:ext cx="502920" cy="50292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 name="Google Shape;69;p2"/>
          <p:cNvSpPr/>
          <p:nvPr/>
        </p:nvSpPr>
        <p:spPr>
          <a:xfrm>
            <a:off x="822960" y="44348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3</a:t>
            </a:r>
            <a:endParaRPr b="0" i="0" spc="0" sz="2000" u="none" cap="none" strike="noStrike">
              <a:solidFill>
                <a:schemeClr val="dk1"/>
              </a:solidFill>
              <a:latin typeface="Calibri"/>
              <a:ea typeface="Calibri"/>
              <a:cs typeface="Calibri"/>
              <a:sym typeface="Calibri"/>
            </a:endParaRPr>
          </a:p>
        </p:txBody>
      </p:sp>
      <p:sp>
        <p:nvSpPr>
          <p:cNvPr id="70" name="Google Shape;70;p2"/>
          <p:cNvSpPr/>
          <p:nvPr/>
        </p:nvSpPr>
        <p:spPr>
          <a:xfrm>
            <a:off x="1527048" y="4398264"/>
            <a:ext cx="424738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Évaluation chiffrée</a:t>
            </a:r>
            <a:endParaRPr b="0" i="0" spc="0" sz="1600" u="none" cap="none" strike="noStrike">
              <a:solidFill>
                <a:schemeClr val="dk1"/>
              </a:solidFill>
              <a:latin typeface="Calibri"/>
              <a:ea typeface="Calibri"/>
              <a:cs typeface="Calibri"/>
              <a:sym typeface="Calibri"/>
            </a:endParaRPr>
          </a:p>
        </p:txBody>
      </p:sp>
      <p:sp>
        <p:nvSpPr>
          <p:cNvPr id="71" name="Google Shape;71;p2"/>
          <p:cNvSpPr/>
          <p:nvPr/>
        </p:nvSpPr>
        <p:spPr>
          <a:xfrm>
            <a:off x="1527048" y="4782312"/>
            <a:ext cx="4247388" cy="64008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Mesurer objectivement la qualité avec des métriques.</a:t>
            </a:r>
            <a:endParaRPr b="0" i="0" spc="0" sz="1250" u="none" cap="none" strike="noStrike">
              <a:solidFill>
                <a:schemeClr val="dk1"/>
              </a:solidFill>
              <a:latin typeface="Calibri"/>
              <a:ea typeface="Calibri"/>
              <a:cs typeface="Calibri"/>
              <a:sym typeface="Calibri"/>
            </a:endParaRPr>
          </a:p>
        </p:txBody>
      </p:sp>
      <p:sp>
        <p:nvSpPr>
          <p:cNvPr id="72" name="Google Shape;72;p2"/>
          <p:cNvSpPr/>
          <p:nvPr/>
        </p:nvSpPr>
        <p:spPr>
          <a:xfrm>
            <a:off x="6231636" y="4160520"/>
            <a:ext cx="5390388"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 name="Google Shape;73;p2"/>
          <p:cNvSpPr/>
          <p:nvPr/>
        </p:nvSpPr>
        <p:spPr>
          <a:xfrm>
            <a:off x="6487668" y="4434840"/>
            <a:ext cx="502920" cy="50292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 name="Google Shape;74;p2"/>
          <p:cNvSpPr/>
          <p:nvPr/>
        </p:nvSpPr>
        <p:spPr>
          <a:xfrm>
            <a:off x="6487668" y="4434840"/>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4</a:t>
            </a:r>
            <a:endParaRPr b="0" i="0" spc="0" sz="2000" u="none" cap="none" strike="noStrike">
              <a:solidFill>
                <a:schemeClr val="dk1"/>
              </a:solidFill>
              <a:latin typeface="Calibri"/>
              <a:ea typeface="Calibri"/>
              <a:cs typeface="Calibri"/>
              <a:sym typeface="Calibri"/>
            </a:endParaRPr>
          </a:p>
        </p:txBody>
      </p:sp>
      <p:sp>
        <p:nvSpPr>
          <p:cNvPr id="75" name="Google Shape;75;p2"/>
          <p:cNvSpPr/>
          <p:nvPr/>
        </p:nvSpPr>
        <p:spPr>
          <a:xfrm>
            <a:off x="7191756" y="4398264"/>
            <a:ext cx="424738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Traçabilité Git</a:t>
            </a:r>
            <a:endParaRPr b="0" i="0" spc="0" sz="1600" u="none" cap="none" strike="noStrike">
              <a:solidFill>
                <a:schemeClr val="dk1"/>
              </a:solidFill>
              <a:latin typeface="Calibri"/>
              <a:ea typeface="Calibri"/>
              <a:cs typeface="Calibri"/>
              <a:sym typeface="Calibri"/>
            </a:endParaRPr>
          </a:p>
        </p:txBody>
      </p:sp>
      <p:sp>
        <p:nvSpPr>
          <p:cNvPr id="76" name="Google Shape;76;p2"/>
          <p:cNvSpPr/>
          <p:nvPr/>
        </p:nvSpPr>
        <p:spPr>
          <a:xfrm>
            <a:off x="7191756" y="4782312"/>
            <a:ext cx="4247388" cy="64008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Tracer, versionner et rendre le travail reproductible.</a:t>
            </a:r>
            <a:endParaRPr b="0" i="0" spc="0" sz="1250" u="none" cap="none" strike="noStrike">
              <a:solidFill>
                <a:schemeClr val="dk1"/>
              </a:solidFill>
              <a:latin typeface="Calibri"/>
              <a:ea typeface="Calibri"/>
              <a:cs typeface="Calibri"/>
              <a:sym typeface="Calibri"/>
            </a:endParaRPr>
          </a:p>
        </p:txBody>
      </p:sp>
      <p:sp>
        <p:nvSpPr>
          <p:cNvPr id="77" name="Google Shape;77;p2"/>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78" name="Google Shape;78;p2"/>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3" name="Shape 83"/>
        <p:cNvGrpSpPr/>
        <p:nvPr/>
      </p:nvGrpSpPr>
      <p:grpSpPr>
        <a:xfrm>
          <a:off x="0" y="0"/>
          <a:ext cx="0" cy="0"/>
          <a:chOff x="0" y="0"/>
          <a:chExt cx="0" cy="0"/>
        </a:xfrm>
      </p:grpSpPr>
      <p:sp>
        <p:nvSpPr>
          <p:cNvPr id="84" name="Google Shape;84;p39"/>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FONDEMENTS DE L'IA GÉNÉRATIVE</a:t>
            </a:r>
            <a:endParaRPr b="0" i="0" spc="0" sz="1400" u="none" cap="none" strike="noStrike">
              <a:solidFill>
                <a:srgbClr val="000000"/>
              </a:solidFill>
              <a:latin typeface="Arial"/>
              <a:ea typeface="Arial"/>
              <a:cs typeface="Arial"/>
              <a:sym typeface="Arial"/>
            </a:endParaRPr>
          </a:p>
        </p:txBody>
      </p:sp>
      <p:sp>
        <p:nvSpPr>
          <p:cNvPr id="85" name="Google Shape;85;p39"/>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Introduction : principes de la modélisation générative</a:t>
            </a:r>
            <a:endParaRPr b="0" i="0" spc="0" sz="1400" u="none" cap="none" strike="noStrike">
              <a:solidFill>
                <a:srgbClr val="000000"/>
              </a:solidFill>
              <a:latin typeface="Arial"/>
              <a:ea typeface="Arial"/>
              <a:cs typeface="Arial"/>
              <a:sym typeface="Arial"/>
            </a:endParaRPr>
          </a:p>
        </p:txBody>
      </p:sp>
      <p:sp>
        <p:nvSpPr>
          <p:cNvPr id="86" name="Google Shape;86;p39"/>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 name="Google Shape;87;p39"/>
          <p:cNvSpPr txBox="1"/>
          <p:nvPr/>
        </p:nvSpPr>
        <p:spPr>
          <a:xfrm>
            <a:off x="822960" y="1673352"/>
            <a:ext cx="23774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IDÉE CLÉ</a:t>
            </a:r>
            <a:endParaRPr b="0" i="0" spc="0" sz="1400" u="none" cap="none" strike="noStrike">
              <a:solidFill>
                <a:srgbClr val="000000"/>
              </a:solidFill>
              <a:latin typeface="Arial"/>
              <a:ea typeface="Arial"/>
              <a:cs typeface="Arial"/>
              <a:sym typeface="Arial"/>
            </a:endParaRPr>
          </a:p>
        </p:txBody>
      </p:sp>
      <p:sp>
        <p:nvSpPr>
          <p:cNvPr id="88" name="Google Shape;88;p39"/>
          <p:cNvSpPr txBox="1"/>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Une IA générative apprend la distribution p(x) des données pour échantillonner des instances nouvelles, inédites mais plausibles.</a:t>
            </a:r>
            <a:endParaRPr b="0" i="0" spc="0" sz="1400" u="none" cap="none" strike="noStrike">
              <a:solidFill>
                <a:srgbClr val="000000"/>
              </a:solidFill>
              <a:latin typeface="Arial"/>
              <a:ea typeface="Arial"/>
              <a:cs typeface="Arial"/>
              <a:sym typeface="Arial"/>
            </a:endParaRPr>
          </a:p>
        </p:txBody>
      </p:sp>
      <p:sp>
        <p:nvSpPr>
          <p:cNvPr id="89" name="Google Shape;89;p39"/>
          <p:cNvSpPr/>
          <p:nvPr/>
        </p:nvSpPr>
        <p:spPr>
          <a:xfrm>
            <a:off x="566928" y="2560320"/>
            <a:ext cx="2487168" cy="128016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 name="Google Shape;90;p39"/>
          <p:cNvSpPr/>
          <p:nvPr/>
        </p:nvSpPr>
        <p:spPr>
          <a:xfrm>
            <a:off x="768096"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 name="Google Shape;91;p39"/>
          <p:cNvSpPr txBox="1"/>
          <p:nvPr/>
        </p:nvSpPr>
        <p:spPr>
          <a:xfrm>
            <a:off x="768096"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92" name="Google Shape;92;p39"/>
          <p:cNvSpPr txBox="1"/>
          <p:nvPr/>
        </p:nvSpPr>
        <p:spPr>
          <a:xfrm>
            <a:off x="1344168" y="2724912"/>
            <a:ext cx="1645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Données réelles</a:t>
            </a:r>
            <a:endParaRPr b="0" i="0" spc="0" sz="1400" u="none" cap="none" strike="noStrike">
              <a:solidFill>
                <a:srgbClr val="000000"/>
              </a:solidFill>
              <a:latin typeface="Arial"/>
              <a:ea typeface="Arial"/>
              <a:cs typeface="Arial"/>
              <a:sym typeface="Arial"/>
            </a:endParaRPr>
          </a:p>
        </p:txBody>
      </p:sp>
      <p:sp>
        <p:nvSpPr>
          <p:cNvPr id="93" name="Google Shape;93;p39"/>
          <p:cNvSpPr txBox="1"/>
          <p:nvPr/>
        </p:nvSpPr>
        <p:spPr>
          <a:xfrm>
            <a:off x="749808" y="324612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Corpus x₁…xₙ tiré d'une distribution p(x) inconnue.</a:t>
            </a:r>
            <a:endParaRPr b="0" i="0" spc="0" sz="1400" u="none" cap="none" strike="noStrike">
              <a:solidFill>
                <a:srgbClr val="000000"/>
              </a:solidFill>
              <a:latin typeface="Arial"/>
              <a:ea typeface="Arial"/>
              <a:cs typeface="Arial"/>
              <a:sym typeface="Arial"/>
            </a:endParaRPr>
          </a:p>
        </p:txBody>
      </p:sp>
      <p:sp>
        <p:nvSpPr>
          <p:cNvPr id="94" name="Google Shape;94;p39"/>
          <p:cNvSpPr txBox="1"/>
          <p:nvPr/>
        </p:nvSpPr>
        <p:spPr>
          <a:xfrm>
            <a:off x="3054096" y="2560320"/>
            <a:ext cx="292608" cy="1280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95" name="Google Shape;95;p39"/>
          <p:cNvSpPr/>
          <p:nvPr/>
        </p:nvSpPr>
        <p:spPr>
          <a:xfrm>
            <a:off x="3346704" y="2560320"/>
            <a:ext cx="2487168" cy="128016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 name="Google Shape;96;p39"/>
          <p:cNvSpPr/>
          <p:nvPr/>
        </p:nvSpPr>
        <p:spPr>
          <a:xfrm>
            <a:off x="3547872"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 name="Google Shape;97;p39"/>
          <p:cNvSpPr txBox="1"/>
          <p:nvPr/>
        </p:nvSpPr>
        <p:spPr>
          <a:xfrm>
            <a:off x="3547872"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98" name="Google Shape;98;p39"/>
          <p:cNvSpPr txBox="1"/>
          <p:nvPr/>
        </p:nvSpPr>
        <p:spPr>
          <a:xfrm>
            <a:off x="4123944" y="2724912"/>
            <a:ext cx="1645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Apprentissage</a:t>
            </a:r>
            <a:endParaRPr b="0" i="0" spc="0" sz="1400" u="none" cap="none" strike="noStrike">
              <a:solidFill>
                <a:srgbClr val="000000"/>
              </a:solidFill>
              <a:latin typeface="Arial"/>
              <a:ea typeface="Arial"/>
              <a:cs typeface="Arial"/>
              <a:sym typeface="Arial"/>
            </a:endParaRPr>
          </a:p>
        </p:txBody>
      </p:sp>
      <p:sp>
        <p:nvSpPr>
          <p:cNvPr id="99" name="Google Shape;99;p39"/>
          <p:cNvSpPr txBox="1"/>
          <p:nvPr/>
        </p:nvSpPr>
        <p:spPr>
          <a:xfrm>
            <a:off x="3529584" y="324612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Ajuster p_θ(x) ≈ p(x) par maximum de vraisemblance.</a:t>
            </a:r>
            <a:endParaRPr b="0" i="0" spc="0" sz="1400" u="none" cap="none" strike="noStrike">
              <a:solidFill>
                <a:srgbClr val="000000"/>
              </a:solidFill>
              <a:latin typeface="Arial"/>
              <a:ea typeface="Arial"/>
              <a:cs typeface="Arial"/>
              <a:sym typeface="Arial"/>
            </a:endParaRPr>
          </a:p>
        </p:txBody>
      </p:sp>
      <p:sp>
        <p:nvSpPr>
          <p:cNvPr id="100" name="Google Shape;100;p39"/>
          <p:cNvSpPr txBox="1"/>
          <p:nvPr/>
        </p:nvSpPr>
        <p:spPr>
          <a:xfrm>
            <a:off x="5833872" y="2560320"/>
            <a:ext cx="292608" cy="1280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01" name="Google Shape;101;p39"/>
          <p:cNvSpPr/>
          <p:nvPr/>
        </p:nvSpPr>
        <p:spPr>
          <a:xfrm>
            <a:off x="6126480" y="2560320"/>
            <a:ext cx="2487168" cy="128016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 name="Google Shape;102;p39"/>
          <p:cNvSpPr/>
          <p:nvPr/>
        </p:nvSpPr>
        <p:spPr>
          <a:xfrm>
            <a:off x="6327648"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 name="Google Shape;103;p39"/>
          <p:cNvSpPr txBox="1"/>
          <p:nvPr/>
        </p:nvSpPr>
        <p:spPr>
          <a:xfrm>
            <a:off x="6327648"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104" name="Google Shape;104;p39"/>
          <p:cNvSpPr txBox="1"/>
          <p:nvPr/>
        </p:nvSpPr>
        <p:spPr>
          <a:xfrm>
            <a:off x="6903720" y="2724912"/>
            <a:ext cx="1645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Espace latent z</a:t>
            </a:r>
            <a:endParaRPr b="0" i="0" spc="0" sz="1400" u="none" cap="none" strike="noStrike">
              <a:solidFill>
                <a:srgbClr val="000000"/>
              </a:solidFill>
              <a:latin typeface="Arial"/>
              <a:ea typeface="Arial"/>
              <a:cs typeface="Arial"/>
              <a:sym typeface="Arial"/>
            </a:endParaRPr>
          </a:p>
        </p:txBody>
      </p:sp>
      <p:sp>
        <p:nvSpPr>
          <p:cNvPr id="105" name="Google Shape;105;p39"/>
          <p:cNvSpPr txBox="1"/>
          <p:nvPr/>
        </p:nvSpPr>
        <p:spPr>
          <a:xfrm>
            <a:off x="6309360" y="324612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Représentation compressée des facteurs de variation.</a:t>
            </a:r>
            <a:endParaRPr b="0" i="0" spc="0" sz="1400" u="none" cap="none" strike="noStrike">
              <a:solidFill>
                <a:srgbClr val="000000"/>
              </a:solidFill>
              <a:latin typeface="Arial"/>
              <a:ea typeface="Arial"/>
              <a:cs typeface="Arial"/>
              <a:sym typeface="Arial"/>
            </a:endParaRPr>
          </a:p>
        </p:txBody>
      </p:sp>
      <p:sp>
        <p:nvSpPr>
          <p:cNvPr id="106" name="Google Shape;106;p39"/>
          <p:cNvSpPr txBox="1"/>
          <p:nvPr/>
        </p:nvSpPr>
        <p:spPr>
          <a:xfrm>
            <a:off x="8613648" y="2560320"/>
            <a:ext cx="292608" cy="12801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07" name="Google Shape;107;p39"/>
          <p:cNvSpPr/>
          <p:nvPr/>
        </p:nvSpPr>
        <p:spPr>
          <a:xfrm>
            <a:off x="8906256" y="2560320"/>
            <a:ext cx="2487168" cy="1280160"/>
          </a:xfrm>
          <a:prstGeom prst="roundRect">
            <a:avLst>
              <a:gd fmla="val 2807"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 name="Google Shape;108;p39"/>
          <p:cNvSpPr/>
          <p:nvPr/>
        </p:nvSpPr>
        <p:spPr>
          <a:xfrm>
            <a:off x="9107424" y="272491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 name="Google Shape;109;p39"/>
          <p:cNvSpPr txBox="1"/>
          <p:nvPr/>
        </p:nvSpPr>
        <p:spPr>
          <a:xfrm>
            <a:off x="9107424"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4</a:t>
            </a:r>
            <a:endParaRPr b="0" i="0" spc="0" sz="1400" u="none" cap="none" strike="noStrike">
              <a:solidFill>
                <a:srgbClr val="000000"/>
              </a:solidFill>
              <a:latin typeface="Arial"/>
              <a:ea typeface="Arial"/>
              <a:cs typeface="Arial"/>
              <a:sym typeface="Arial"/>
            </a:endParaRPr>
          </a:p>
        </p:txBody>
      </p:sp>
      <p:sp>
        <p:nvSpPr>
          <p:cNvPr id="110" name="Google Shape;110;p39"/>
          <p:cNvSpPr txBox="1"/>
          <p:nvPr/>
        </p:nvSpPr>
        <p:spPr>
          <a:xfrm>
            <a:off x="9683496" y="2724912"/>
            <a:ext cx="16459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Échantillonnage</a:t>
            </a:r>
            <a:endParaRPr b="0" i="0" spc="0" sz="1400" u="none" cap="none" strike="noStrike">
              <a:solidFill>
                <a:srgbClr val="000000"/>
              </a:solidFill>
              <a:latin typeface="Arial"/>
              <a:ea typeface="Arial"/>
              <a:cs typeface="Arial"/>
              <a:sym typeface="Arial"/>
            </a:endParaRPr>
          </a:p>
        </p:txBody>
      </p:sp>
      <p:sp>
        <p:nvSpPr>
          <p:cNvPr id="111" name="Google Shape;111;p39"/>
          <p:cNvSpPr txBox="1"/>
          <p:nvPr/>
        </p:nvSpPr>
        <p:spPr>
          <a:xfrm>
            <a:off x="9089136" y="324612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Tirer z puis décoder une donnée x nouvelle.</a:t>
            </a:r>
            <a:endParaRPr b="0" i="0" spc="0" sz="1400" u="none" cap="none" strike="noStrike">
              <a:solidFill>
                <a:srgbClr val="000000"/>
              </a:solidFill>
              <a:latin typeface="Arial"/>
              <a:ea typeface="Arial"/>
              <a:cs typeface="Arial"/>
              <a:sym typeface="Arial"/>
            </a:endParaRPr>
          </a:p>
        </p:txBody>
      </p:sp>
      <p:sp>
        <p:nvSpPr>
          <p:cNvPr id="112" name="Google Shape;112;p39"/>
          <p:cNvSpPr txBox="1"/>
          <p:nvPr/>
        </p:nvSpPr>
        <p:spPr>
          <a:xfrm>
            <a:off x="566928" y="3950208"/>
            <a:ext cx="11055096"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C77B4C"/>
                </a:solidFill>
                <a:latin typeface="Calibri"/>
                <a:ea typeface="Calibri"/>
                <a:cs typeface="Calibri"/>
                <a:sym typeface="Calibri"/>
              </a:rPr>
              <a:t>Comparaison avec les autres approches de l'IA</a:t>
            </a:r>
            <a:endParaRPr b="0" i="0" spc="0" sz="1400" u="none" cap="none" strike="noStrike">
              <a:solidFill>
                <a:srgbClr val="000000"/>
              </a:solidFill>
              <a:latin typeface="Arial"/>
              <a:ea typeface="Arial"/>
              <a:cs typeface="Arial"/>
              <a:sym typeface="Arial"/>
            </a:endParaRPr>
          </a:p>
        </p:txBody>
      </p:sp>
      <p:sp>
        <p:nvSpPr>
          <p:cNvPr id="113" name="Google Shape;113;p39"/>
          <p:cNvSpPr/>
          <p:nvPr/>
        </p:nvSpPr>
        <p:spPr>
          <a:xfrm>
            <a:off x="566928" y="4343400"/>
            <a:ext cx="3502152" cy="14630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 name="Google Shape;114;p39"/>
          <p:cNvSpPr txBox="1"/>
          <p:nvPr/>
        </p:nvSpPr>
        <p:spPr>
          <a:xfrm>
            <a:off x="749808" y="4434840"/>
            <a:ext cx="31546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pc="0" sz="1600" u="none" cap="none" strike="noStrike">
                <a:solidFill>
                  <a:srgbClr val="C77B4C"/>
                </a:solidFill>
                <a:latin typeface="Cambria"/>
                <a:ea typeface="Cambria"/>
                <a:cs typeface="Cambria"/>
                <a:sym typeface="Cambria"/>
              </a:rPr>
              <a:t>IA symbolique</a:t>
            </a:r>
            <a:endParaRPr b="0" i="0" spc="0" sz="1400" u="none" cap="none" strike="noStrike">
              <a:solidFill>
                <a:srgbClr val="000000"/>
              </a:solidFill>
              <a:latin typeface="Arial"/>
              <a:ea typeface="Arial"/>
              <a:cs typeface="Arial"/>
              <a:sym typeface="Arial"/>
            </a:endParaRPr>
          </a:p>
        </p:txBody>
      </p:sp>
      <p:sp>
        <p:nvSpPr>
          <p:cNvPr id="115" name="Google Shape;115;p39"/>
          <p:cNvSpPr txBox="1"/>
          <p:nvPr/>
        </p:nvSpPr>
        <p:spPr>
          <a:xfrm>
            <a:off x="749808" y="4773168"/>
            <a:ext cx="3154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pc="0" sz="1200" u="none" cap="none" strike="noStrike">
                <a:solidFill>
                  <a:srgbClr val="9DB0C2"/>
                </a:solidFill>
                <a:latin typeface="Calibri"/>
                <a:ea typeface="Calibri"/>
                <a:cs typeface="Calibri"/>
                <a:sym typeface="Calibri"/>
              </a:rPr>
              <a:t>Règles explicites</a:t>
            </a:r>
            <a:endParaRPr b="0" i="0" spc="0" sz="1400" u="none" cap="none" strike="noStrike">
              <a:solidFill>
                <a:srgbClr val="000000"/>
              </a:solidFill>
              <a:latin typeface="Arial"/>
              <a:ea typeface="Arial"/>
              <a:cs typeface="Arial"/>
              <a:sym typeface="Arial"/>
            </a:endParaRPr>
          </a:p>
        </p:txBody>
      </p:sp>
      <p:sp>
        <p:nvSpPr>
          <p:cNvPr id="116" name="Google Shape;116;p39"/>
          <p:cNvSpPr txBox="1"/>
          <p:nvPr/>
        </p:nvSpPr>
        <p:spPr>
          <a:xfrm>
            <a:off x="749808" y="5047488"/>
            <a:ext cx="3154680" cy="7315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Logique écrite par des experts</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Ex. : systèmes experts, moteurs de règles</a:t>
            </a:r>
            <a:endParaRPr b="0" i="0" spc="0" sz="1400" u="none" cap="none" strike="noStrike">
              <a:solidFill>
                <a:srgbClr val="000000"/>
              </a:solidFill>
              <a:latin typeface="Arial"/>
              <a:ea typeface="Arial"/>
              <a:cs typeface="Arial"/>
              <a:sym typeface="Arial"/>
            </a:endParaRPr>
          </a:p>
        </p:txBody>
      </p:sp>
      <p:sp>
        <p:nvSpPr>
          <p:cNvPr id="117" name="Google Shape;117;p39"/>
          <p:cNvSpPr/>
          <p:nvPr/>
        </p:nvSpPr>
        <p:spPr>
          <a:xfrm>
            <a:off x="4343400" y="4343400"/>
            <a:ext cx="3502152" cy="14630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8" name="Google Shape;118;p39"/>
          <p:cNvSpPr txBox="1"/>
          <p:nvPr/>
        </p:nvSpPr>
        <p:spPr>
          <a:xfrm>
            <a:off x="4526280" y="4434840"/>
            <a:ext cx="31546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pc="0" sz="1600" u="none" cap="none" strike="noStrike">
                <a:solidFill>
                  <a:srgbClr val="C77B4C"/>
                </a:solidFill>
                <a:latin typeface="Cambria"/>
                <a:ea typeface="Cambria"/>
                <a:cs typeface="Cambria"/>
                <a:sym typeface="Cambria"/>
              </a:rPr>
              <a:t>IA discriminative</a:t>
            </a:r>
            <a:endParaRPr b="0" i="0" spc="0" sz="1400" u="none" cap="none" strike="noStrike">
              <a:solidFill>
                <a:srgbClr val="000000"/>
              </a:solidFill>
              <a:latin typeface="Arial"/>
              <a:ea typeface="Arial"/>
              <a:cs typeface="Arial"/>
              <a:sym typeface="Arial"/>
            </a:endParaRPr>
          </a:p>
        </p:txBody>
      </p:sp>
      <p:sp>
        <p:nvSpPr>
          <p:cNvPr id="119" name="Google Shape;119;p39"/>
          <p:cNvSpPr txBox="1"/>
          <p:nvPr/>
        </p:nvSpPr>
        <p:spPr>
          <a:xfrm>
            <a:off x="4526280" y="4773168"/>
            <a:ext cx="3154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pc="0" sz="1200" u="none" cap="none" strike="noStrike">
                <a:solidFill>
                  <a:srgbClr val="9DB0C2"/>
                </a:solidFill>
                <a:latin typeface="Calibri"/>
                <a:ea typeface="Calibri"/>
                <a:cs typeface="Calibri"/>
                <a:sym typeface="Calibri"/>
              </a:rPr>
              <a:t>Modélise p(y | x)</a:t>
            </a:r>
            <a:endParaRPr b="0" i="0" spc="0" sz="1400" u="none" cap="none" strike="noStrike">
              <a:solidFill>
                <a:srgbClr val="000000"/>
              </a:solidFill>
              <a:latin typeface="Arial"/>
              <a:ea typeface="Arial"/>
              <a:cs typeface="Arial"/>
              <a:sym typeface="Arial"/>
            </a:endParaRPr>
          </a:p>
        </p:txBody>
      </p:sp>
      <p:sp>
        <p:nvSpPr>
          <p:cNvPr id="120" name="Google Shape;120;p39"/>
          <p:cNvSpPr txBox="1"/>
          <p:nvPr/>
        </p:nvSpPr>
        <p:spPr>
          <a:xfrm>
            <a:off x="4526280" y="5047488"/>
            <a:ext cx="3154680" cy="7315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Apprend une frontière entre classes</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Ex. : spam, détection de fraude, scoring</a:t>
            </a:r>
            <a:endParaRPr b="0" i="0" spc="0" sz="1400" u="none" cap="none" strike="noStrike">
              <a:solidFill>
                <a:srgbClr val="000000"/>
              </a:solidFill>
              <a:latin typeface="Arial"/>
              <a:ea typeface="Arial"/>
              <a:cs typeface="Arial"/>
              <a:sym typeface="Arial"/>
            </a:endParaRPr>
          </a:p>
        </p:txBody>
      </p:sp>
      <p:sp>
        <p:nvSpPr>
          <p:cNvPr id="121" name="Google Shape;121;p39"/>
          <p:cNvSpPr/>
          <p:nvPr/>
        </p:nvSpPr>
        <p:spPr>
          <a:xfrm>
            <a:off x="8119872" y="4343400"/>
            <a:ext cx="3502152" cy="146304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2" name="Google Shape;122;p39"/>
          <p:cNvSpPr txBox="1"/>
          <p:nvPr/>
        </p:nvSpPr>
        <p:spPr>
          <a:xfrm>
            <a:off x="8302752" y="4434840"/>
            <a:ext cx="315468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US" spc="0" sz="1600" u="none" cap="none" strike="noStrike">
                <a:solidFill>
                  <a:srgbClr val="C77B4C"/>
                </a:solidFill>
                <a:latin typeface="Cambria"/>
                <a:ea typeface="Cambria"/>
                <a:cs typeface="Cambria"/>
                <a:sym typeface="Cambria"/>
              </a:rPr>
              <a:t>IA générative</a:t>
            </a:r>
            <a:endParaRPr b="0" i="0" spc="0" sz="1400" u="none" cap="none" strike="noStrike">
              <a:solidFill>
                <a:srgbClr val="000000"/>
              </a:solidFill>
              <a:latin typeface="Arial"/>
              <a:ea typeface="Arial"/>
              <a:cs typeface="Arial"/>
              <a:sym typeface="Arial"/>
            </a:endParaRPr>
          </a:p>
        </p:txBody>
      </p:sp>
      <p:sp>
        <p:nvSpPr>
          <p:cNvPr id="123" name="Google Shape;123;p39"/>
          <p:cNvSpPr txBox="1"/>
          <p:nvPr/>
        </p:nvSpPr>
        <p:spPr>
          <a:xfrm>
            <a:off x="8302752" y="4773168"/>
            <a:ext cx="31546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1" lang="en-US" spc="0" sz="1200" u="none" cap="none" strike="noStrike">
                <a:solidFill>
                  <a:srgbClr val="9DB0C2"/>
                </a:solidFill>
                <a:latin typeface="Calibri"/>
                <a:ea typeface="Calibri"/>
                <a:cs typeface="Calibri"/>
                <a:sym typeface="Calibri"/>
              </a:rPr>
              <a:t>Modélise p(x) ou p(x | y)</a:t>
            </a:r>
            <a:endParaRPr b="0" i="0" spc="0" sz="1400" u="none" cap="none" strike="noStrike">
              <a:solidFill>
                <a:srgbClr val="000000"/>
              </a:solidFill>
              <a:latin typeface="Arial"/>
              <a:ea typeface="Arial"/>
              <a:cs typeface="Arial"/>
              <a:sym typeface="Arial"/>
            </a:endParaRPr>
          </a:p>
        </p:txBody>
      </p:sp>
      <p:sp>
        <p:nvSpPr>
          <p:cNvPr id="124" name="Google Shape;124;p39"/>
          <p:cNvSpPr txBox="1"/>
          <p:nvPr/>
        </p:nvSpPr>
        <p:spPr>
          <a:xfrm>
            <a:off x="8302752" y="5047488"/>
            <a:ext cx="3154680" cy="7315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Apprend la structure complète des données</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Ex. : texte, image, voix, code, molécules</a:t>
            </a:r>
            <a:endParaRPr b="0" i="0" spc="0" sz="1400" u="none" cap="none" strike="noStrike">
              <a:solidFill>
                <a:srgbClr val="000000"/>
              </a:solidFill>
              <a:latin typeface="Arial"/>
              <a:ea typeface="Arial"/>
              <a:cs typeface="Arial"/>
              <a:sym typeface="Arial"/>
            </a:endParaRPr>
          </a:p>
        </p:txBody>
      </p:sp>
      <p:sp>
        <p:nvSpPr>
          <p:cNvPr id="125" name="Google Shape;125;p39"/>
          <p:cNvSpPr txBox="1"/>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Goodfellow, Bengio &amp; Courville, Deep Learning, chap. 20 : Deep Generative Models - </a:t>
            </a:r>
            <a:r>
              <a:rPr b="0" i="1" lang="en-US" spc="0" sz="1050" u="sng" cap="none" strike="noStrike">
                <a:solidFill>
                  <a:schemeClr val="hlink"/>
                </a:solidFill>
                <a:latin typeface="Calibri"/>
                <a:ea typeface="Calibri"/>
                <a:cs typeface="Calibri"/>
                <a:sym typeface="Calibri"/>
                <a:hlinkClick r:id="rId3"/>
              </a:rPr>
              <a:t>https://www.deeplearningbook.org/contents/generative_models.html</a:t>
            </a:r>
            <a:endParaRPr b="0" i="0" spc="0" sz="1400" u="none" cap="none" strike="noStrike">
              <a:solidFill>
                <a:srgbClr val="000000"/>
              </a:solidFill>
              <a:latin typeface="Arial"/>
              <a:ea typeface="Arial"/>
              <a:cs typeface="Arial"/>
              <a:sym typeface="Arial"/>
            </a:endParaRPr>
          </a:p>
        </p:txBody>
      </p:sp>
      <p:sp>
        <p:nvSpPr>
          <p:cNvPr id="126" name="Google Shape;126;p39"/>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127" name="Google Shape;127;p39"/>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3</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132" name="Shape 132"/>
        <p:cNvGrpSpPr/>
        <p:nvPr/>
      </p:nvGrpSpPr>
      <p:grpSpPr>
        <a:xfrm>
          <a:off x="0" y="0"/>
          <a:ext cx="0" cy="0"/>
          <a:chOff x="0" y="0"/>
          <a:chExt cx="0" cy="0"/>
        </a:xfrm>
      </p:grpSpPr>
      <p:sp>
        <p:nvSpPr>
          <p:cNvPr id="133" name="Google Shape;133;p40"/>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FONDEMENTS DE L'IA GÉNÉRATIVE</a:t>
            </a:r>
            <a:endParaRPr b="0" i="0" spc="0" sz="1400" u="none" cap="none" strike="noStrike">
              <a:solidFill>
                <a:srgbClr val="000000"/>
              </a:solidFill>
              <a:latin typeface="Arial"/>
              <a:ea typeface="Arial"/>
              <a:cs typeface="Arial"/>
              <a:sym typeface="Arial"/>
            </a:endParaRPr>
          </a:p>
        </p:txBody>
      </p:sp>
      <p:sp>
        <p:nvSpPr>
          <p:cNvPr id="134" name="Google Shape;134;p40"/>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Applications &amp; enjeux éthiques de l'IA générative</a:t>
            </a:r>
            <a:endParaRPr b="0" i="0" spc="0" sz="1400" u="none" cap="none" strike="noStrike">
              <a:solidFill>
                <a:srgbClr val="000000"/>
              </a:solidFill>
              <a:latin typeface="Arial"/>
              <a:ea typeface="Arial"/>
              <a:cs typeface="Arial"/>
              <a:sym typeface="Arial"/>
            </a:endParaRPr>
          </a:p>
        </p:txBody>
      </p:sp>
      <p:sp>
        <p:nvSpPr>
          <p:cNvPr id="135" name="Google Shape;135;p40"/>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 name="Google Shape;136;p40"/>
          <p:cNvSpPr txBox="1"/>
          <p:nvPr/>
        </p:nvSpPr>
        <p:spPr>
          <a:xfrm>
            <a:off x="822960" y="1673352"/>
            <a:ext cx="23774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IDÉE CLÉ</a:t>
            </a:r>
            <a:endParaRPr b="0" i="0" spc="0" sz="1400" u="none" cap="none" strike="noStrike">
              <a:solidFill>
                <a:srgbClr val="000000"/>
              </a:solidFill>
              <a:latin typeface="Arial"/>
              <a:ea typeface="Arial"/>
              <a:cs typeface="Arial"/>
              <a:sym typeface="Arial"/>
            </a:endParaRPr>
          </a:p>
        </p:txBody>
      </p:sp>
      <p:sp>
        <p:nvSpPr>
          <p:cNvPr id="137" name="Google Shape;137;p40"/>
          <p:cNvSpPr txBox="1"/>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Toute donnée structurée devient « générable » : texte, image, son, molécule. Les risques sont à la hauteur de ces usages.</a:t>
            </a:r>
            <a:endParaRPr b="0" i="0" spc="0" sz="1400" u="none" cap="none" strike="noStrike">
              <a:solidFill>
                <a:srgbClr val="000000"/>
              </a:solidFill>
              <a:latin typeface="Arial"/>
              <a:ea typeface="Arial"/>
              <a:cs typeface="Arial"/>
              <a:sym typeface="Arial"/>
            </a:endParaRPr>
          </a:p>
        </p:txBody>
      </p:sp>
      <p:sp>
        <p:nvSpPr>
          <p:cNvPr id="138" name="Google Shape;138;p40"/>
          <p:cNvSpPr/>
          <p:nvPr/>
        </p:nvSpPr>
        <p:spPr>
          <a:xfrm>
            <a:off x="566928" y="2560320"/>
            <a:ext cx="2523744" cy="18745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 name="Google Shape;139;p40"/>
          <p:cNvSpPr txBox="1"/>
          <p:nvPr/>
        </p:nvSpPr>
        <p:spPr>
          <a:xfrm>
            <a:off x="749808" y="269748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TEXTE &amp; CODE</a:t>
            </a:r>
            <a:endParaRPr b="0" i="0" spc="0" sz="1400" u="none" cap="none" strike="noStrike">
              <a:solidFill>
                <a:srgbClr val="000000"/>
              </a:solidFill>
              <a:latin typeface="Arial"/>
              <a:ea typeface="Arial"/>
              <a:cs typeface="Arial"/>
              <a:sym typeface="Arial"/>
            </a:endParaRPr>
          </a:p>
        </p:txBody>
      </p:sp>
      <p:sp>
        <p:nvSpPr>
          <p:cNvPr id="140" name="Google Shape;140;p40"/>
          <p:cNvSpPr txBox="1"/>
          <p:nvPr/>
        </p:nvSpPr>
        <p:spPr>
          <a:xfrm>
            <a:off x="749808" y="2990088"/>
            <a:ext cx="2157984"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50"/>
              <a:buFont typeface="Arial"/>
              <a:buNone/>
            </a:pPr>
            <a:r>
              <a:rPr b="1" i="0" lang="en-US" spc="0" sz="1550" u="none" cap="none" strike="noStrike">
                <a:solidFill>
                  <a:srgbClr val="F1EADF"/>
                </a:solidFill>
                <a:latin typeface="Cambria"/>
                <a:ea typeface="Cambria"/>
                <a:cs typeface="Cambria"/>
                <a:sym typeface="Cambria"/>
              </a:rPr>
              <a:t>Assistants, copilotes</a:t>
            </a:r>
            <a:endParaRPr b="0" i="0" spc="0" sz="1400" u="none" cap="none" strike="noStrike">
              <a:solidFill>
                <a:srgbClr val="000000"/>
              </a:solidFill>
              <a:latin typeface="Arial"/>
              <a:ea typeface="Arial"/>
              <a:cs typeface="Arial"/>
              <a:sym typeface="Arial"/>
            </a:endParaRPr>
          </a:p>
        </p:txBody>
      </p:sp>
      <p:sp>
        <p:nvSpPr>
          <p:cNvPr id="141" name="Google Shape;141;p40"/>
          <p:cNvSpPr txBox="1"/>
          <p:nvPr/>
        </p:nvSpPr>
        <p:spPr>
          <a:xfrm>
            <a:off x="749808" y="338328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Rédaction, synthèse, génération de code, agents.</a:t>
            </a:r>
            <a:endParaRPr b="0" i="0" spc="0" sz="1400" u="none" cap="none" strike="noStrike">
              <a:solidFill>
                <a:srgbClr val="000000"/>
              </a:solidFill>
              <a:latin typeface="Arial"/>
              <a:ea typeface="Arial"/>
              <a:cs typeface="Arial"/>
              <a:sym typeface="Arial"/>
            </a:endParaRPr>
          </a:p>
        </p:txBody>
      </p:sp>
      <p:sp>
        <p:nvSpPr>
          <p:cNvPr id="142" name="Google Shape;142;p40"/>
          <p:cNvSpPr txBox="1"/>
          <p:nvPr/>
        </p:nvSpPr>
        <p:spPr>
          <a:xfrm>
            <a:off x="749808" y="402336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3"/>
              </a:rPr>
              <a:t>huggingface.co/models</a:t>
            </a:r>
            <a:endParaRPr b="0" i="0" spc="0" sz="1400" u="none" cap="none" strike="noStrike">
              <a:solidFill>
                <a:srgbClr val="000000"/>
              </a:solidFill>
              <a:latin typeface="Arial"/>
              <a:ea typeface="Arial"/>
              <a:cs typeface="Arial"/>
              <a:sym typeface="Arial"/>
            </a:endParaRPr>
          </a:p>
        </p:txBody>
      </p:sp>
      <p:sp>
        <p:nvSpPr>
          <p:cNvPr id="143" name="Google Shape;143;p40"/>
          <p:cNvSpPr/>
          <p:nvPr/>
        </p:nvSpPr>
        <p:spPr>
          <a:xfrm>
            <a:off x="3410712" y="2560320"/>
            <a:ext cx="2523744" cy="18745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 name="Google Shape;144;p40"/>
          <p:cNvSpPr txBox="1"/>
          <p:nvPr/>
        </p:nvSpPr>
        <p:spPr>
          <a:xfrm>
            <a:off x="3593592" y="269748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IMAGE &amp; VIDÉO</a:t>
            </a:r>
            <a:endParaRPr b="0" i="0" spc="0" sz="1400" u="none" cap="none" strike="noStrike">
              <a:solidFill>
                <a:srgbClr val="000000"/>
              </a:solidFill>
              <a:latin typeface="Arial"/>
              <a:ea typeface="Arial"/>
              <a:cs typeface="Arial"/>
              <a:sym typeface="Arial"/>
            </a:endParaRPr>
          </a:p>
        </p:txBody>
      </p:sp>
      <p:sp>
        <p:nvSpPr>
          <p:cNvPr id="145" name="Google Shape;145;p40"/>
          <p:cNvSpPr txBox="1"/>
          <p:nvPr/>
        </p:nvSpPr>
        <p:spPr>
          <a:xfrm>
            <a:off x="3593592" y="2990088"/>
            <a:ext cx="2157984"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50"/>
              <a:buFont typeface="Arial"/>
              <a:buNone/>
            </a:pPr>
            <a:r>
              <a:rPr b="1" i="0" lang="en-US" spc="0" sz="1550" u="none" cap="none" strike="noStrike">
                <a:solidFill>
                  <a:srgbClr val="F1EADF"/>
                </a:solidFill>
                <a:latin typeface="Cambria"/>
                <a:ea typeface="Cambria"/>
                <a:cs typeface="Cambria"/>
                <a:sym typeface="Cambria"/>
              </a:rPr>
              <a:t>Création visuelle</a:t>
            </a:r>
            <a:endParaRPr b="0" i="0" spc="0" sz="1400" u="none" cap="none" strike="noStrike">
              <a:solidFill>
                <a:srgbClr val="000000"/>
              </a:solidFill>
              <a:latin typeface="Arial"/>
              <a:ea typeface="Arial"/>
              <a:cs typeface="Arial"/>
              <a:sym typeface="Arial"/>
            </a:endParaRPr>
          </a:p>
        </p:txBody>
      </p:sp>
      <p:sp>
        <p:nvSpPr>
          <p:cNvPr id="146" name="Google Shape;146;p40"/>
          <p:cNvSpPr txBox="1"/>
          <p:nvPr/>
        </p:nvSpPr>
        <p:spPr>
          <a:xfrm>
            <a:off x="3593592" y="338328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Illustration, design produit, effets visuels, retouche.</a:t>
            </a:r>
            <a:endParaRPr b="0" i="0" spc="0" sz="1400" u="none" cap="none" strike="noStrike">
              <a:solidFill>
                <a:srgbClr val="000000"/>
              </a:solidFill>
              <a:latin typeface="Arial"/>
              <a:ea typeface="Arial"/>
              <a:cs typeface="Arial"/>
              <a:sym typeface="Arial"/>
            </a:endParaRPr>
          </a:p>
        </p:txBody>
      </p:sp>
      <p:sp>
        <p:nvSpPr>
          <p:cNvPr id="147" name="Google Shape;147;p40"/>
          <p:cNvSpPr txBox="1"/>
          <p:nvPr/>
        </p:nvSpPr>
        <p:spPr>
          <a:xfrm>
            <a:off x="3593592" y="402336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4"/>
              </a:rPr>
              <a:t>GitHub : stable-diffusion</a:t>
            </a:r>
            <a:endParaRPr b="0" i="0" spc="0" sz="1400" u="none" cap="none" strike="noStrike">
              <a:solidFill>
                <a:srgbClr val="000000"/>
              </a:solidFill>
              <a:latin typeface="Arial"/>
              <a:ea typeface="Arial"/>
              <a:cs typeface="Arial"/>
              <a:sym typeface="Arial"/>
            </a:endParaRPr>
          </a:p>
        </p:txBody>
      </p:sp>
      <p:sp>
        <p:nvSpPr>
          <p:cNvPr id="148" name="Google Shape;148;p40"/>
          <p:cNvSpPr/>
          <p:nvPr/>
        </p:nvSpPr>
        <p:spPr>
          <a:xfrm>
            <a:off x="6254496" y="2560320"/>
            <a:ext cx="2523744" cy="18745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9" name="Google Shape;149;p40"/>
          <p:cNvSpPr txBox="1"/>
          <p:nvPr/>
        </p:nvSpPr>
        <p:spPr>
          <a:xfrm>
            <a:off x="6437376" y="269748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AUDIO &amp; MUSIQUE</a:t>
            </a:r>
            <a:endParaRPr b="0" i="0" spc="0" sz="1400" u="none" cap="none" strike="noStrike">
              <a:solidFill>
                <a:srgbClr val="000000"/>
              </a:solidFill>
              <a:latin typeface="Arial"/>
              <a:ea typeface="Arial"/>
              <a:cs typeface="Arial"/>
              <a:sym typeface="Arial"/>
            </a:endParaRPr>
          </a:p>
        </p:txBody>
      </p:sp>
      <p:sp>
        <p:nvSpPr>
          <p:cNvPr id="150" name="Google Shape;150;p40"/>
          <p:cNvSpPr txBox="1"/>
          <p:nvPr/>
        </p:nvSpPr>
        <p:spPr>
          <a:xfrm>
            <a:off x="6437376" y="2990088"/>
            <a:ext cx="2157984"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50"/>
              <a:buFont typeface="Arial"/>
              <a:buNone/>
            </a:pPr>
            <a:r>
              <a:rPr b="1" i="0" lang="en-US" spc="0" sz="1550" u="none" cap="none" strike="noStrike">
                <a:solidFill>
                  <a:srgbClr val="F1EADF"/>
                </a:solidFill>
                <a:latin typeface="Cambria"/>
                <a:ea typeface="Cambria"/>
                <a:cs typeface="Cambria"/>
                <a:sym typeface="Cambria"/>
              </a:rPr>
              <a:t>Voix &amp; composition</a:t>
            </a:r>
            <a:endParaRPr b="0" i="0" spc="0" sz="1400" u="none" cap="none" strike="noStrike">
              <a:solidFill>
                <a:srgbClr val="000000"/>
              </a:solidFill>
              <a:latin typeface="Arial"/>
              <a:ea typeface="Arial"/>
              <a:cs typeface="Arial"/>
              <a:sym typeface="Arial"/>
            </a:endParaRPr>
          </a:p>
        </p:txBody>
      </p:sp>
      <p:sp>
        <p:nvSpPr>
          <p:cNvPr id="151" name="Google Shape;151;p40"/>
          <p:cNvSpPr txBox="1"/>
          <p:nvPr/>
        </p:nvSpPr>
        <p:spPr>
          <a:xfrm>
            <a:off x="6437376" y="338328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Synthèse vocale, doublage, musique d'ambiance.</a:t>
            </a:r>
            <a:endParaRPr b="0" i="0" spc="0" sz="1400" u="none" cap="none" strike="noStrike">
              <a:solidFill>
                <a:srgbClr val="000000"/>
              </a:solidFill>
              <a:latin typeface="Arial"/>
              <a:ea typeface="Arial"/>
              <a:cs typeface="Arial"/>
              <a:sym typeface="Arial"/>
            </a:endParaRPr>
          </a:p>
        </p:txBody>
      </p:sp>
      <p:sp>
        <p:nvSpPr>
          <p:cNvPr id="152" name="Google Shape;152;p40"/>
          <p:cNvSpPr txBox="1"/>
          <p:nvPr/>
        </p:nvSpPr>
        <p:spPr>
          <a:xfrm>
            <a:off x="6437376" y="402336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5"/>
              </a:rPr>
              <a:t>GitHub : audiocraft</a:t>
            </a:r>
            <a:endParaRPr b="0" i="0" spc="0" sz="1400" u="none" cap="none" strike="noStrike">
              <a:solidFill>
                <a:srgbClr val="000000"/>
              </a:solidFill>
              <a:latin typeface="Arial"/>
              <a:ea typeface="Arial"/>
              <a:cs typeface="Arial"/>
              <a:sym typeface="Arial"/>
            </a:endParaRPr>
          </a:p>
        </p:txBody>
      </p:sp>
      <p:sp>
        <p:nvSpPr>
          <p:cNvPr id="153" name="Google Shape;153;p40"/>
          <p:cNvSpPr/>
          <p:nvPr/>
        </p:nvSpPr>
        <p:spPr>
          <a:xfrm>
            <a:off x="9098280" y="2560320"/>
            <a:ext cx="2523744" cy="18745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4" name="Google Shape;154;p40"/>
          <p:cNvSpPr txBox="1"/>
          <p:nvPr/>
        </p:nvSpPr>
        <p:spPr>
          <a:xfrm>
            <a:off x="9281160" y="269748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SCIENCE &amp; SANTÉ</a:t>
            </a:r>
            <a:endParaRPr b="0" i="0" spc="0" sz="1400" u="none" cap="none" strike="noStrike">
              <a:solidFill>
                <a:srgbClr val="000000"/>
              </a:solidFill>
              <a:latin typeface="Arial"/>
              <a:ea typeface="Arial"/>
              <a:cs typeface="Arial"/>
              <a:sym typeface="Arial"/>
            </a:endParaRPr>
          </a:p>
        </p:txBody>
      </p:sp>
      <p:sp>
        <p:nvSpPr>
          <p:cNvPr id="155" name="Google Shape;155;p40"/>
          <p:cNvSpPr txBox="1"/>
          <p:nvPr/>
        </p:nvSpPr>
        <p:spPr>
          <a:xfrm>
            <a:off x="9281160" y="2990088"/>
            <a:ext cx="2157984"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50"/>
              <a:buFont typeface="Arial"/>
              <a:buNone/>
            </a:pPr>
            <a:r>
              <a:rPr b="1" i="0" lang="en-US" spc="0" sz="1550" u="none" cap="none" strike="noStrike">
                <a:solidFill>
                  <a:srgbClr val="F1EADF"/>
                </a:solidFill>
                <a:latin typeface="Cambria"/>
                <a:ea typeface="Cambria"/>
                <a:cs typeface="Cambria"/>
                <a:sym typeface="Cambria"/>
              </a:rPr>
              <a:t>Découverte</a:t>
            </a:r>
            <a:endParaRPr b="0" i="0" spc="0" sz="1400" u="none" cap="none" strike="noStrike">
              <a:solidFill>
                <a:srgbClr val="000000"/>
              </a:solidFill>
              <a:latin typeface="Arial"/>
              <a:ea typeface="Arial"/>
              <a:cs typeface="Arial"/>
              <a:sym typeface="Arial"/>
            </a:endParaRPr>
          </a:p>
        </p:txBody>
      </p:sp>
      <p:sp>
        <p:nvSpPr>
          <p:cNvPr id="156" name="Google Shape;156;p40"/>
          <p:cNvSpPr txBox="1"/>
          <p:nvPr/>
        </p:nvSpPr>
        <p:spPr>
          <a:xfrm>
            <a:off x="9281160" y="3383280"/>
            <a:ext cx="2157984"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Structures de protéines, molécules, données synthétiques.</a:t>
            </a:r>
            <a:endParaRPr b="0" i="0" spc="0" sz="1400" u="none" cap="none" strike="noStrike">
              <a:solidFill>
                <a:srgbClr val="000000"/>
              </a:solidFill>
              <a:latin typeface="Arial"/>
              <a:ea typeface="Arial"/>
              <a:cs typeface="Arial"/>
              <a:sym typeface="Arial"/>
            </a:endParaRPr>
          </a:p>
        </p:txBody>
      </p:sp>
      <p:sp>
        <p:nvSpPr>
          <p:cNvPr id="157" name="Google Shape;157;p40"/>
          <p:cNvSpPr txBox="1"/>
          <p:nvPr/>
        </p:nvSpPr>
        <p:spPr>
          <a:xfrm>
            <a:off x="9281160" y="402336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6"/>
              </a:rPr>
              <a:t>alphafold.ebi.ac.uk</a:t>
            </a:r>
            <a:endParaRPr b="0" i="0" spc="0" sz="1400" u="none" cap="none" strike="noStrike">
              <a:solidFill>
                <a:srgbClr val="000000"/>
              </a:solidFill>
              <a:latin typeface="Arial"/>
              <a:ea typeface="Arial"/>
              <a:cs typeface="Arial"/>
              <a:sym typeface="Arial"/>
            </a:endParaRPr>
          </a:p>
        </p:txBody>
      </p:sp>
      <p:sp>
        <p:nvSpPr>
          <p:cNvPr id="158" name="Google Shape;158;p40"/>
          <p:cNvSpPr/>
          <p:nvPr/>
        </p:nvSpPr>
        <p:spPr>
          <a:xfrm>
            <a:off x="566928" y="4617720"/>
            <a:ext cx="11055096" cy="1188720"/>
          </a:xfrm>
          <a:prstGeom prst="roundRect">
            <a:avLst>
              <a:gd fmla="val 9412" name="adj"/>
            </a:avLst>
          </a:prstGeom>
          <a:solidFill>
            <a:srgbClr val="3A2622"/>
          </a:solidFill>
          <a:ln cap="flat" cmpd="sng" w="12700">
            <a:solidFill>
              <a:srgbClr val="C56C6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 name="Google Shape;159;p40"/>
          <p:cNvSpPr txBox="1"/>
          <p:nvPr/>
        </p:nvSpPr>
        <p:spPr>
          <a:xfrm>
            <a:off x="822960" y="4700016"/>
            <a:ext cx="3657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56C6C"/>
                </a:solidFill>
                <a:latin typeface="Calibri"/>
                <a:ea typeface="Calibri"/>
                <a:cs typeface="Calibri"/>
                <a:sym typeface="Calibri"/>
              </a:rPr>
              <a:t>ENJEUX ÉTHIQUES SPÉCIFIQUES</a:t>
            </a:r>
            <a:endParaRPr b="0" i="0" spc="0" sz="1400" u="none" cap="none" strike="noStrike">
              <a:solidFill>
                <a:srgbClr val="000000"/>
              </a:solidFill>
              <a:latin typeface="Arial"/>
              <a:ea typeface="Arial"/>
              <a:cs typeface="Arial"/>
              <a:sym typeface="Arial"/>
            </a:endParaRPr>
          </a:p>
        </p:txBody>
      </p:sp>
      <p:sp>
        <p:nvSpPr>
          <p:cNvPr id="160" name="Google Shape;160;p40"/>
          <p:cNvSpPr txBox="1"/>
          <p:nvPr/>
        </p:nvSpPr>
        <p:spPr>
          <a:xfrm>
            <a:off x="822960" y="4956048"/>
            <a:ext cx="3429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F1EADF"/>
                </a:solidFill>
                <a:latin typeface="Calibri"/>
                <a:ea typeface="Calibri"/>
                <a:cs typeface="Calibri"/>
                <a:sym typeface="Calibri"/>
              </a:rPr>
              <a:t>Deepfakes &amp; désinformation</a:t>
            </a:r>
            <a:endParaRPr b="0" i="0" spc="0" sz="1400" u="none" cap="none" strike="noStrike">
              <a:solidFill>
                <a:srgbClr val="000000"/>
              </a:solidFill>
              <a:latin typeface="Arial"/>
              <a:ea typeface="Arial"/>
              <a:cs typeface="Arial"/>
              <a:sym typeface="Arial"/>
            </a:endParaRPr>
          </a:p>
        </p:txBody>
      </p:sp>
      <p:sp>
        <p:nvSpPr>
          <p:cNvPr id="161" name="Google Shape;161;p40"/>
          <p:cNvSpPr txBox="1"/>
          <p:nvPr/>
        </p:nvSpPr>
        <p:spPr>
          <a:xfrm>
            <a:off x="822960" y="5230368"/>
            <a:ext cx="342900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Usurpation d'identité, fraude vocale, faux contenus.</a:t>
            </a:r>
            <a:endParaRPr b="0" i="0" spc="0" sz="1400" u="none" cap="none" strike="noStrike">
              <a:solidFill>
                <a:srgbClr val="000000"/>
              </a:solidFill>
              <a:latin typeface="Arial"/>
              <a:ea typeface="Arial"/>
              <a:cs typeface="Arial"/>
              <a:sym typeface="Arial"/>
            </a:endParaRPr>
          </a:p>
        </p:txBody>
      </p:sp>
      <p:sp>
        <p:nvSpPr>
          <p:cNvPr id="162" name="Google Shape;162;p40"/>
          <p:cNvSpPr txBox="1"/>
          <p:nvPr/>
        </p:nvSpPr>
        <p:spPr>
          <a:xfrm>
            <a:off x="4434840" y="4956048"/>
            <a:ext cx="3429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F1EADF"/>
                </a:solidFill>
                <a:latin typeface="Calibri"/>
                <a:ea typeface="Calibri"/>
                <a:cs typeface="Calibri"/>
                <a:sym typeface="Calibri"/>
              </a:rPr>
              <a:t>Droit d'auteur</a:t>
            </a:r>
            <a:endParaRPr b="0" i="0" spc="0" sz="1400" u="none" cap="none" strike="noStrike">
              <a:solidFill>
                <a:srgbClr val="000000"/>
              </a:solidFill>
              <a:latin typeface="Arial"/>
              <a:ea typeface="Arial"/>
              <a:cs typeface="Arial"/>
              <a:sym typeface="Arial"/>
            </a:endParaRPr>
          </a:p>
        </p:txBody>
      </p:sp>
      <p:sp>
        <p:nvSpPr>
          <p:cNvPr id="163" name="Google Shape;163;p40"/>
          <p:cNvSpPr txBox="1"/>
          <p:nvPr/>
        </p:nvSpPr>
        <p:spPr>
          <a:xfrm>
            <a:off x="4434840" y="5230368"/>
            <a:ext cx="342900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Données d'entraînement protégées, propriété des contenus générés.</a:t>
            </a:r>
            <a:endParaRPr b="0" i="0" spc="0" sz="1400" u="none" cap="none" strike="noStrike">
              <a:solidFill>
                <a:srgbClr val="000000"/>
              </a:solidFill>
              <a:latin typeface="Arial"/>
              <a:ea typeface="Arial"/>
              <a:cs typeface="Arial"/>
              <a:sym typeface="Arial"/>
            </a:endParaRPr>
          </a:p>
        </p:txBody>
      </p:sp>
      <p:sp>
        <p:nvSpPr>
          <p:cNvPr id="164" name="Google Shape;164;p40"/>
          <p:cNvSpPr txBox="1"/>
          <p:nvPr/>
        </p:nvSpPr>
        <p:spPr>
          <a:xfrm>
            <a:off x="8046720" y="4956048"/>
            <a:ext cx="3429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F1EADF"/>
                </a:solidFill>
                <a:latin typeface="Calibri"/>
                <a:ea typeface="Calibri"/>
                <a:cs typeface="Calibri"/>
                <a:sym typeface="Calibri"/>
              </a:rPr>
              <a:t>Biais &amp; traçabilité</a:t>
            </a:r>
            <a:endParaRPr b="0" i="0" spc="0" sz="1400" u="none" cap="none" strike="noStrike">
              <a:solidFill>
                <a:srgbClr val="000000"/>
              </a:solidFill>
              <a:latin typeface="Arial"/>
              <a:ea typeface="Arial"/>
              <a:cs typeface="Arial"/>
              <a:sym typeface="Arial"/>
            </a:endParaRPr>
          </a:p>
        </p:txBody>
      </p:sp>
      <p:sp>
        <p:nvSpPr>
          <p:cNvPr id="165" name="Google Shape;165;p40"/>
          <p:cNvSpPr txBox="1"/>
          <p:nvPr/>
        </p:nvSpPr>
        <p:spPr>
          <a:xfrm>
            <a:off x="8046720" y="5230368"/>
            <a:ext cx="342900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Stéréotypes reproduits, marquage des contenus (C2PA).</a:t>
            </a:r>
            <a:endParaRPr b="0" i="0" spc="0" sz="1400" u="none" cap="none" strike="noStrike">
              <a:solidFill>
                <a:srgbClr val="000000"/>
              </a:solidFill>
              <a:latin typeface="Arial"/>
              <a:ea typeface="Arial"/>
              <a:cs typeface="Arial"/>
              <a:sym typeface="Arial"/>
            </a:endParaRPr>
          </a:p>
        </p:txBody>
      </p:sp>
      <p:sp>
        <p:nvSpPr>
          <p:cNvPr id="166" name="Google Shape;166;p40"/>
          <p:cNvSpPr txBox="1"/>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Cadre réglementaire : AI Act européen, obligation de signaler les contenus générés - </a:t>
            </a:r>
            <a:r>
              <a:rPr b="0" i="1" lang="en-US" spc="0" sz="1050" u="sng" cap="none" strike="noStrike">
                <a:solidFill>
                  <a:schemeClr val="hlink"/>
                </a:solidFill>
                <a:latin typeface="Calibri"/>
                <a:ea typeface="Calibri"/>
                <a:cs typeface="Calibri"/>
                <a:sym typeface="Calibri"/>
                <a:hlinkClick r:id="rId7"/>
              </a:rPr>
              <a:t>https://artificialintelligenceact.eu/</a:t>
            </a:r>
            <a:r>
              <a:rPr b="0" i="1" lang="en-US" spc="0" sz="1050" u="none" cap="none" strike="noStrike">
                <a:solidFill>
                  <a:srgbClr val="9DB0C2"/>
                </a:solidFill>
                <a:latin typeface="Calibri"/>
                <a:ea typeface="Calibri"/>
                <a:cs typeface="Calibri"/>
                <a:sym typeface="Calibri"/>
              </a:rPr>
              <a:t> · Traçabilité : </a:t>
            </a:r>
            <a:r>
              <a:rPr b="0" i="1" lang="en-US" spc="0" sz="1050" u="sng" cap="none" strike="noStrike">
                <a:solidFill>
                  <a:schemeClr val="hlink"/>
                </a:solidFill>
                <a:latin typeface="Calibri"/>
                <a:ea typeface="Calibri"/>
                <a:cs typeface="Calibri"/>
                <a:sym typeface="Calibri"/>
                <a:hlinkClick r:id="rId8"/>
              </a:rPr>
              <a:t>https://c2pa.org</a:t>
            </a:r>
            <a:endParaRPr b="0" i="0" spc="0" sz="1400" u="none" cap="none" strike="noStrike">
              <a:solidFill>
                <a:srgbClr val="000000"/>
              </a:solidFill>
              <a:latin typeface="Arial"/>
              <a:ea typeface="Arial"/>
              <a:cs typeface="Arial"/>
              <a:sym typeface="Arial"/>
            </a:endParaRPr>
          </a:p>
        </p:txBody>
      </p:sp>
      <p:sp>
        <p:nvSpPr>
          <p:cNvPr id="167" name="Google Shape;167;p40"/>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168" name="Google Shape;168;p40"/>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4</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173" name="Shape 173"/>
        <p:cNvGrpSpPr/>
        <p:nvPr/>
      </p:nvGrpSpPr>
      <p:grpSpPr>
        <a:xfrm>
          <a:off x="0" y="0"/>
          <a:ext cx="0" cy="0"/>
          <a:chOff x="0" y="0"/>
          <a:chExt cx="0" cy="0"/>
        </a:xfrm>
      </p:grpSpPr>
      <p:sp>
        <p:nvSpPr>
          <p:cNvPr id="174" name="Google Shape;174;p41"/>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TECHNIQUES AVANCÉES · IMAGE &amp; AUDIO</a:t>
            </a:r>
            <a:endParaRPr b="0" i="0" spc="0" sz="1400" u="none" cap="none" strike="noStrike">
              <a:solidFill>
                <a:srgbClr val="000000"/>
              </a:solidFill>
              <a:latin typeface="Arial"/>
              <a:ea typeface="Arial"/>
              <a:cs typeface="Arial"/>
              <a:sym typeface="Arial"/>
            </a:endParaRPr>
          </a:p>
        </p:txBody>
      </p:sp>
      <p:sp>
        <p:nvSpPr>
          <p:cNvPr id="175" name="Google Shape;175;p41"/>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Les réseaux génératifs antagonistes (GAN)</a:t>
            </a:r>
            <a:endParaRPr b="0" i="0" spc="0" sz="1400" u="none" cap="none" strike="noStrike">
              <a:solidFill>
                <a:srgbClr val="000000"/>
              </a:solidFill>
              <a:latin typeface="Arial"/>
              <a:ea typeface="Arial"/>
              <a:cs typeface="Arial"/>
              <a:sym typeface="Arial"/>
            </a:endParaRPr>
          </a:p>
        </p:txBody>
      </p:sp>
      <p:sp>
        <p:nvSpPr>
          <p:cNvPr id="176" name="Google Shape;176;p41"/>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 name="Google Shape;177;p41"/>
          <p:cNvSpPr txBox="1"/>
          <p:nvPr/>
        </p:nvSpPr>
        <p:spPr>
          <a:xfrm>
            <a:off x="822960" y="1673352"/>
            <a:ext cx="23774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IDÉE CLÉ</a:t>
            </a:r>
            <a:endParaRPr b="0" i="0" spc="0" sz="1400" u="none" cap="none" strike="noStrike">
              <a:solidFill>
                <a:srgbClr val="000000"/>
              </a:solidFill>
              <a:latin typeface="Arial"/>
              <a:ea typeface="Arial"/>
              <a:cs typeface="Arial"/>
              <a:sym typeface="Arial"/>
            </a:endParaRPr>
          </a:p>
        </p:txBody>
      </p:sp>
      <p:sp>
        <p:nvSpPr>
          <p:cNvPr id="178" name="Google Shape;178;p41"/>
          <p:cNvSpPr txBox="1"/>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Deux réseaux s'affrontent : G fabrique des faux, D apprend à les démasquer. Chacun progresse grâce à l'autre.</a:t>
            </a:r>
            <a:endParaRPr b="0" i="0" spc="0" sz="1400" u="none" cap="none" strike="noStrike">
              <a:solidFill>
                <a:srgbClr val="000000"/>
              </a:solidFill>
              <a:latin typeface="Arial"/>
              <a:ea typeface="Arial"/>
              <a:cs typeface="Arial"/>
              <a:sym typeface="Arial"/>
            </a:endParaRPr>
          </a:p>
        </p:txBody>
      </p:sp>
      <p:sp>
        <p:nvSpPr>
          <p:cNvPr id="179" name="Google Shape;179;p41"/>
          <p:cNvSpPr/>
          <p:nvPr/>
        </p:nvSpPr>
        <p:spPr>
          <a:xfrm>
            <a:off x="566928" y="2560320"/>
            <a:ext cx="1828800" cy="9601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0" name="Google Shape;180;p41"/>
          <p:cNvSpPr txBox="1"/>
          <p:nvPr/>
        </p:nvSpPr>
        <p:spPr>
          <a:xfrm>
            <a:off x="658368" y="2633472"/>
            <a:ext cx="1645920"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Bruit z</a:t>
            </a:r>
            <a:endParaRPr b="0" i="0" spc="0" sz="1400" u="none" cap="none" strike="noStrike">
              <a:solidFill>
                <a:srgbClr val="000000"/>
              </a:solidFill>
              <a:latin typeface="Arial"/>
              <a:ea typeface="Arial"/>
              <a:cs typeface="Arial"/>
              <a:sym typeface="Arial"/>
            </a:endParaRPr>
          </a:p>
        </p:txBody>
      </p:sp>
      <p:sp>
        <p:nvSpPr>
          <p:cNvPr id="181" name="Google Shape;181;p41"/>
          <p:cNvSpPr txBox="1"/>
          <p:nvPr/>
        </p:nvSpPr>
        <p:spPr>
          <a:xfrm>
            <a:off x="658368" y="3017520"/>
            <a:ext cx="164592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z ~ N(0, I)</a:t>
            </a:r>
            <a:endParaRPr b="0" i="0" spc="0" sz="1400" u="none" cap="none" strike="noStrike">
              <a:solidFill>
                <a:srgbClr val="000000"/>
              </a:solidFill>
              <a:latin typeface="Arial"/>
              <a:ea typeface="Arial"/>
              <a:cs typeface="Arial"/>
              <a:sym typeface="Arial"/>
            </a:endParaRPr>
          </a:p>
        </p:txBody>
      </p:sp>
      <p:sp>
        <p:nvSpPr>
          <p:cNvPr id="182" name="Google Shape;182;p41"/>
          <p:cNvSpPr txBox="1"/>
          <p:nvPr/>
        </p:nvSpPr>
        <p:spPr>
          <a:xfrm>
            <a:off x="2395728" y="2560320"/>
            <a:ext cx="477774" cy="960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83" name="Google Shape;183;p41"/>
          <p:cNvSpPr/>
          <p:nvPr/>
        </p:nvSpPr>
        <p:spPr>
          <a:xfrm>
            <a:off x="2873502" y="2560320"/>
            <a:ext cx="1828800" cy="96012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4" name="Google Shape;184;p41"/>
          <p:cNvSpPr txBox="1"/>
          <p:nvPr/>
        </p:nvSpPr>
        <p:spPr>
          <a:xfrm>
            <a:off x="2964942" y="2633472"/>
            <a:ext cx="1645920"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Générateur G</a:t>
            </a:r>
            <a:endParaRPr b="0" i="0" spc="0" sz="1400" u="none" cap="none" strike="noStrike">
              <a:solidFill>
                <a:srgbClr val="000000"/>
              </a:solidFill>
              <a:latin typeface="Arial"/>
              <a:ea typeface="Arial"/>
              <a:cs typeface="Arial"/>
              <a:sym typeface="Arial"/>
            </a:endParaRPr>
          </a:p>
        </p:txBody>
      </p:sp>
      <p:sp>
        <p:nvSpPr>
          <p:cNvPr id="185" name="Google Shape;185;p41"/>
          <p:cNvSpPr txBox="1"/>
          <p:nvPr/>
        </p:nvSpPr>
        <p:spPr>
          <a:xfrm>
            <a:off x="2964942" y="3017520"/>
            <a:ext cx="164592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réseau de neurones</a:t>
            </a:r>
            <a:endParaRPr b="0" i="0" spc="0" sz="1400" u="none" cap="none" strike="noStrike">
              <a:solidFill>
                <a:srgbClr val="000000"/>
              </a:solidFill>
              <a:latin typeface="Arial"/>
              <a:ea typeface="Arial"/>
              <a:cs typeface="Arial"/>
              <a:sym typeface="Arial"/>
            </a:endParaRPr>
          </a:p>
        </p:txBody>
      </p:sp>
      <p:sp>
        <p:nvSpPr>
          <p:cNvPr id="186" name="Google Shape;186;p41"/>
          <p:cNvSpPr txBox="1"/>
          <p:nvPr/>
        </p:nvSpPr>
        <p:spPr>
          <a:xfrm>
            <a:off x="4702302" y="2560320"/>
            <a:ext cx="477774" cy="960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87" name="Google Shape;187;p41"/>
          <p:cNvSpPr/>
          <p:nvPr/>
        </p:nvSpPr>
        <p:spPr>
          <a:xfrm>
            <a:off x="5180076" y="2560320"/>
            <a:ext cx="1828800" cy="9601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8" name="Google Shape;188;p41"/>
          <p:cNvSpPr txBox="1"/>
          <p:nvPr/>
        </p:nvSpPr>
        <p:spPr>
          <a:xfrm>
            <a:off x="5271516" y="2633472"/>
            <a:ext cx="1645920"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Faux G(z)</a:t>
            </a:r>
            <a:endParaRPr b="0" i="0" spc="0" sz="1400" u="none" cap="none" strike="noStrike">
              <a:solidFill>
                <a:srgbClr val="000000"/>
              </a:solidFill>
              <a:latin typeface="Arial"/>
              <a:ea typeface="Arial"/>
              <a:cs typeface="Arial"/>
              <a:sym typeface="Arial"/>
            </a:endParaRPr>
          </a:p>
        </p:txBody>
      </p:sp>
      <p:sp>
        <p:nvSpPr>
          <p:cNvPr id="189" name="Google Shape;189;p41"/>
          <p:cNvSpPr txBox="1"/>
          <p:nvPr/>
        </p:nvSpPr>
        <p:spPr>
          <a:xfrm>
            <a:off x="5271516" y="3017520"/>
            <a:ext cx="164592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image synthétique</a:t>
            </a:r>
            <a:endParaRPr b="0" i="0" spc="0" sz="1400" u="none" cap="none" strike="noStrike">
              <a:solidFill>
                <a:srgbClr val="000000"/>
              </a:solidFill>
              <a:latin typeface="Arial"/>
              <a:ea typeface="Arial"/>
              <a:cs typeface="Arial"/>
              <a:sym typeface="Arial"/>
            </a:endParaRPr>
          </a:p>
        </p:txBody>
      </p:sp>
      <p:sp>
        <p:nvSpPr>
          <p:cNvPr id="190" name="Google Shape;190;p41"/>
          <p:cNvSpPr txBox="1"/>
          <p:nvPr/>
        </p:nvSpPr>
        <p:spPr>
          <a:xfrm>
            <a:off x="7008876" y="2560320"/>
            <a:ext cx="477774" cy="960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91" name="Google Shape;191;p41"/>
          <p:cNvSpPr/>
          <p:nvPr/>
        </p:nvSpPr>
        <p:spPr>
          <a:xfrm>
            <a:off x="7486650" y="2560320"/>
            <a:ext cx="1828800" cy="96012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2" name="Google Shape;192;p41"/>
          <p:cNvSpPr txBox="1"/>
          <p:nvPr/>
        </p:nvSpPr>
        <p:spPr>
          <a:xfrm>
            <a:off x="7578090" y="2633472"/>
            <a:ext cx="1645920"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Discriminateur D</a:t>
            </a:r>
            <a:endParaRPr b="0" i="0" spc="0" sz="1400" u="none" cap="none" strike="noStrike">
              <a:solidFill>
                <a:srgbClr val="000000"/>
              </a:solidFill>
              <a:latin typeface="Arial"/>
              <a:ea typeface="Arial"/>
              <a:cs typeface="Arial"/>
              <a:sym typeface="Arial"/>
            </a:endParaRPr>
          </a:p>
        </p:txBody>
      </p:sp>
      <p:sp>
        <p:nvSpPr>
          <p:cNvPr id="193" name="Google Shape;193;p41"/>
          <p:cNvSpPr txBox="1"/>
          <p:nvPr/>
        </p:nvSpPr>
        <p:spPr>
          <a:xfrm>
            <a:off x="7578090" y="3017520"/>
            <a:ext cx="164592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classifieur binaire</a:t>
            </a:r>
            <a:endParaRPr b="0" i="0" spc="0" sz="1400" u="none" cap="none" strike="noStrike">
              <a:solidFill>
                <a:srgbClr val="000000"/>
              </a:solidFill>
              <a:latin typeface="Arial"/>
              <a:ea typeface="Arial"/>
              <a:cs typeface="Arial"/>
              <a:sym typeface="Arial"/>
            </a:endParaRPr>
          </a:p>
        </p:txBody>
      </p:sp>
      <p:sp>
        <p:nvSpPr>
          <p:cNvPr id="194" name="Google Shape;194;p41"/>
          <p:cNvSpPr txBox="1"/>
          <p:nvPr/>
        </p:nvSpPr>
        <p:spPr>
          <a:xfrm>
            <a:off x="9315450" y="2560320"/>
            <a:ext cx="477774" cy="9601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95" name="Google Shape;195;p41"/>
          <p:cNvSpPr/>
          <p:nvPr/>
        </p:nvSpPr>
        <p:spPr>
          <a:xfrm>
            <a:off x="9793224" y="2560320"/>
            <a:ext cx="1828800" cy="9601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 name="Google Shape;196;p41"/>
          <p:cNvSpPr txBox="1"/>
          <p:nvPr/>
        </p:nvSpPr>
        <p:spPr>
          <a:xfrm>
            <a:off x="9884664" y="2633472"/>
            <a:ext cx="1645920" cy="4114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Vrai / Faux</a:t>
            </a:r>
            <a:endParaRPr b="0" i="0" spc="0" sz="1400" u="none" cap="none" strike="noStrike">
              <a:solidFill>
                <a:srgbClr val="000000"/>
              </a:solidFill>
              <a:latin typeface="Arial"/>
              <a:ea typeface="Arial"/>
              <a:cs typeface="Arial"/>
              <a:sym typeface="Arial"/>
            </a:endParaRPr>
          </a:p>
        </p:txBody>
      </p:sp>
      <p:sp>
        <p:nvSpPr>
          <p:cNvPr id="197" name="Google Shape;197;p41"/>
          <p:cNvSpPr txBox="1"/>
          <p:nvPr/>
        </p:nvSpPr>
        <p:spPr>
          <a:xfrm>
            <a:off x="9884664" y="3017520"/>
            <a:ext cx="164592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D(·) ∈ [0, 1]</a:t>
            </a:r>
            <a:endParaRPr b="0" i="0" spc="0" sz="1400" u="none" cap="none" strike="noStrike">
              <a:solidFill>
                <a:srgbClr val="000000"/>
              </a:solidFill>
              <a:latin typeface="Arial"/>
              <a:ea typeface="Arial"/>
              <a:cs typeface="Arial"/>
              <a:sym typeface="Arial"/>
            </a:endParaRPr>
          </a:p>
        </p:txBody>
      </p:sp>
      <p:sp>
        <p:nvSpPr>
          <p:cNvPr id="198" name="Google Shape;198;p41"/>
          <p:cNvSpPr txBox="1"/>
          <p:nvPr/>
        </p:nvSpPr>
        <p:spPr>
          <a:xfrm>
            <a:off x="7486650" y="3520440"/>
            <a:ext cx="182880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199" name="Google Shape;199;p41"/>
          <p:cNvSpPr/>
          <p:nvPr/>
        </p:nvSpPr>
        <p:spPr>
          <a:xfrm>
            <a:off x="7486650" y="3813048"/>
            <a:ext cx="1828800" cy="6858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0" name="Google Shape;200;p41"/>
          <p:cNvSpPr txBox="1"/>
          <p:nvPr/>
        </p:nvSpPr>
        <p:spPr>
          <a:xfrm>
            <a:off x="7578090" y="3813048"/>
            <a:ext cx="1645920" cy="685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pc="0" sz="1350" u="none" cap="none" strike="noStrike">
                <a:solidFill>
                  <a:srgbClr val="F1EADF"/>
                </a:solidFill>
                <a:latin typeface="Calibri"/>
                <a:ea typeface="Calibri"/>
                <a:cs typeface="Calibri"/>
                <a:sym typeface="Calibri"/>
              </a:rPr>
              <a:t>Images réelles x</a:t>
            </a:r>
            <a:endParaRPr b="0" i="0" spc="0" sz="1400" u="none" cap="none" strike="noStrike">
              <a:solidFill>
                <a:srgbClr val="000000"/>
              </a:solidFill>
              <a:latin typeface="Arial"/>
              <a:ea typeface="Arial"/>
              <a:cs typeface="Arial"/>
              <a:sym typeface="Arial"/>
            </a:endParaRPr>
          </a:p>
        </p:txBody>
      </p:sp>
      <p:sp>
        <p:nvSpPr>
          <p:cNvPr id="201" name="Google Shape;201;p41"/>
          <p:cNvSpPr txBox="1"/>
          <p:nvPr/>
        </p:nvSpPr>
        <p:spPr>
          <a:xfrm>
            <a:off x="566928" y="3657600"/>
            <a:ext cx="630936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US" spc="0" sz="1250" u="none" cap="none" strike="noStrike">
                <a:solidFill>
                  <a:srgbClr val="C77B4C"/>
                </a:solidFill>
                <a:latin typeface="Calibri"/>
                <a:ea typeface="Calibri"/>
                <a:cs typeface="Calibri"/>
                <a:sym typeface="Calibri"/>
              </a:rPr>
              <a:t>↺  Le gradient de D est rétropropagé vers G : le faussaire apprend de l'expert</a:t>
            </a:r>
            <a:endParaRPr b="0" i="0" spc="0" sz="1400" u="none" cap="none" strike="noStrike">
              <a:solidFill>
                <a:srgbClr val="000000"/>
              </a:solidFill>
              <a:latin typeface="Arial"/>
              <a:ea typeface="Arial"/>
              <a:cs typeface="Arial"/>
              <a:sym typeface="Arial"/>
            </a:endParaRPr>
          </a:p>
        </p:txBody>
      </p:sp>
      <p:sp>
        <p:nvSpPr>
          <p:cNvPr id="202" name="Google Shape;202;p41"/>
          <p:cNvSpPr/>
          <p:nvPr/>
        </p:nvSpPr>
        <p:spPr>
          <a:xfrm>
            <a:off x="566928" y="4069080"/>
            <a:ext cx="6309360" cy="438912"/>
          </a:xfrm>
          <a:prstGeom prst="roundRect">
            <a:avLst>
              <a:gd fmla="val 9412" name="adj"/>
            </a:avLst>
          </a:prstGeom>
          <a:solidFill>
            <a:srgbClr val="1E3A24"/>
          </a:solidFill>
          <a:ln cap="flat" cmpd="sng" w="12700">
            <a:solidFill>
              <a:srgbClr val="7FB08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3" name="Google Shape;203;p41"/>
          <p:cNvSpPr txBox="1"/>
          <p:nvPr/>
        </p:nvSpPr>
        <p:spPr>
          <a:xfrm>
            <a:off x="749808" y="4069080"/>
            <a:ext cx="5989320"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7FB08A"/>
                </a:solidFill>
                <a:latin typeface="Calibri"/>
                <a:ea typeface="Calibri"/>
                <a:cs typeface="Calibri"/>
                <a:sym typeface="Calibri"/>
              </a:rPr>
              <a:t>Démo   </a:t>
            </a:r>
            <a:r>
              <a:rPr b="0" i="0" lang="en-US" spc="0" sz="1200" u="sng" cap="none" strike="noStrike">
                <a:solidFill>
                  <a:schemeClr val="hlink"/>
                </a:solidFill>
                <a:latin typeface="Calibri"/>
                <a:ea typeface="Calibri"/>
                <a:cs typeface="Calibri"/>
                <a:sym typeface="Calibri"/>
                <a:hlinkClick r:id="rId3"/>
              </a:rPr>
              <a:t>GAN Lab (interactif)</a:t>
            </a:r>
            <a:r>
              <a:rPr b="0" i="0" lang="en-US" spc="0" sz="1200" u="none" cap="none" strike="noStrike">
                <a:solidFill>
                  <a:srgbClr val="F1EADF"/>
                </a:solidFill>
                <a:latin typeface="Calibri"/>
                <a:ea typeface="Calibri"/>
                <a:cs typeface="Calibri"/>
                <a:sym typeface="Calibri"/>
              </a:rPr>
              <a:t>   ·   Visages StyleGAN : </a:t>
            </a:r>
            <a:r>
              <a:rPr b="0" i="0" lang="en-US" spc="0" sz="1200" u="sng" cap="none" strike="noStrike">
                <a:solidFill>
                  <a:schemeClr val="hlink"/>
                </a:solidFill>
                <a:latin typeface="Calibri"/>
                <a:ea typeface="Calibri"/>
                <a:cs typeface="Calibri"/>
                <a:sym typeface="Calibri"/>
                <a:hlinkClick r:id="rId4"/>
              </a:rPr>
              <a:t>thispersondoesnotexist.com</a:t>
            </a:r>
            <a:endParaRPr b="0" i="0" spc="0" sz="1400" u="none" cap="none" strike="noStrike">
              <a:solidFill>
                <a:srgbClr val="000000"/>
              </a:solidFill>
              <a:latin typeface="Arial"/>
              <a:ea typeface="Arial"/>
              <a:cs typeface="Arial"/>
              <a:sym typeface="Arial"/>
            </a:endParaRPr>
          </a:p>
        </p:txBody>
      </p:sp>
      <p:sp>
        <p:nvSpPr>
          <p:cNvPr id="204" name="Google Shape;204;p41"/>
          <p:cNvSpPr/>
          <p:nvPr/>
        </p:nvSpPr>
        <p:spPr>
          <a:xfrm>
            <a:off x="566928" y="4681728"/>
            <a:ext cx="5394960" cy="109728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5" name="Google Shape;205;p41"/>
          <p:cNvSpPr txBox="1"/>
          <p:nvPr/>
        </p:nvSpPr>
        <p:spPr>
          <a:xfrm>
            <a:off x="795528" y="4754880"/>
            <a:ext cx="2743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FORMULE CLÉ : JEU MINIMAX</a:t>
            </a:r>
            <a:endParaRPr b="0" i="0" spc="0" sz="1400" u="none" cap="none" strike="noStrike">
              <a:solidFill>
                <a:srgbClr val="000000"/>
              </a:solidFill>
              <a:latin typeface="Arial"/>
              <a:ea typeface="Arial"/>
              <a:cs typeface="Arial"/>
              <a:sym typeface="Arial"/>
            </a:endParaRPr>
          </a:p>
        </p:txBody>
      </p:sp>
      <p:sp>
        <p:nvSpPr>
          <p:cNvPr id="206" name="Google Shape;206;p41"/>
          <p:cNvSpPr txBox="1"/>
          <p:nvPr/>
        </p:nvSpPr>
        <p:spPr>
          <a:xfrm>
            <a:off x="795528" y="5029200"/>
            <a:ext cx="5029200" cy="365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min_G max_D  E[log D(x)] + E[log(1 − D(G(z)))]</a:t>
            </a:r>
            <a:endParaRPr b="0" i="0" spc="0" sz="1400" u="none" cap="none" strike="noStrike">
              <a:solidFill>
                <a:srgbClr val="000000"/>
              </a:solidFill>
              <a:latin typeface="Arial"/>
              <a:ea typeface="Arial"/>
              <a:cs typeface="Arial"/>
              <a:sym typeface="Arial"/>
            </a:endParaRPr>
          </a:p>
        </p:txBody>
      </p:sp>
      <p:sp>
        <p:nvSpPr>
          <p:cNvPr id="207" name="Google Shape;207;p41"/>
          <p:cNvSpPr txBox="1"/>
          <p:nvPr/>
        </p:nvSpPr>
        <p:spPr>
          <a:xfrm>
            <a:off x="795528" y="5394960"/>
            <a:ext cx="5029200" cy="32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D maximise sa capacité à trier vrai et faux, G cherche à la minimiser.</a:t>
            </a:r>
            <a:endParaRPr b="0" i="0" spc="0" sz="1400" u="none" cap="none" strike="noStrike">
              <a:solidFill>
                <a:srgbClr val="000000"/>
              </a:solidFill>
              <a:latin typeface="Arial"/>
              <a:ea typeface="Arial"/>
              <a:cs typeface="Arial"/>
              <a:sym typeface="Arial"/>
            </a:endParaRPr>
          </a:p>
        </p:txBody>
      </p:sp>
      <p:sp>
        <p:nvSpPr>
          <p:cNvPr id="208" name="Google Shape;208;p41"/>
          <p:cNvSpPr/>
          <p:nvPr/>
        </p:nvSpPr>
        <p:spPr>
          <a:xfrm>
            <a:off x="6227064" y="4681728"/>
            <a:ext cx="5394960" cy="1097280"/>
          </a:xfrm>
          <a:prstGeom prst="roundRect">
            <a:avLst>
              <a:gd fmla="val 2807" name="adj"/>
            </a:avLst>
          </a:prstGeom>
          <a:solidFill>
            <a:srgbClr val="3A2622"/>
          </a:solidFill>
          <a:ln cap="flat" cmpd="sng" w="12700">
            <a:solidFill>
              <a:srgbClr val="C56C6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9" name="Google Shape;209;p41"/>
          <p:cNvSpPr txBox="1"/>
          <p:nvPr/>
        </p:nvSpPr>
        <p:spPr>
          <a:xfrm>
            <a:off x="6455664" y="4754880"/>
            <a:ext cx="2743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56C6C"/>
                </a:solidFill>
                <a:latin typeface="Calibri"/>
                <a:ea typeface="Calibri"/>
                <a:cs typeface="Calibri"/>
                <a:sym typeface="Calibri"/>
              </a:rPr>
              <a:t>LIMITES</a:t>
            </a:r>
            <a:endParaRPr b="0" i="0" spc="0" sz="1400" u="none" cap="none" strike="noStrike">
              <a:solidFill>
                <a:srgbClr val="000000"/>
              </a:solidFill>
              <a:latin typeface="Arial"/>
              <a:ea typeface="Arial"/>
              <a:cs typeface="Arial"/>
              <a:sym typeface="Arial"/>
            </a:endParaRPr>
          </a:p>
        </p:txBody>
      </p:sp>
      <p:sp>
        <p:nvSpPr>
          <p:cNvPr id="210" name="Google Shape;210;p41"/>
          <p:cNvSpPr txBox="1"/>
          <p:nvPr/>
        </p:nvSpPr>
        <p:spPr>
          <a:xfrm>
            <a:off x="6455664" y="5029200"/>
            <a:ext cx="5029200" cy="7315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Instabilité de l'entraînement : équilibre difficile à atteindre</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F1EADF"/>
              </a:buClr>
              <a:buSzPts val="1200"/>
              <a:buFont typeface="Calibri"/>
              <a:buChar char="•"/>
            </a:pPr>
            <a:r>
              <a:rPr b="0" i="0" lang="en-US" spc="0" sz="1200" u="none" cap="none" strike="noStrike">
                <a:solidFill>
                  <a:srgbClr val="F1EADF"/>
                </a:solidFill>
                <a:latin typeface="Calibri"/>
                <a:ea typeface="Calibri"/>
                <a:cs typeface="Calibri"/>
                <a:sym typeface="Calibri"/>
              </a:rPr>
              <a:t>Mode collapse : G ne produit qu'une faible variété d'exemples</a:t>
            </a:r>
            <a:endParaRPr b="0" i="0" spc="0" sz="1400" u="none" cap="none" strike="noStrike">
              <a:solidFill>
                <a:srgbClr val="000000"/>
              </a:solidFill>
              <a:latin typeface="Arial"/>
              <a:ea typeface="Arial"/>
              <a:cs typeface="Arial"/>
              <a:sym typeface="Arial"/>
            </a:endParaRPr>
          </a:p>
        </p:txBody>
      </p:sp>
      <p:sp>
        <p:nvSpPr>
          <p:cNvPr id="211" name="Google Shape;211;p41"/>
          <p:cNvSpPr txBox="1"/>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Goodfellow et al. (2014), Generative Adversarial Nets - </a:t>
            </a:r>
            <a:r>
              <a:rPr b="0" i="1" lang="en-US" spc="0" sz="1050" u="sng" cap="none" strike="noStrike">
                <a:solidFill>
                  <a:schemeClr val="hlink"/>
                </a:solidFill>
                <a:latin typeface="Calibri"/>
                <a:ea typeface="Calibri"/>
                <a:cs typeface="Calibri"/>
                <a:sym typeface="Calibri"/>
                <a:hlinkClick r:id="rId5"/>
              </a:rPr>
              <a:t>https://arxiv.org/abs/1406.2661</a:t>
            </a:r>
            <a:endParaRPr b="0" i="0" spc="0" sz="1400" u="none" cap="none" strike="noStrike">
              <a:solidFill>
                <a:srgbClr val="000000"/>
              </a:solidFill>
              <a:latin typeface="Arial"/>
              <a:ea typeface="Arial"/>
              <a:cs typeface="Arial"/>
              <a:sym typeface="Arial"/>
            </a:endParaRPr>
          </a:p>
        </p:txBody>
      </p:sp>
      <p:sp>
        <p:nvSpPr>
          <p:cNvPr id="212" name="Google Shape;212;p41"/>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213" name="Google Shape;213;p41"/>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5</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218" name="Shape 218"/>
        <p:cNvGrpSpPr/>
        <p:nvPr/>
      </p:nvGrpSpPr>
      <p:grpSpPr>
        <a:xfrm>
          <a:off x="0" y="0"/>
          <a:ext cx="0" cy="0"/>
          <a:chOff x="0" y="0"/>
          <a:chExt cx="0" cy="0"/>
        </a:xfrm>
      </p:grpSpPr>
      <p:sp>
        <p:nvSpPr>
          <p:cNvPr id="219" name="Google Shape;219;p42"/>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TECHNIQUES AVANCÉES · IMAGE &amp; AUDIO</a:t>
            </a:r>
            <a:endParaRPr b="0" i="0" spc="0" sz="1400" u="none" cap="none" strike="noStrike">
              <a:solidFill>
                <a:srgbClr val="000000"/>
              </a:solidFill>
              <a:latin typeface="Arial"/>
              <a:ea typeface="Arial"/>
              <a:cs typeface="Arial"/>
              <a:sym typeface="Arial"/>
            </a:endParaRPr>
          </a:p>
        </p:txBody>
      </p:sp>
      <p:sp>
        <p:nvSpPr>
          <p:cNvPr id="220" name="Google Shape;220;p42"/>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Les modèles génératifs variationnels (VAE)</a:t>
            </a:r>
            <a:endParaRPr b="0" i="0" spc="0" sz="1400" u="none" cap="none" strike="noStrike">
              <a:solidFill>
                <a:srgbClr val="000000"/>
              </a:solidFill>
              <a:latin typeface="Arial"/>
              <a:ea typeface="Arial"/>
              <a:cs typeface="Arial"/>
              <a:sym typeface="Arial"/>
            </a:endParaRPr>
          </a:p>
        </p:txBody>
      </p:sp>
      <p:sp>
        <p:nvSpPr>
          <p:cNvPr id="221" name="Google Shape;221;p42"/>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 name="Google Shape;222;p42"/>
          <p:cNvSpPr txBox="1"/>
          <p:nvPr/>
        </p:nvSpPr>
        <p:spPr>
          <a:xfrm>
            <a:off x="822960" y="1673352"/>
            <a:ext cx="23774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IDÉE CLÉ</a:t>
            </a:r>
            <a:endParaRPr b="0" i="0" spc="0" sz="1400" u="none" cap="none" strike="noStrike">
              <a:solidFill>
                <a:srgbClr val="000000"/>
              </a:solidFill>
              <a:latin typeface="Arial"/>
              <a:ea typeface="Arial"/>
              <a:cs typeface="Arial"/>
              <a:sym typeface="Arial"/>
            </a:endParaRPr>
          </a:p>
        </p:txBody>
      </p:sp>
      <p:sp>
        <p:nvSpPr>
          <p:cNvPr id="223" name="Google Shape;223;p42"/>
          <p:cNvSpPr txBox="1"/>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Un VAE encode chaque donnée en une distribution latente (μ, σ) puis la reconstruit : l'espace latent devient continu et échantillonnable.</a:t>
            </a:r>
            <a:endParaRPr b="0" i="0" spc="0" sz="1400" u="none" cap="none" strike="noStrike">
              <a:solidFill>
                <a:srgbClr val="000000"/>
              </a:solidFill>
              <a:latin typeface="Arial"/>
              <a:ea typeface="Arial"/>
              <a:cs typeface="Arial"/>
              <a:sym typeface="Arial"/>
            </a:endParaRPr>
          </a:p>
        </p:txBody>
      </p:sp>
      <p:sp>
        <p:nvSpPr>
          <p:cNvPr id="224" name="Google Shape;224;p42"/>
          <p:cNvSpPr/>
          <p:nvPr/>
        </p:nvSpPr>
        <p:spPr>
          <a:xfrm>
            <a:off x="566928" y="3108960"/>
            <a:ext cx="777240" cy="10058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42"/>
          <p:cNvSpPr txBox="1"/>
          <p:nvPr/>
        </p:nvSpPr>
        <p:spPr>
          <a:xfrm>
            <a:off x="566928" y="3108960"/>
            <a:ext cx="777240"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pc="0" sz="2200" u="none" cap="none" strike="noStrike">
                <a:solidFill>
                  <a:srgbClr val="F1EADF"/>
                </a:solidFill>
                <a:latin typeface="Cambria"/>
                <a:ea typeface="Cambria"/>
                <a:cs typeface="Cambria"/>
                <a:sym typeface="Cambria"/>
              </a:rPr>
              <a:t>x</a:t>
            </a:r>
            <a:endParaRPr b="0" i="0" spc="0" sz="1400" u="none" cap="none" strike="noStrike">
              <a:solidFill>
                <a:srgbClr val="000000"/>
              </a:solidFill>
              <a:latin typeface="Arial"/>
              <a:ea typeface="Arial"/>
              <a:cs typeface="Arial"/>
              <a:sym typeface="Arial"/>
            </a:endParaRPr>
          </a:p>
        </p:txBody>
      </p:sp>
      <p:sp>
        <p:nvSpPr>
          <p:cNvPr id="226" name="Google Shape;226;p42"/>
          <p:cNvSpPr txBox="1"/>
          <p:nvPr/>
        </p:nvSpPr>
        <p:spPr>
          <a:xfrm>
            <a:off x="1344168" y="3383280"/>
            <a:ext cx="2743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227" name="Google Shape;227;p42"/>
          <p:cNvSpPr/>
          <p:nvPr/>
        </p:nvSpPr>
        <p:spPr>
          <a:xfrm rot="5400000">
            <a:off x="1645920" y="2743200"/>
            <a:ext cx="1737360" cy="1737360"/>
          </a:xfrm>
          <a:prstGeom prst="trapezoid">
            <a:avLst>
              <a:gd fmla="val 22000"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42"/>
          <p:cNvSpPr txBox="1"/>
          <p:nvPr/>
        </p:nvSpPr>
        <p:spPr>
          <a:xfrm>
            <a:off x="1645920" y="3200400"/>
            <a:ext cx="1737360" cy="8229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1EADF"/>
                </a:solidFill>
                <a:latin typeface="Cambria"/>
                <a:ea typeface="Cambria"/>
                <a:cs typeface="Cambria"/>
                <a:sym typeface="Cambria"/>
              </a:rPr>
              <a:t>Encodeur</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q_φ(z | x)</a:t>
            </a:r>
            <a:endParaRPr b="0" i="0" spc="0" sz="1400" u="none" cap="none" strike="noStrike">
              <a:solidFill>
                <a:srgbClr val="000000"/>
              </a:solidFill>
              <a:latin typeface="Arial"/>
              <a:ea typeface="Arial"/>
              <a:cs typeface="Arial"/>
              <a:sym typeface="Arial"/>
            </a:endParaRPr>
          </a:p>
        </p:txBody>
      </p:sp>
      <p:sp>
        <p:nvSpPr>
          <p:cNvPr id="229" name="Google Shape;229;p42"/>
          <p:cNvSpPr txBox="1"/>
          <p:nvPr/>
        </p:nvSpPr>
        <p:spPr>
          <a:xfrm>
            <a:off x="3383280" y="3383280"/>
            <a:ext cx="2743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230" name="Google Shape;230;p42"/>
          <p:cNvSpPr/>
          <p:nvPr/>
        </p:nvSpPr>
        <p:spPr>
          <a:xfrm>
            <a:off x="3657600" y="3063240"/>
            <a:ext cx="1325880" cy="109728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42"/>
          <p:cNvSpPr txBox="1"/>
          <p:nvPr/>
        </p:nvSpPr>
        <p:spPr>
          <a:xfrm>
            <a:off x="3657600" y="3063240"/>
            <a:ext cx="132588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mbria"/>
                <a:ea typeface="Cambria"/>
                <a:cs typeface="Cambria"/>
                <a:sym typeface="Cambria"/>
              </a:rPr>
              <a:t>z</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pc="0" sz="1200" u="none" cap="none" strike="noStrike">
                <a:solidFill>
                  <a:srgbClr val="F1EADF"/>
                </a:solidFill>
                <a:latin typeface="Calibri"/>
                <a:ea typeface="Calibri"/>
                <a:cs typeface="Calibri"/>
                <a:sym typeface="Calibri"/>
              </a:rPr>
              <a:t>μ, σ</a:t>
            </a:r>
            <a:endParaRPr b="0" i="0" spc="0" sz="1400" u="none" cap="none" strike="noStrike">
              <a:solidFill>
                <a:srgbClr val="000000"/>
              </a:solidFill>
              <a:latin typeface="Arial"/>
              <a:ea typeface="Arial"/>
              <a:cs typeface="Arial"/>
              <a:sym typeface="Arial"/>
            </a:endParaRPr>
          </a:p>
        </p:txBody>
      </p:sp>
      <p:sp>
        <p:nvSpPr>
          <p:cNvPr id="232" name="Google Shape;232;p42"/>
          <p:cNvSpPr txBox="1"/>
          <p:nvPr/>
        </p:nvSpPr>
        <p:spPr>
          <a:xfrm>
            <a:off x="4983480" y="3383280"/>
            <a:ext cx="2743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233" name="Google Shape;233;p42"/>
          <p:cNvSpPr/>
          <p:nvPr/>
        </p:nvSpPr>
        <p:spPr>
          <a:xfrm rot="-5400000">
            <a:off x="5257800" y="2743200"/>
            <a:ext cx="1737360" cy="1737360"/>
          </a:xfrm>
          <a:prstGeom prst="trapezoid">
            <a:avLst>
              <a:gd fmla="val 22000"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42"/>
          <p:cNvSpPr txBox="1"/>
          <p:nvPr/>
        </p:nvSpPr>
        <p:spPr>
          <a:xfrm>
            <a:off x="5257800" y="3200400"/>
            <a:ext cx="1737360" cy="8229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1EADF"/>
                </a:solidFill>
                <a:latin typeface="Cambria"/>
                <a:ea typeface="Cambria"/>
                <a:cs typeface="Cambria"/>
                <a:sym typeface="Cambria"/>
              </a:rPr>
              <a:t>Décodeur</a:t>
            </a:r>
            <a:endParaRPr b="0" i="0" spc="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p_θ(x | z)</a:t>
            </a:r>
            <a:endParaRPr b="0" i="0" spc="0" sz="1400" u="none" cap="none" strike="noStrike">
              <a:solidFill>
                <a:srgbClr val="000000"/>
              </a:solidFill>
              <a:latin typeface="Arial"/>
              <a:ea typeface="Arial"/>
              <a:cs typeface="Arial"/>
              <a:sym typeface="Arial"/>
            </a:endParaRPr>
          </a:p>
        </p:txBody>
      </p:sp>
      <p:sp>
        <p:nvSpPr>
          <p:cNvPr id="235" name="Google Shape;235;p42"/>
          <p:cNvSpPr txBox="1"/>
          <p:nvPr/>
        </p:nvSpPr>
        <p:spPr>
          <a:xfrm>
            <a:off x="6995160" y="3383280"/>
            <a:ext cx="2743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236" name="Google Shape;236;p42"/>
          <p:cNvSpPr/>
          <p:nvPr/>
        </p:nvSpPr>
        <p:spPr>
          <a:xfrm>
            <a:off x="7269480" y="3108960"/>
            <a:ext cx="777240" cy="10058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42"/>
          <p:cNvSpPr txBox="1"/>
          <p:nvPr/>
        </p:nvSpPr>
        <p:spPr>
          <a:xfrm>
            <a:off x="7269480" y="3108960"/>
            <a:ext cx="777240"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200"/>
              <a:buFont typeface="Arial"/>
              <a:buNone/>
            </a:pPr>
            <a:r>
              <a:rPr b="1" i="0" lang="en-US" spc="0" sz="2200" u="none" cap="none" strike="noStrike">
                <a:solidFill>
                  <a:srgbClr val="F1EADF"/>
                </a:solidFill>
                <a:latin typeface="Cambria"/>
                <a:ea typeface="Cambria"/>
                <a:cs typeface="Cambria"/>
                <a:sym typeface="Cambria"/>
              </a:rPr>
              <a:t>x̂</a:t>
            </a:r>
            <a:endParaRPr b="0" i="0" spc="0" sz="1400" u="none" cap="none" strike="noStrike">
              <a:solidFill>
                <a:srgbClr val="000000"/>
              </a:solidFill>
              <a:latin typeface="Arial"/>
              <a:ea typeface="Arial"/>
              <a:cs typeface="Arial"/>
              <a:sym typeface="Arial"/>
            </a:endParaRPr>
          </a:p>
        </p:txBody>
      </p:sp>
      <p:sp>
        <p:nvSpPr>
          <p:cNvPr id="238" name="Google Shape;238;p42"/>
          <p:cNvSpPr txBox="1"/>
          <p:nvPr/>
        </p:nvSpPr>
        <p:spPr>
          <a:xfrm>
            <a:off x="566928" y="4572000"/>
            <a:ext cx="749808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C77B4C"/>
                </a:solidFill>
                <a:latin typeface="Calibri"/>
                <a:ea typeface="Calibri"/>
                <a:cs typeface="Calibri"/>
                <a:sym typeface="Calibri"/>
              </a:rPr>
              <a:t>Astuce de reparamétrisation :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200"/>
              </a:spcBef>
              <a:spcAft>
                <a:spcPts val="0"/>
              </a:spcAft>
              <a:buClr>
                <a:srgbClr val="000000"/>
              </a:buClr>
              <a:buSzPts val="1250"/>
              <a:buFont typeface="Arial"/>
              <a:buNone/>
            </a:pPr>
            <a:r>
              <a:rPr b="0" i="0" lang="en-US" spc="0" sz="1250" u="none" cap="none" strike="noStrike">
                <a:solidFill>
                  <a:srgbClr val="F1EADF"/>
                </a:solidFill>
                <a:latin typeface="Calibri"/>
                <a:ea typeface="Calibri"/>
                <a:cs typeface="Calibri"/>
                <a:sym typeface="Calibri"/>
              </a:rPr>
              <a:t>z = μ + σ · ε, avec ε ~ N(0, I), rend l'échantillonnage dérivable.</a:t>
            </a:r>
            <a:endParaRPr b="0" i="0" spc="0" sz="1400" u="none" cap="none" strike="noStrike">
              <a:solidFill>
                <a:srgbClr val="000000"/>
              </a:solidFill>
              <a:latin typeface="Arial"/>
              <a:ea typeface="Arial"/>
              <a:cs typeface="Arial"/>
              <a:sym typeface="Arial"/>
            </a:endParaRPr>
          </a:p>
        </p:txBody>
      </p:sp>
      <p:sp>
        <p:nvSpPr>
          <p:cNvPr id="239" name="Google Shape;239;p42"/>
          <p:cNvSpPr/>
          <p:nvPr/>
        </p:nvSpPr>
        <p:spPr>
          <a:xfrm>
            <a:off x="8321040" y="2560320"/>
            <a:ext cx="3300984" cy="150876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0" name="Google Shape;240;p42"/>
          <p:cNvSpPr txBox="1"/>
          <p:nvPr/>
        </p:nvSpPr>
        <p:spPr>
          <a:xfrm>
            <a:off x="8503920" y="2651760"/>
            <a:ext cx="2926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PERTE : ELBO</a:t>
            </a:r>
            <a:endParaRPr b="0" i="0" spc="0" sz="1400" u="none" cap="none" strike="noStrike">
              <a:solidFill>
                <a:srgbClr val="000000"/>
              </a:solidFill>
              <a:latin typeface="Arial"/>
              <a:ea typeface="Arial"/>
              <a:cs typeface="Arial"/>
              <a:sym typeface="Arial"/>
            </a:endParaRPr>
          </a:p>
        </p:txBody>
      </p:sp>
      <p:sp>
        <p:nvSpPr>
          <p:cNvPr id="241" name="Google Shape;241;p42"/>
          <p:cNvSpPr txBox="1"/>
          <p:nvPr/>
        </p:nvSpPr>
        <p:spPr>
          <a:xfrm>
            <a:off x="8503920" y="2907792"/>
            <a:ext cx="297180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F1EADF"/>
                </a:solidFill>
                <a:latin typeface="Calibri"/>
                <a:ea typeface="Calibri"/>
                <a:cs typeface="Calibri"/>
                <a:sym typeface="Calibri"/>
              </a:rPr>
              <a:t>Reconstruction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1" lang="en-US" spc="0" sz="1200" u="none" cap="none" strike="noStrike">
                <a:solidFill>
                  <a:srgbClr val="9DB0C2"/>
                </a:solidFill>
                <a:latin typeface="Calibri"/>
                <a:ea typeface="Calibri"/>
                <a:cs typeface="Calibri"/>
                <a:sym typeface="Calibri"/>
              </a:rPr>
              <a:t>E[log p_θ(x | z)]</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300"/>
              <a:buFont typeface="Arial"/>
              <a:buNone/>
            </a:pPr>
            <a:r>
              <a:rPr b="1" i="0" lang="en-US" spc="0" sz="1300" u="none" cap="none" strike="noStrike">
                <a:solidFill>
                  <a:srgbClr val="F1EADF"/>
                </a:solidFill>
                <a:latin typeface="Calibri"/>
                <a:ea typeface="Calibri"/>
                <a:cs typeface="Calibri"/>
                <a:sym typeface="Calibri"/>
              </a:rPr>
              <a:t>Régularisation :</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1" lang="en-US" spc="0" sz="1200" u="none" cap="none" strike="noStrike">
                <a:solidFill>
                  <a:srgbClr val="9DB0C2"/>
                </a:solidFill>
                <a:latin typeface="Calibri"/>
                <a:ea typeface="Calibri"/>
                <a:cs typeface="Calibri"/>
                <a:sym typeface="Calibri"/>
              </a:rPr>
              <a:t>− KL( q_φ(z | x) ‖ N(0, I) )</a:t>
            </a:r>
            <a:endParaRPr b="0" i="0" spc="0" sz="1400" u="none" cap="none" strike="noStrike">
              <a:solidFill>
                <a:srgbClr val="000000"/>
              </a:solidFill>
              <a:latin typeface="Arial"/>
              <a:ea typeface="Arial"/>
              <a:cs typeface="Arial"/>
              <a:sym typeface="Arial"/>
            </a:endParaRPr>
          </a:p>
        </p:txBody>
      </p:sp>
      <p:sp>
        <p:nvSpPr>
          <p:cNvPr id="242" name="Google Shape;242;p42"/>
          <p:cNvSpPr/>
          <p:nvPr/>
        </p:nvSpPr>
        <p:spPr>
          <a:xfrm>
            <a:off x="8321040" y="4251960"/>
            <a:ext cx="3300984" cy="150876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3" name="Google Shape;243;p42"/>
          <p:cNvSpPr txBox="1"/>
          <p:nvPr/>
        </p:nvSpPr>
        <p:spPr>
          <a:xfrm>
            <a:off x="8503920" y="4343400"/>
            <a:ext cx="292608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FORCES &amp; LIMITES</a:t>
            </a:r>
            <a:endParaRPr b="0" i="0" spc="0" sz="1400" u="none" cap="none" strike="noStrike">
              <a:solidFill>
                <a:srgbClr val="000000"/>
              </a:solidFill>
              <a:latin typeface="Arial"/>
              <a:ea typeface="Arial"/>
              <a:cs typeface="Arial"/>
              <a:sym typeface="Arial"/>
            </a:endParaRPr>
          </a:p>
        </p:txBody>
      </p:sp>
      <p:sp>
        <p:nvSpPr>
          <p:cNvPr id="244" name="Google Shape;244;p42"/>
          <p:cNvSpPr txBox="1"/>
          <p:nvPr/>
        </p:nvSpPr>
        <p:spPr>
          <a:xfrm>
            <a:off x="8503920" y="4617720"/>
            <a:ext cx="3017520" cy="109728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0000"/>
              </a:lnSpc>
              <a:spcBef>
                <a:spcPts val="0"/>
              </a:spcBef>
              <a:spcAft>
                <a:spcPts val="0"/>
              </a:spcAft>
              <a:buClr>
                <a:srgbClr val="7FB08A"/>
              </a:buClr>
              <a:buSzPts val="1200"/>
              <a:buFont typeface="Calibri"/>
              <a:buChar char="✓"/>
            </a:pPr>
            <a:r>
              <a:rPr b="0" i="0" lang="en-US" spc="0" sz="1200" u="none" cap="none" strike="noStrike">
                <a:solidFill>
                  <a:srgbClr val="F1EADF"/>
                </a:solidFill>
                <a:latin typeface="Calibri"/>
                <a:ea typeface="Calibri"/>
                <a:cs typeface="Calibri"/>
                <a:sym typeface="Calibri"/>
              </a:rPr>
              <a:t>Entraînement stable</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7FB08A"/>
              </a:buClr>
              <a:buSzPts val="1200"/>
              <a:buFont typeface="Calibri"/>
              <a:buChar char="✓"/>
            </a:pPr>
            <a:r>
              <a:rPr b="0" i="0" lang="en-US" spc="0" sz="1200" u="none" cap="none" strike="noStrike">
                <a:solidFill>
                  <a:srgbClr val="F1EADF"/>
                </a:solidFill>
                <a:latin typeface="Calibri"/>
                <a:ea typeface="Calibri"/>
                <a:cs typeface="Calibri"/>
                <a:sym typeface="Calibri"/>
              </a:rPr>
              <a:t>Interpolation dans l'espace latent</a:t>
            </a:r>
            <a:endParaRPr b="0" i="0" spc="0" sz="1400" u="none" cap="none" strike="noStrike">
              <a:solidFill>
                <a:srgbClr val="000000"/>
              </a:solidFill>
              <a:latin typeface="Arial"/>
              <a:ea typeface="Arial"/>
              <a:cs typeface="Arial"/>
              <a:sym typeface="Arial"/>
            </a:endParaRPr>
          </a:p>
          <a:p>
            <a:pPr indent="-177800" lvl="0" marL="177800" marR="0" rtl="0" algn="l">
              <a:lnSpc>
                <a:spcPct val="100000"/>
              </a:lnSpc>
              <a:spcBef>
                <a:spcPts val="300"/>
              </a:spcBef>
              <a:spcAft>
                <a:spcPts val="0"/>
              </a:spcAft>
              <a:buClr>
                <a:srgbClr val="C56C6C"/>
              </a:buClr>
              <a:buSzPts val="1200"/>
              <a:buFont typeface="Calibri"/>
              <a:buChar char="✗"/>
            </a:pPr>
            <a:r>
              <a:rPr b="0" i="0" lang="en-US" spc="0" sz="1200" u="none" cap="none" strike="noStrike">
                <a:solidFill>
                  <a:srgbClr val="F1EADF"/>
                </a:solidFill>
                <a:latin typeface="Calibri"/>
                <a:ea typeface="Calibri"/>
                <a:cs typeface="Calibri"/>
                <a:sym typeface="Calibri"/>
              </a:rPr>
              <a:t>Sorties souvent floues</a:t>
            </a:r>
            <a:endParaRPr b="0" i="0" spc="0" sz="1400" u="none" cap="none" strike="noStrike">
              <a:solidFill>
                <a:srgbClr val="000000"/>
              </a:solidFill>
              <a:latin typeface="Arial"/>
              <a:ea typeface="Arial"/>
              <a:cs typeface="Arial"/>
              <a:sym typeface="Arial"/>
            </a:endParaRPr>
          </a:p>
        </p:txBody>
      </p:sp>
      <p:sp>
        <p:nvSpPr>
          <p:cNvPr id="245" name="Google Shape;245;p42"/>
          <p:cNvSpPr txBox="1"/>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Kingma &amp; Welling (2013), Auto-Encoding Variational Bayes - </a:t>
            </a:r>
            <a:r>
              <a:rPr b="0" i="1" lang="en-US" spc="0" sz="1050" u="sng" cap="none" strike="noStrike">
                <a:solidFill>
                  <a:schemeClr val="hlink"/>
                </a:solidFill>
                <a:latin typeface="Calibri"/>
                <a:ea typeface="Calibri"/>
                <a:cs typeface="Calibri"/>
                <a:sym typeface="Calibri"/>
                <a:hlinkClick r:id="rId3"/>
              </a:rPr>
              <a:t>https://arxiv.org/abs/1312.6114</a:t>
            </a:r>
            <a:r>
              <a:rPr b="0" i="1" lang="en-US" spc="0" sz="1050" u="none" cap="none" strike="noStrike">
                <a:solidFill>
                  <a:srgbClr val="9DB0C2"/>
                </a:solidFill>
                <a:latin typeface="Calibri"/>
                <a:ea typeface="Calibri"/>
                <a:cs typeface="Calibri"/>
                <a:sym typeface="Calibri"/>
              </a:rPr>
              <a:t> · Illustration : </a:t>
            </a:r>
            <a:r>
              <a:rPr b="0" i="1" lang="en-US" spc="0" sz="1050" u="sng" cap="none" strike="noStrike">
                <a:solidFill>
                  <a:schemeClr val="hlink"/>
                </a:solidFill>
                <a:latin typeface="Calibri"/>
                <a:ea typeface="Calibri"/>
                <a:cs typeface="Calibri"/>
                <a:sym typeface="Calibri"/>
                <a:hlinkClick r:id="rId4"/>
              </a:rPr>
              <a:t>https://lilianweng.github.io/posts/2018-08-12-vae/</a:t>
            </a:r>
            <a:endParaRPr b="0" i="0" spc="0" sz="1400" u="none" cap="none" strike="noStrike">
              <a:solidFill>
                <a:srgbClr val="000000"/>
              </a:solidFill>
              <a:latin typeface="Arial"/>
              <a:ea typeface="Arial"/>
              <a:cs typeface="Arial"/>
              <a:sym typeface="Arial"/>
            </a:endParaRPr>
          </a:p>
        </p:txBody>
      </p:sp>
      <p:sp>
        <p:nvSpPr>
          <p:cNvPr id="246" name="Google Shape;246;p42"/>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247" name="Google Shape;247;p42"/>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6</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252" name="Shape 252"/>
        <p:cNvGrpSpPr/>
        <p:nvPr/>
      </p:nvGrpSpPr>
      <p:grpSpPr>
        <a:xfrm>
          <a:off x="0" y="0"/>
          <a:ext cx="0" cy="0"/>
          <a:chOff x="0" y="0"/>
          <a:chExt cx="0" cy="0"/>
        </a:xfrm>
      </p:grpSpPr>
      <p:sp>
        <p:nvSpPr>
          <p:cNvPr id="253" name="Google Shape;253;p43"/>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TECHNIQUES AVANCÉES · IMAGE &amp; AUDIO</a:t>
            </a:r>
            <a:endParaRPr b="0" i="0" spc="0" sz="1400" u="none" cap="none" strike="noStrike">
              <a:solidFill>
                <a:srgbClr val="000000"/>
              </a:solidFill>
              <a:latin typeface="Arial"/>
              <a:ea typeface="Arial"/>
              <a:cs typeface="Arial"/>
              <a:sym typeface="Arial"/>
            </a:endParaRPr>
          </a:p>
        </p:txBody>
      </p:sp>
      <p:sp>
        <p:nvSpPr>
          <p:cNvPr id="254" name="Google Shape;254;p43"/>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Modèles de diffusion &amp; techniques émergentes</a:t>
            </a:r>
            <a:endParaRPr b="0" i="0" spc="0" sz="1400" u="none" cap="none" strike="noStrike">
              <a:solidFill>
                <a:srgbClr val="000000"/>
              </a:solidFill>
              <a:latin typeface="Arial"/>
              <a:ea typeface="Arial"/>
              <a:cs typeface="Arial"/>
              <a:sym typeface="Arial"/>
            </a:endParaRPr>
          </a:p>
        </p:txBody>
      </p:sp>
      <p:sp>
        <p:nvSpPr>
          <p:cNvPr id="255" name="Google Shape;255;p43"/>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6" name="Google Shape;256;p43"/>
          <p:cNvSpPr txBox="1"/>
          <p:nvPr/>
        </p:nvSpPr>
        <p:spPr>
          <a:xfrm>
            <a:off x="822960" y="1673352"/>
            <a:ext cx="237744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IDÉE CLÉ</a:t>
            </a:r>
            <a:endParaRPr b="0" i="0" spc="0" sz="1400" u="none" cap="none" strike="noStrike">
              <a:solidFill>
                <a:srgbClr val="000000"/>
              </a:solidFill>
              <a:latin typeface="Arial"/>
              <a:ea typeface="Arial"/>
              <a:cs typeface="Arial"/>
              <a:sym typeface="Arial"/>
            </a:endParaRPr>
          </a:p>
        </p:txBody>
      </p:sp>
      <p:sp>
        <p:nvSpPr>
          <p:cNvPr id="257" name="Google Shape;257;p43"/>
          <p:cNvSpPr txBox="1"/>
          <p:nvPr/>
        </p:nvSpPr>
        <p:spPr>
          <a:xfrm>
            <a:off x="822960" y="1920240"/>
            <a:ext cx="10543032" cy="3657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Apprendre à inverser un bruitage progressif : partir d'un bruit pur et le débruiter pas à pas jusqu'à une donnée réaliste, guidée par un prompt.</a:t>
            </a:r>
            <a:endParaRPr b="0" i="0" spc="0" sz="1400" u="none" cap="none" strike="noStrike">
              <a:solidFill>
                <a:srgbClr val="000000"/>
              </a:solidFill>
              <a:latin typeface="Arial"/>
              <a:ea typeface="Arial"/>
              <a:cs typeface="Arial"/>
              <a:sym typeface="Arial"/>
            </a:endParaRPr>
          </a:p>
        </p:txBody>
      </p:sp>
      <p:sp>
        <p:nvSpPr>
          <p:cNvPr id="258" name="Google Shape;258;p43"/>
          <p:cNvSpPr/>
          <p:nvPr/>
        </p:nvSpPr>
        <p:spPr>
          <a:xfrm>
            <a:off x="566928" y="2560320"/>
            <a:ext cx="5394960" cy="118872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9" name="Google Shape;259;p43"/>
          <p:cNvSpPr/>
          <p:nvPr/>
        </p:nvSpPr>
        <p:spPr>
          <a:xfrm>
            <a:off x="795528"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0" name="Google Shape;260;p43"/>
          <p:cNvSpPr txBox="1"/>
          <p:nvPr/>
        </p:nvSpPr>
        <p:spPr>
          <a:xfrm>
            <a:off x="795528"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261" name="Google Shape;261;p43"/>
          <p:cNvSpPr txBox="1"/>
          <p:nvPr/>
        </p:nvSpPr>
        <p:spPr>
          <a:xfrm>
            <a:off x="1389888" y="2697480"/>
            <a:ext cx="43891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Processus direct (forward)</a:t>
            </a:r>
            <a:endParaRPr b="0" i="0" spc="0" sz="1400" u="none" cap="none" strike="noStrike">
              <a:solidFill>
                <a:srgbClr val="000000"/>
              </a:solidFill>
              <a:latin typeface="Arial"/>
              <a:ea typeface="Arial"/>
              <a:cs typeface="Arial"/>
              <a:sym typeface="Arial"/>
            </a:endParaRPr>
          </a:p>
        </p:txBody>
      </p:sp>
      <p:sp>
        <p:nvSpPr>
          <p:cNvPr id="262" name="Google Shape;262;p43"/>
          <p:cNvSpPr txBox="1"/>
          <p:nvPr/>
        </p:nvSpPr>
        <p:spPr>
          <a:xfrm>
            <a:off x="1389888" y="3154680"/>
            <a:ext cx="4434840"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9DB0C2"/>
                </a:solidFill>
                <a:latin typeface="Calibri"/>
                <a:ea typeface="Calibri"/>
                <a:cs typeface="Calibri"/>
                <a:sym typeface="Calibri"/>
              </a:rPr>
              <a:t>Ajout de bruit gaussien sur T étapes jusqu'au bruit pur. Fixe, sans apprentissage.</a:t>
            </a:r>
            <a:endParaRPr b="0" i="0" spc="0" sz="1400" u="none" cap="none" strike="noStrike">
              <a:solidFill>
                <a:srgbClr val="000000"/>
              </a:solidFill>
              <a:latin typeface="Arial"/>
              <a:ea typeface="Arial"/>
              <a:cs typeface="Arial"/>
              <a:sym typeface="Arial"/>
            </a:endParaRPr>
          </a:p>
        </p:txBody>
      </p:sp>
      <p:sp>
        <p:nvSpPr>
          <p:cNvPr id="263" name="Google Shape;263;p43"/>
          <p:cNvSpPr/>
          <p:nvPr/>
        </p:nvSpPr>
        <p:spPr>
          <a:xfrm>
            <a:off x="6227064" y="2560320"/>
            <a:ext cx="5394960" cy="118872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4" name="Google Shape;264;p43"/>
          <p:cNvSpPr/>
          <p:nvPr/>
        </p:nvSpPr>
        <p:spPr>
          <a:xfrm>
            <a:off x="6455664" y="272491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5" name="Google Shape;265;p43"/>
          <p:cNvSpPr txBox="1"/>
          <p:nvPr/>
        </p:nvSpPr>
        <p:spPr>
          <a:xfrm>
            <a:off x="6455664"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266" name="Google Shape;266;p43"/>
          <p:cNvSpPr txBox="1"/>
          <p:nvPr/>
        </p:nvSpPr>
        <p:spPr>
          <a:xfrm>
            <a:off x="7050024" y="2697480"/>
            <a:ext cx="4389120"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Processus inverse (reverse)</a:t>
            </a:r>
            <a:endParaRPr b="0" i="0" spc="0" sz="1400" u="none" cap="none" strike="noStrike">
              <a:solidFill>
                <a:srgbClr val="000000"/>
              </a:solidFill>
              <a:latin typeface="Arial"/>
              <a:ea typeface="Arial"/>
              <a:cs typeface="Arial"/>
              <a:sym typeface="Arial"/>
            </a:endParaRPr>
          </a:p>
        </p:txBody>
      </p:sp>
      <p:sp>
        <p:nvSpPr>
          <p:cNvPr id="267" name="Google Shape;267;p43"/>
          <p:cNvSpPr txBox="1"/>
          <p:nvPr/>
        </p:nvSpPr>
        <p:spPr>
          <a:xfrm>
            <a:off x="7050024" y="3154680"/>
            <a:ext cx="4434840" cy="548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0" i="0" lang="en-US" spc="0" sz="1200" u="none" cap="none" strike="noStrike">
                <a:solidFill>
                  <a:srgbClr val="9DB0C2"/>
                </a:solidFill>
                <a:latin typeface="Calibri"/>
                <a:ea typeface="Calibri"/>
                <a:cs typeface="Calibri"/>
                <a:sym typeface="Calibri"/>
              </a:rPr>
              <a:t>Un réseau (U-Net, Transformer) prédit le bruit à retirer à chaque étape, conditionné par le texte.</a:t>
            </a:r>
            <a:endParaRPr b="0" i="0" spc="0" sz="1400" u="none" cap="none" strike="noStrike">
              <a:solidFill>
                <a:srgbClr val="000000"/>
              </a:solidFill>
              <a:latin typeface="Arial"/>
              <a:ea typeface="Arial"/>
              <a:cs typeface="Arial"/>
              <a:sym typeface="Arial"/>
            </a:endParaRPr>
          </a:p>
        </p:txBody>
      </p:sp>
      <p:sp>
        <p:nvSpPr>
          <p:cNvPr id="268" name="Google Shape;268;p43"/>
          <p:cNvSpPr txBox="1"/>
          <p:nvPr/>
        </p:nvSpPr>
        <p:spPr>
          <a:xfrm>
            <a:off x="5961888" y="2560320"/>
            <a:ext cx="265176" cy="11887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pc="0" sz="18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269" name="Google Shape;269;p43"/>
          <p:cNvSpPr txBox="1"/>
          <p:nvPr/>
        </p:nvSpPr>
        <p:spPr>
          <a:xfrm>
            <a:off x="566928" y="3886200"/>
            <a:ext cx="11055096"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C77B4C"/>
                </a:solidFill>
                <a:latin typeface="Calibri"/>
                <a:ea typeface="Calibri"/>
                <a:cs typeface="Calibri"/>
                <a:sym typeface="Calibri"/>
              </a:rPr>
              <a:t>Exemples d'applications et techniques émergentes</a:t>
            </a:r>
            <a:endParaRPr b="0" i="0" spc="0" sz="1400" u="none" cap="none" strike="noStrike">
              <a:solidFill>
                <a:srgbClr val="000000"/>
              </a:solidFill>
              <a:latin typeface="Arial"/>
              <a:ea typeface="Arial"/>
              <a:cs typeface="Arial"/>
              <a:sym typeface="Arial"/>
            </a:endParaRPr>
          </a:p>
        </p:txBody>
      </p:sp>
      <p:sp>
        <p:nvSpPr>
          <p:cNvPr id="270" name="Google Shape;270;p43"/>
          <p:cNvSpPr/>
          <p:nvPr/>
        </p:nvSpPr>
        <p:spPr>
          <a:xfrm>
            <a:off x="566928" y="4251960"/>
            <a:ext cx="2523744" cy="155448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1" name="Google Shape;271;p43"/>
          <p:cNvSpPr txBox="1"/>
          <p:nvPr/>
        </p:nvSpPr>
        <p:spPr>
          <a:xfrm>
            <a:off x="749808" y="434340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VISAGES RÉALISTES</a:t>
            </a:r>
            <a:endParaRPr b="0" i="0" spc="0" sz="1400" u="none" cap="none" strike="noStrike">
              <a:solidFill>
                <a:srgbClr val="000000"/>
              </a:solidFill>
              <a:latin typeface="Arial"/>
              <a:ea typeface="Arial"/>
              <a:cs typeface="Arial"/>
              <a:sym typeface="Arial"/>
            </a:endParaRPr>
          </a:p>
        </p:txBody>
      </p:sp>
      <p:sp>
        <p:nvSpPr>
          <p:cNvPr id="272" name="Google Shape;272;p43"/>
          <p:cNvSpPr txBox="1"/>
          <p:nvPr/>
        </p:nvSpPr>
        <p:spPr>
          <a:xfrm>
            <a:off x="749808" y="4599432"/>
            <a:ext cx="215798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StyleGAN (NVIDIA)</a:t>
            </a:r>
            <a:endParaRPr b="0" i="0" spc="0" sz="1400" u="none" cap="none" strike="noStrike">
              <a:solidFill>
                <a:srgbClr val="000000"/>
              </a:solidFill>
              <a:latin typeface="Arial"/>
              <a:ea typeface="Arial"/>
              <a:cs typeface="Arial"/>
              <a:sym typeface="Arial"/>
            </a:endParaRPr>
          </a:p>
        </p:txBody>
      </p:sp>
      <p:sp>
        <p:nvSpPr>
          <p:cNvPr id="273" name="Google Shape;273;p43"/>
          <p:cNvSpPr txBox="1"/>
          <p:nvPr/>
        </p:nvSpPr>
        <p:spPr>
          <a:xfrm>
            <a:off x="749808" y="4937760"/>
            <a:ext cx="2157984"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9DB0C2"/>
                </a:solidFill>
                <a:latin typeface="Calibri"/>
                <a:ea typeface="Calibri"/>
                <a:cs typeface="Calibri"/>
                <a:sym typeface="Calibri"/>
              </a:rPr>
              <a:t>Visages de personnes qui n'existent pas.</a:t>
            </a:r>
            <a:endParaRPr b="0" i="0" spc="0" sz="1400" u="none" cap="none" strike="noStrike">
              <a:solidFill>
                <a:srgbClr val="000000"/>
              </a:solidFill>
              <a:latin typeface="Arial"/>
              <a:ea typeface="Arial"/>
              <a:cs typeface="Arial"/>
              <a:sym typeface="Arial"/>
            </a:endParaRPr>
          </a:p>
        </p:txBody>
      </p:sp>
      <p:sp>
        <p:nvSpPr>
          <p:cNvPr id="274" name="Google Shape;274;p43"/>
          <p:cNvSpPr txBox="1"/>
          <p:nvPr/>
        </p:nvSpPr>
        <p:spPr>
          <a:xfrm>
            <a:off x="749808" y="544068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3"/>
              </a:rPr>
              <a:t>thispersondoesnotexist.com</a:t>
            </a:r>
            <a:endParaRPr b="0" i="0" spc="0" sz="1400" u="none" cap="none" strike="noStrike">
              <a:solidFill>
                <a:srgbClr val="000000"/>
              </a:solidFill>
              <a:latin typeface="Arial"/>
              <a:ea typeface="Arial"/>
              <a:cs typeface="Arial"/>
              <a:sym typeface="Arial"/>
            </a:endParaRPr>
          </a:p>
        </p:txBody>
      </p:sp>
      <p:sp>
        <p:nvSpPr>
          <p:cNvPr id="275" name="Google Shape;275;p43"/>
          <p:cNvSpPr/>
          <p:nvPr/>
        </p:nvSpPr>
        <p:spPr>
          <a:xfrm>
            <a:off x="3410712" y="4251960"/>
            <a:ext cx="2523744" cy="155448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6" name="Google Shape;276;p43"/>
          <p:cNvSpPr txBox="1"/>
          <p:nvPr/>
        </p:nvSpPr>
        <p:spPr>
          <a:xfrm>
            <a:off x="3593592" y="434340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TEXTE → IMAGE</a:t>
            </a:r>
            <a:endParaRPr b="0" i="0" spc="0" sz="1400" u="none" cap="none" strike="noStrike">
              <a:solidFill>
                <a:srgbClr val="000000"/>
              </a:solidFill>
              <a:latin typeface="Arial"/>
              <a:ea typeface="Arial"/>
              <a:cs typeface="Arial"/>
              <a:sym typeface="Arial"/>
            </a:endParaRPr>
          </a:p>
        </p:txBody>
      </p:sp>
      <p:sp>
        <p:nvSpPr>
          <p:cNvPr id="277" name="Google Shape;277;p43"/>
          <p:cNvSpPr txBox="1"/>
          <p:nvPr/>
        </p:nvSpPr>
        <p:spPr>
          <a:xfrm>
            <a:off x="3593592" y="4599432"/>
            <a:ext cx="215798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Stable Diffusion</a:t>
            </a:r>
            <a:endParaRPr b="0" i="0" spc="0" sz="1400" u="none" cap="none" strike="noStrike">
              <a:solidFill>
                <a:srgbClr val="000000"/>
              </a:solidFill>
              <a:latin typeface="Arial"/>
              <a:ea typeface="Arial"/>
              <a:cs typeface="Arial"/>
              <a:sym typeface="Arial"/>
            </a:endParaRPr>
          </a:p>
        </p:txBody>
      </p:sp>
      <p:sp>
        <p:nvSpPr>
          <p:cNvPr id="278" name="Google Shape;278;p43"/>
          <p:cNvSpPr txBox="1"/>
          <p:nvPr/>
        </p:nvSpPr>
        <p:spPr>
          <a:xfrm>
            <a:off x="3593592" y="4937760"/>
            <a:ext cx="2157984"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9DB0C2"/>
                </a:solidFill>
                <a:latin typeface="Calibri"/>
                <a:ea typeface="Calibri"/>
                <a:cs typeface="Calibri"/>
                <a:sym typeface="Calibri"/>
              </a:rPr>
              <a:t>Diffusion dans l'espace latent d'un VAE.</a:t>
            </a:r>
            <a:endParaRPr b="0" i="0" spc="0" sz="1400" u="none" cap="none" strike="noStrike">
              <a:solidFill>
                <a:srgbClr val="000000"/>
              </a:solidFill>
              <a:latin typeface="Arial"/>
              <a:ea typeface="Arial"/>
              <a:cs typeface="Arial"/>
              <a:sym typeface="Arial"/>
            </a:endParaRPr>
          </a:p>
        </p:txBody>
      </p:sp>
      <p:sp>
        <p:nvSpPr>
          <p:cNvPr id="279" name="Google Shape;279;p43"/>
          <p:cNvSpPr txBox="1"/>
          <p:nvPr/>
        </p:nvSpPr>
        <p:spPr>
          <a:xfrm>
            <a:off x="3593592" y="544068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4"/>
              </a:rPr>
              <a:t>arxiv.org/abs/2112.10752</a:t>
            </a:r>
            <a:endParaRPr b="0" i="0" spc="0" sz="1400" u="none" cap="none" strike="noStrike">
              <a:solidFill>
                <a:srgbClr val="000000"/>
              </a:solidFill>
              <a:latin typeface="Arial"/>
              <a:ea typeface="Arial"/>
              <a:cs typeface="Arial"/>
              <a:sym typeface="Arial"/>
            </a:endParaRPr>
          </a:p>
        </p:txBody>
      </p:sp>
      <p:sp>
        <p:nvSpPr>
          <p:cNvPr id="280" name="Google Shape;280;p43"/>
          <p:cNvSpPr/>
          <p:nvPr/>
        </p:nvSpPr>
        <p:spPr>
          <a:xfrm>
            <a:off x="6254496" y="4251960"/>
            <a:ext cx="2523744" cy="155448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1" name="Google Shape;281;p43"/>
          <p:cNvSpPr txBox="1"/>
          <p:nvPr/>
        </p:nvSpPr>
        <p:spPr>
          <a:xfrm>
            <a:off x="6437376" y="434340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MUSIQUE &amp; AUDIO</a:t>
            </a:r>
            <a:endParaRPr b="0" i="0" spc="0" sz="1400" u="none" cap="none" strike="noStrike">
              <a:solidFill>
                <a:srgbClr val="000000"/>
              </a:solidFill>
              <a:latin typeface="Arial"/>
              <a:ea typeface="Arial"/>
              <a:cs typeface="Arial"/>
              <a:sym typeface="Arial"/>
            </a:endParaRPr>
          </a:p>
        </p:txBody>
      </p:sp>
      <p:sp>
        <p:nvSpPr>
          <p:cNvPr id="282" name="Google Shape;282;p43"/>
          <p:cNvSpPr txBox="1"/>
          <p:nvPr/>
        </p:nvSpPr>
        <p:spPr>
          <a:xfrm>
            <a:off x="6437376" y="4599432"/>
            <a:ext cx="215798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MusicGen (Meta)</a:t>
            </a:r>
            <a:endParaRPr b="0" i="0" spc="0" sz="1400" u="none" cap="none" strike="noStrike">
              <a:solidFill>
                <a:srgbClr val="000000"/>
              </a:solidFill>
              <a:latin typeface="Arial"/>
              <a:ea typeface="Arial"/>
              <a:cs typeface="Arial"/>
              <a:sym typeface="Arial"/>
            </a:endParaRPr>
          </a:p>
        </p:txBody>
      </p:sp>
      <p:sp>
        <p:nvSpPr>
          <p:cNvPr id="283" name="Google Shape;283;p43"/>
          <p:cNvSpPr txBox="1"/>
          <p:nvPr/>
        </p:nvSpPr>
        <p:spPr>
          <a:xfrm>
            <a:off x="6437376" y="4937760"/>
            <a:ext cx="2157984"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9DB0C2"/>
                </a:solidFill>
                <a:latin typeface="Calibri"/>
                <a:ea typeface="Calibri"/>
                <a:cs typeface="Calibri"/>
                <a:sym typeface="Calibri"/>
              </a:rPr>
              <a:t>Musique générée depuis une description.</a:t>
            </a:r>
            <a:endParaRPr b="0" i="0" spc="0" sz="1400" u="none" cap="none" strike="noStrike">
              <a:solidFill>
                <a:srgbClr val="000000"/>
              </a:solidFill>
              <a:latin typeface="Arial"/>
              <a:ea typeface="Arial"/>
              <a:cs typeface="Arial"/>
              <a:sym typeface="Arial"/>
            </a:endParaRPr>
          </a:p>
        </p:txBody>
      </p:sp>
      <p:sp>
        <p:nvSpPr>
          <p:cNvPr id="284" name="Google Shape;284;p43"/>
          <p:cNvSpPr txBox="1"/>
          <p:nvPr/>
        </p:nvSpPr>
        <p:spPr>
          <a:xfrm>
            <a:off x="6437376" y="544068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5"/>
              </a:rPr>
              <a:t>GitHub : audiocraft</a:t>
            </a:r>
            <a:endParaRPr b="0" i="0" spc="0" sz="1400" u="none" cap="none" strike="noStrike">
              <a:solidFill>
                <a:srgbClr val="000000"/>
              </a:solidFill>
              <a:latin typeface="Arial"/>
              <a:ea typeface="Arial"/>
              <a:cs typeface="Arial"/>
              <a:sym typeface="Arial"/>
            </a:endParaRPr>
          </a:p>
        </p:txBody>
      </p:sp>
      <p:sp>
        <p:nvSpPr>
          <p:cNvPr id="285" name="Google Shape;285;p43"/>
          <p:cNvSpPr/>
          <p:nvPr/>
        </p:nvSpPr>
        <p:spPr>
          <a:xfrm>
            <a:off x="9098280" y="4251960"/>
            <a:ext cx="2523744" cy="155448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43"/>
          <p:cNvSpPr txBox="1"/>
          <p:nvPr/>
        </p:nvSpPr>
        <p:spPr>
          <a:xfrm>
            <a:off x="9281160" y="4343400"/>
            <a:ext cx="2157984"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TEXTE</a:t>
            </a:r>
            <a:endParaRPr b="0" i="0" spc="0" sz="1400" u="none" cap="none" strike="noStrike">
              <a:solidFill>
                <a:srgbClr val="000000"/>
              </a:solidFill>
              <a:latin typeface="Arial"/>
              <a:ea typeface="Arial"/>
              <a:cs typeface="Arial"/>
              <a:sym typeface="Arial"/>
            </a:endParaRPr>
          </a:p>
        </p:txBody>
      </p:sp>
      <p:sp>
        <p:nvSpPr>
          <p:cNvPr id="287" name="Google Shape;287;p43"/>
          <p:cNvSpPr txBox="1"/>
          <p:nvPr/>
        </p:nvSpPr>
        <p:spPr>
          <a:xfrm>
            <a:off x="9281160" y="4599432"/>
            <a:ext cx="2157984"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LLM à diffusion</a:t>
            </a:r>
            <a:endParaRPr b="0" i="0" spc="0" sz="1400" u="none" cap="none" strike="noStrike">
              <a:solidFill>
                <a:srgbClr val="000000"/>
              </a:solidFill>
              <a:latin typeface="Arial"/>
              <a:ea typeface="Arial"/>
              <a:cs typeface="Arial"/>
              <a:sym typeface="Arial"/>
            </a:endParaRPr>
          </a:p>
        </p:txBody>
      </p:sp>
      <p:sp>
        <p:nvSpPr>
          <p:cNvPr id="288" name="Google Shape;288;p43"/>
          <p:cNvSpPr txBox="1"/>
          <p:nvPr/>
        </p:nvSpPr>
        <p:spPr>
          <a:xfrm>
            <a:off x="9281160" y="4937760"/>
            <a:ext cx="2157984" cy="5029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pc="0" sz="1100" u="none" cap="none" strike="noStrike">
                <a:solidFill>
                  <a:srgbClr val="9DB0C2"/>
                </a:solidFill>
                <a:latin typeface="Calibri"/>
                <a:ea typeface="Calibri"/>
                <a:cs typeface="Calibri"/>
                <a:sym typeface="Calibri"/>
              </a:rPr>
              <a:t>LLaDA : alternative à la génération autorégressive.</a:t>
            </a:r>
            <a:endParaRPr b="0" i="0" spc="0" sz="1400" u="none" cap="none" strike="noStrike">
              <a:solidFill>
                <a:srgbClr val="000000"/>
              </a:solidFill>
              <a:latin typeface="Arial"/>
              <a:ea typeface="Arial"/>
              <a:cs typeface="Arial"/>
              <a:sym typeface="Arial"/>
            </a:endParaRPr>
          </a:p>
        </p:txBody>
      </p:sp>
      <p:sp>
        <p:nvSpPr>
          <p:cNvPr id="289" name="Google Shape;289;p43"/>
          <p:cNvSpPr txBox="1"/>
          <p:nvPr/>
        </p:nvSpPr>
        <p:spPr>
          <a:xfrm>
            <a:off x="9281160" y="5440680"/>
            <a:ext cx="2157984"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6"/>
              </a:rPr>
              <a:t>arxiv.org/abs/2502.09992</a:t>
            </a:r>
            <a:endParaRPr b="0" i="0" spc="0" sz="1400" u="none" cap="none" strike="noStrike">
              <a:solidFill>
                <a:srgbClr val="000000"/>
              </a:solidFill>
              <a:latin typeface="Arial"/>
              <a:ea typeface="Arial"/>
              <a:cs typeface="Arial"/>
              <a:sym typeface="Arial"/>
            </a:endParaRPr>
          </a:p>
        </p:txBody>
      </p:sp>
      <p:sp>
        <p:nvSpPr>
          <p:cNvPr id="290" name="Google Shape;290;p43"/>
          <p:cNvSpPr txBox="1"/>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Ho et al. (2020), Denoising Diffusion Probabilistic Models - </a:t>
            </a:r>
            <a:r>
              <a:rPr b="0" i="1" lang="en-US" spc="0" sz="1050" u="sng" cap="none" strike="noStrike">
                <a:solidFill>
                  <a:schemeClr val="hlink"/>
                </a:solidFill>
                <a:latin typeface="Calibri"/>
                <a:ea typeface="Calibri"/>
                <a:cs typeface="Calibri"/>
                <a:sym typeface="Calibri"/>
                <a:hlinkClick r:id="rId7"/>
              </a:rPr>
              <a:t>https://arxiv.org/abs/2006.11239</a:t>
            </a:r>
            <a:r>
              <a:rPr b="0" i="1" lang="en-US" spc="0" sz="1050" u="none" cap="none" strike="noStrike">
                <a:solidFill>
                  <a:srgbClr val="9DB0C2"/>
                </a:solidFill>
                <a:latin typeface="Calibri"/>
                <a:ea typeface="Calibri"/>
                <a:cs typeface="Calibri"/>
                <a:sym typeface="Calibri"/>
              </a:rPr>
              <a:t> · Démo : </a:t>
            </a:r>
            <a:r>
              <a:rPr b="0" i="1" lang="en-US" spc="0" sz="1050" u="sng" cap="none" strike="noStrike">
                <a:solidFill>
                  <a:schemeClr val="hlink"/>
                </a:solidFill>
                <a:latin typeface="Calibri"/>
                <a:ea typeface="Calibri"/>
                <a:cs typeface="Calibri"/>
                <a:sym typeface="Calibri"/>
                <a:hlinkClick r:id="rId8"/>
              </a:rPr>
              <a:t>https://poloclub.github.io/diffusion-explainer/</a:t>
            </a:r>
            <a:endParaRPr b="0" i="0" spc="0" sz="1400" u="none" cap="none" strike="noStrike">
              <a:solidFill>
                <a:srgbClr val="000000"/>
              </a:solidFill>
              <a:latin typeface="Arial"/>
              <a:ea typeface="Arial"/>
              <a:cs typeface="Arial"/>
              <a:sym typeface="Arial"/>
            </a:endParaRPr>
          </a:p>
        </p:txBody>
      </p:sp>
      <p:sp>
        <p:nvSpPr>
          <p:cNvPr id="291" name="Google Shape;291;p43"/>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292" name="Google Shape;292;p43"/>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7</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297" name="Shape 297"/>
        <p:cNvGrpSpPr/>
        <p:nvPr/>
      </p:nvGrpSpPr>
      <p:grpSpPr>
        <a:xfrm>
          <a:off x="0" y="0"/>
          <a:ext cx="0" cy="0"/>
          <a:chOff x="0" y="0"/>
          <a:chExt cx="0" cy="0"/>
        </a:xfrm>
      </p:grpSpPr>
      <p:sp>
        <p:nvSpPr>
          <p:cNvPr id="298" name="Google Shape;298;p44"/>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EXERCICE 1 · À VOUS DE JOUER</a:t>
            </a:r>
            <a:endParaRPr b="0" i="0" spc="0" sz="1400" u="none" cap="none" strike="noStrike">
              <a:solidFill>
                <a:srgbClr val="000000"/>
              </a:solidFill>
              <a:latin typeface="Arial"/>
              <a:ea typeface="Arial"/>
              <a:cs typeface="Arial"/>
              <a:sym typeface="Arial"/>
            </a:endParaRPr>
          </a:p>
        </p:txBody>
      </p:sp>
      <p:sp>
        <p:nvSpPr>
          <p:cNvPr id="299" name="Google Shape;299;p44"/>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Analyse de cas : une application réelle</a:t>
            </a:r>
            <a:endParaRPr b="0" i="0" spc="0" sz="1400" u="none" cap="none" strike="noStrike">
              <a:solidFill>
                <a:srgbClr val="000000"/>
              </a:solidFill>
              <a:latin typeface="Arial"/>
              <a:ea typeface="Arial"/>
              <a:cs typeface="Arial"/>
              <a:sym typeface="Arial"/>
            </a:endParaRPr>
          </a:p>
        </p:txBody>
      </p:sp>
      <p:sp>
        <p:nvSpPr>
          <p:cNvPr id="300" name="Google Shape;300;p44"/>
          <p:cNvSpPr/>
          <p:nvPr/>
        </p:nvSpPr>
        <p:spPr>
          <a:xfrm>
            <a:off x="566928" y="1554480"/>
            <a:ext cx="8458200" cy="12344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44"/>
          <p:cNvSpPr txBox="1"/>
          <p:nvPr/>
        </p:nvSpPr>
        <p:spPr>
          <a:xfrm>
            <a:off x="822960" y="1645920"/>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QUESTION</a:t>
            </a:r>
            <a:endParaRPr b="0" i="0" spc="0" sz="1400" u="none" cap="none" strike="noStrike">
              <a:solidFill>
                <a:srgbClr val="000000"/>
              </a:solidFill>
              <a:latin typeface="Arial"/>
              <a:ea typeface="Arial"/>
              <a:cs typeface="Arial"/>
              <a:sym typeface="Arial"/>
            </a:endParaRPr>
          </a:p>
        </p:txBody>
      </p:sp>
      <p:sp>
        <p:nvSpPr>
          <p:cNvPr id="302" name="Google Shape;302;p44"/>
          <p:cNvSpPr txBox="1"/>
          <p:nvPr/>
        </p:nvSpPr>
        <p:spPr>
          <a:xfrm>
            <a:off x="822960" y="1901952"/>
            <a:ext cx="80010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550"/>
              <a:buFont typeface="Arial"/>
              <a:buNone/>
            </a:pPr>
            <a:r>
              <a:rPr b="0" i="0" lang="en-US" spc="0" sz="1550" u="none" cap="none" strike="noStrike">
                <a:solidFill>
                  <a:srgbClr val="F1EADF"/>
                </a:solidFill>
                <a:latin typeface="Calibri"/>
                <a:ea typeface="Calibri"/>
                <a:cs typeface="Calibri"/>
                <a:sym typeface="Calibri"/>
              </a:rPr>
              <a:t>Visages réalistes, création de musique ou image générée depuis un texte : choisissez un cas. Comment l'IA générative y est-elle utilisée, et à quel prix ?</a:t>
            </a:r>
            <a:endParaRPr b="0" i="0" spc="0" sz="1400" u="none" cap="none" strike="noStrike">
              <a:solidFill>
                <a:srgbClr val="000000"/>
              </a:solidFill>
              <a:latin typeface="Arial"/>
              <a:ea typeface="Arial"/>
              <a:cs typeface="Arial"/>
              <a:sym typeface="Arial"/>
            </a:endParaRPr>
          </a:p>
        </p:txBody>
      </p:sp>
      <p:sp>
        <p:nvSpPr>
          <p:cNvPr id="303" name="Google Shape;303;p44"/>
          <p:cNvSpPr/>
          <p:nvPr/>
        </p:nvSpPr>
        <p:spPr>
          <a:xfrm>
            <a:off x="9253728" y="1554480"/>
            <a:ext cx="2368296" cy="1234440"/>
          </a:xfrm>
          <a:prstGeom prst="roundRect">
            <a:avLst>
              <a:gd fmla="val 9412"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4" name="Google Shape;304;p44"/>
          <p:cNvSpPr txBox="1"/>
          <p:nvPr/>
        </p:nvSpPr>
        <p:spPr>
          <a:xfrm>
            <a:off x="9253728" y="1627632"/>
            <a:ext cx="2368296"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C77B4C"/>
                </a:solidFill>
                <a:latin typeface="Cambria"/>
                <a:ea typeface="Cambria"/>
                <a:cs typeface="Cambria"/>
                <a:sym typeface="Cambria"/>
              </a:rPr>
              <a:t>5 min</a:t>
            </a:r>
            <a:endParaRPr b="0" i="0" spc="0" sz="1400" u="none" cap="none" strike="noStrike">
              <a:solidFill>
                <a:srgbClr val="000000"/>
              </a:solidFill>
              <a:latin typeface="Arial"/>
              <a:ea typeface="Arial"/>
              <a:cs typeface="Arial"/>
              <a:sym typeface="Arial"/>
            </a:endParaRPr>
          </a:p>
        </p:txBody>
      </p:sp>
      <p:sp>
        <p:nvSpPr>
          <p:cNvPr id="305" name="Google Shape;305;p44"/>
          <p:cNvSpPr txBox="1"/>
          <p:nvPr/>
        </p:nvSpPr>
        <p:spPr>
          <a:xfrm>
            <a:off x="9253728" y="2212848"/>
            <a:ext cx="2368296"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pc="0" sz="1100" u="none" cap="none" strike="noStrike">
                <a:solidFill>
                  <a:srgbClr val="9DB0C2"/>
                </a:solidFill>
                <a:latin typeface="Calibri"/>
                <a:ea typeface="Calibri"/>
                <a:cs typeface="Calibri"/>
                <a:sym typeface="Calibri"/>
              </a:rPr>
              <a:t>réflexion, puis mise en commun</a:t>
            </a:r>
            <a:endParaRPr b="0" i="0" spc="0" sz="1400" u="none" cap="none" strike="noStrike">
              <a:solidFill>
                <a:srgbClr val="000000"/>
              </a:solidFill>
              <a:latin typeface="Arial"/>
              <a:ea typeface="Arial"/>
              <a:cs typeface="Arial"/>
              <a:sym typeface="Arial"/>
            </a:endParaRPr>
          </a:p>
        </p:txBody>
      </p:sp>
      <p:sp>
        <p:nvSpPr>
          <p:cNvPr id="306" name="Google Shape;306;p44"/>
          <p:cNvSpPr txBox="1"/>
          <p:nvPr/>
        </p:nvSpPr>
        <p:spPr>
          <a:xfrm>
            <a:off x="566928" y="301752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PISTES DE RÉFLEXION</a:t>
            </a:r>
            <a:endParaRPr b="0" i="0" spc="0" sz="1400" u="none" cap="none" strike="noStrike">
              <a:solidFill>
                <a:srgbClr val="000000"/>
              </a:solidFill>
              <a:latin typeface="Arial"/>
              <a:ea typeface="Arial"/>
              <a:cs typeface="Arial"/>
              <a:sym typeface="Arial"/>
            </a:endParaRPr>
          </a:p>
        </p:txBody>
      </p:sp>
      <p:sp>
        <p:nvSpPr>
          <p:cNvPr id="307" name="Google Shape;307;p44"/>
          <p:cNvSpPr/>
          <p:nvPr/>
        </p:nvSpPr>
        <p:spPr>
          <a:xfrm>
            <a:off x="566928"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8" name="Google Shape;308;p44"/>
          <p:cNvSpPr/>
          <p:nvPr/>
        </p:nvSpPr>
        <p:spPr>
          <a:xfrm>
            <a:off x="768096"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9" name="Google Shape;309;p44"/>
          <p:cNvSpPr txBox="1"/>
          <p:nvPr/>
        </p:nvSpPr>
        <p:spPr>
          <a:xfrm>
            <a:off x="768096"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310" name="Google Shape;310;p44"/>
          <p:cNvSpPr txBox="1"/>
          <p:nvPr/>
        </p:nvSpPr>
        <p:spPr>
          <a:xfrm>
            <a:off x="1344168"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Quel modèle ?</a:t>
            </a:r>
            <a:endParaRPr b="0" i="0" spc="0" sz="1400" u="none" cap="none" strike="noStrike">
              <a:solidFill>
                <a:srgbClr val="000000"/>
              </a:solidFill>
              <a:latin typeface="Arial"/>
              <a:ea typeface="Arial"/>
              <a:cs typeface="Arial"/>
              <a:sym typeface="Arial"/>
            </a:endParaRPr>
          </a:p>
        </p:txBody>
      </p:sp>
      <p:sp>
        <p:nvSpPr>
          <p:cNvPr id="311" name="Google Shape;311;p44"/>
          <p:cNvSpPr txBox="1"/>
          <p:nvPr/>
        </p:nvSpPr>
        <p:spPr>
          <a:xfrm>
            <a:off x="749808"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GAN, VAE ou diffusion ? Que génère-t-il, et à partir de quoi (bruit, prompt) ?</a:t>
            </a:r>
            <a:endParaRPr b="0" i="0" spc="0" sz="1400" u="none" cap="none" strike="noStrike">
              <a:solidFill>
                <a:srgbClr val="000000"/>
              </a:solidFill>
              <a:latin typeface="Arial"/>
              <a:ea typeface="Arial"/>
              <a:cs typeface="Arial"/>
              <a:sym typeface="Arial"/>
            </a:endParaRPr>
          </a:p>
        </p:txBody>
      </p:sp>
      <p:sp>
        <p:nvSpPr>
          <p:cNvPr id="312" name="Google Shape;312;p44"/>
          <p:cNvSpPr/>
          <p:nvPr/>
        </p:nvSpPr>
        <p:spPr>
          <a:xfrm>
            <a:off x="4343400"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3" name="Google Shape;313;p44"/>
          <p:cNvSpPr/>
          <p:nvPr/>
        </p:nvSpPr>
        <p:spPr>
          <a:xfrm>
            <a:off x="4544568"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4" name="Google Shape;314;p44"/>
          <p:cNvSpPr txBox="1"/>
          <p:nvPr/>
        </p:nvSpPr>
        <p:spPr>
          <a:xfrm>
            <a:off x="4544568"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315" name="Google Shape;315;p44"/>
          <p:cNvSpPr txBox="1"/>
          <p:nvPr/>
        </p:nvSpPr>
        <p:spPr>
          <a:xfrm>
            <a:off x="5120640"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Forces &amp; limites</a:t>
            </a:r>
            <a:endParaRPr b="0" i="0" spc="0" sz="1400" u="none" cap="none" strike="noStrike">
              <a:solidFill>
                <a:srgbClr val="000000"/>
              </a:solidFill>
              <a:latin typeface="Arial"/>
              <a:ea typeface="Arial"/>
              <a:cs typeface="Arial"/>
              <a:sym typeface="Arial"/>
            </a:endParaRPr>
          </a:p>
        </p:txBody>
      </p:sp>
      <p:sp>
        <p:nvSpPr>
          <p:cNvPr id="316" name="Google Shape;316;p44"/>
          <p:cNvSpPr txBox="1"/>
          <p:nvPr/>
        </p:nvSpPr>
        <p:spPr>
          <a:xfrm>
            <a:off x="4526280"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Qualité, diversité, vitesse, contrôle par le prompt : qu'apporte-t-il, où bute-t-il ?</a:t>
            </a:r>
            <a:endParaRPr b="0" i="0" spc="0" sz="1400" u="none" cap="none" strike="noStrike">
              <a:solidFill>
                <a:srgbClr val="000000"/>
              </a:solidFill>
              <a:latin typeface="Arial"/>
              <a:ea typeface="Arial"/>
              <a:cs typeface="Arial"/>
              <a:sym typeface="Arial"/>
            </a:endParaRPr>
          </a:p>
        </p:txBody>
      </p:sp>
      <p:sp>
        <p:nvSpPr>
          <p:cNvPr id="317" name="Google Shape;317;p44"/>
          <p:cNvSpPr/>
          <p:nvPr/>
        </p:nvSpPr>
        <p:spPr>
          <a:xfrm>
            <a:off x="8119872"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8" name="Google Shape;318;p44"/>
          <p:cNvSpPr/>
          <p:nvPr/>
        </p:nvSpPr>
        <p:spPr>
          <a:xfrm>
            <a:off x="8321040"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9" name="Google Shape;319;p44"/>
          <p:cNvSpPr txBox="1"/>
          <p:nvPr/>
        </p:nvSpPr>
        <p:spPr>
          <a:xfrm>
            <a:off x="8321040"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320" name="Google Shape;320;p44"/>
          <p:cNvSpPr txBox="1"/>
          <p:nvPr/>
        </p:nvSpPr>
        <p:spPr>
          <a:xfrm>
            <a:off x="8897112"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Quel risque ?</a:t>
            </a:r>
            <a:endParaRPr b="0" i="0" spc="0" sz="1400" u="none" cap="none" strike="noStrike">
              <a:solidFill>
                <a:srgbClr val="000000"/>
              </a:solidFill>
              <a:latin typeface="Arial"/>
              <a:ea typeface="Arial"/>
              <a:cs typeface="Arial"/>
              <a:sym typeface="Arial"/>
            </a:endParaRPr>
          </a:p>
        </p:txBody>
      </p:sp>
      <p:sp>
        <p:nvSpPr>
          <p:cNvPr id="321" name="Google Shape;321;p44"/>
          <p:cNvSpPr txBox="1"/>
          <p:nvPr/>
        </p:nvSpPr>
        <p:spPr>
          <a:xfrm>
            <a:off x="8302752"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Deepfake, droit d'auteur, biais : quel risque éthique, et quelle parade ?</a:t>
            </a:r>
            <a:endParaRPr b="0" i="0" spc="0" sz="1400" u="none" cap="none" strike="noStrike">
              <a:solidFill>
                <a:srgbClr val="000000"/>
              </a:solidFill>
              <a:latin typeface="Arial"/>
              <a:ea typeface="Arial"/>
              <a:cs typeface="Arial"/>
              <a:sym typeface="Arial"/>
            </a:endParaRPr>
          </a:p>
        </p:txBody>
      </p:sp>
      <p:sp>
        <p:nvSpPr>
          <p:cNvPr id="322" name="Google Shape;322;p44"/>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323" name="Google Shape;323;p44"/>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8</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328" name="Shape 328"/>
        <p:cNvGrpSpPr/>
        <p:nvPr/>
      </p:nvGrpSpPr>
      <p:grpSpPr>
        <a:xfrm>
          <a:off x="0" y="0"/>
          <a:ext cx="0" cy="0"/>
          <a:chOff x="0" y="0"/>
          <a:chExt cx="0" cy="0"/>
        </a:xfrm>
      </p:grpSpPr>
      <p:sp>
        <p:nvSpPr>
          <p:cNvPr id="329" name="Google Shape;329;p3"/>
          <p:cNvSpPr/>
          <p:nvPr/>
        </p:nvSpPr>
        <p:spPr>
          <a:xfrm>
            <a:off x="566928" y="2286000"/>
            <a:ext cx="11055096"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500"/>
              <a:buFont typeface="Calibri"/>
              <a:buNone/>
            </a:pPr>
            <a:r>
              <a:rPr b="1" i="0" lang="en-US" spc="0" sz="1500" u="none" cap="none" strike="noStrike">
                <a:solidFill>
                  <a:srgbClr val="C77B4C"/>
                </a:solidFill>
                <a:latin typeface="Calibri"/>
                <a:ea typeface="Calibri"/>
                <a:cs typeface="Calibri"/>
                <a:sym typeface="Calibri"/>
              </a:rPr>
              <a:t>PARTIE 1</a:t>
            </a:r>
            <a:endParaRPr b="0" i="0" spc="0" sz="1500" u="none" cap="none" strike="noStrike">
              <a:solidFill>
                <a:schemeClr val="dk1"/>
              </a:solidFill>
              <a:latin typeface="Calibri"/>
              <a:ea typeface="Calibri"/>
              <a:cs typeface="Calibri"/>
              <a:sym typeface="Calibri"/>
            </a:endParaRPr>
          </a:p>
        </p:txBody>
      </p:sp>
      <p:sp>
        <p:nvSpPr>
          <p:cNvPr id="330" name="Google Shape;330;p3"/>
          <p:cNvSpPr/>
          <p:nvPr/>
        </p:nvSpPr>
        <p:spPr>
          <a:xfrm>
            <a:off x="566928" y="2697480"/>
            <a:ext cx="11055096"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4200"/>
              <a:buFont typeface="Cambria"/>
              <a:buNone/>
            </a:pPr>
            <a:r>
              <a:rPr b="1" i="0" lang="en-US" spc="0" sz="4200" u="none" cap="none" strike="noStrike">
                <a:solidFill>
                  <a:srgbClr val="F1EADF"/>
                </a:solidFill>
                <a:latin typeface="Cambria"/>
                <a:ea typeface="Cambria"/>
                <a:cs typeface="Cambria"/>
                <a:sym typeface="Cambria"/>
              </a:rPr>
              <a:t>Fondamentaux des LLM</a:t>
            </a:r>
            <a:endParaRPr b="0" i="0" spc="0" sz="4200" u="none" cap="none" strike="noStrike">
              <a:solidFill>
                <a:schemeClr val="dk1"/>
              </a:solidFill>
              <a:latin typeface="Calibri"/>
              <a:ea typeface="Calibri"/>
              <a:cs typeface="Calibri"/>
              <a:sym typeface="Calibri"/>
            </a:endParaRPr>
          </a:p>
        </p:txBody>
      </p:sp>
      <p:sp>
        <p:nvSpPr>
          <p:cNvPr id="331" name="Google Shape;331;p3"/>
          <p:cNvSpPr/>
          <p:nvPr/>
        </p:nvSpPr>
        <p:spPr>
          <a:xfrm>
            <a:off x="566928" y="3794760"/>
            <a:ext cx="83118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DB0C2"/>
              </a:buClr>
              <a:buSzPts val="1500"/>
              <a:buFont typeface="Calibri"/>
              <a:buNone/>
            </a:pPr>
            <a:r>
              <a:rPr b="0" i="0" lang="en-US" spc="0" sz="1500" u="none" cap="none" strike="noStrike">
                <a:solidFill>
                  <a:srgbClr val="9DB0C2"/>
                </a:solidFill>
                <a:latin typeface="Calibri"/>
                <a:ea typeface="Calibri"/>
                <a:cs typeface="Calibri"/>
                <a:sym typeface="Calibri"/>
              </a:rPr>
              <a:t>De l'architecture Transformer à l'alignement : comment un modèle apprend et génère du langage.</a:t>
            </a:r>
            <a:endParaRPr b="0" i="0" spc="0" sz="1500" u="none" cap="none" strike="noStrike">
              <a:solidFill>
                <a:schemeClr val="dk1"/>
              </a:solidFill>
              <a:latin typeface="Calibri"/>
              <a:ea typeface="Calibri"/>
              <a:cs typeface="Calibri"/>
              <a:sym typeface="Calibri"/>
            </a:endParaRPr>
          </a:p>
        </p:txBody>
      </p:sp>
      <p:sp>
        <p:nvSpPr>
          <p:cNvPr id="332" name="Google Shape;332;p3"/>
          <p:cNvSpPr/>
          <p:nvPr/>
        </p:nvSpPr>
        <p:spPr>
          <a:xfrm>
            <a:off x="9326880" y="2331720"/>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3" name="Google Shape;333;p3"/>
          <p:cNvSpPr/>
          <p:nvPr/>
        </p:nvSpPr>
        <p:spPr>
          <a:xfrm>
            <a:off x="9710928" y="2331720"/>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4" name="Google Shape;334;p3"/>
          <p:cNvSpPr/>
          <p:nvPr/>
        </p:nvSpPr>
        <p:spPr>
          <a:xfrm>
            <a:off x="10094976" y="2331720"/>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5" name="Google Shape;335;p3"/>
          <p:cNvSpPr/>
          <p:nvPr/>
        </p:nvSpPr>
        <p:spPr>
          <a:xfrm>
            <a:off x="10479024" y="2331720"/>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6" name="Google Shape;336;p3"/>
          <p:cNvSpPr/>
          <p:nvPr/>
        </p:nvSpPr>
        <p:spPr>
          <a:xfrm>
            <a:off x="9326880" y="2715768"/>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7" name="Google Shape;337;p3"/>
          <p:cNvSpPr/>
          <p:nvPr/>
        </p:nvSpPr>
        <p:spPr>
          <a:xfrm>
            <a:off x="9710928" y="2715768"/>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8" name="Google Shape;338;p3"/>
          <p:cNvSpPr/>
          <p:nvPr/>
        </p:nvSpPr>
        <p:spPr>
          <a:xfrm>
            <a:off x="10094976" y="2715768"/>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9" name="Google Shape;339;p3"/>
          <p:cNvSpPr/>
          <p:nvPr/>
        </p:nvSpPr>
        <p:spPr>
          <a:xfrm>
            <a:off x="10479024" y="2715768"/>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0" name="Google Shape;340;p3"/>
          <p:cNvSpPr/>
          <p:nvPr/>
        </p:nvSpPr>
        <p:spPr>
          <a:xfrm>
            <a:off x="9326880" y="3099816"/>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1" name="Google Shape;341;p3"/>
          <p:cNvSpPr/>
          <p:nvPr/>
        </p:nvSpPr>
        <p:spPr>
          <a:xfrm>
            <a:off x="9710928" y="3099816"/>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2" name="Google Shape;342;p3"/>
          <p:cNvSpPr/>
          <p:nvPr/>
        </p:nvSpPr>
        <p:spPr>
          <a:xfrm>
            <a:off x="10094976" y="3099816"/>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3" name="Google Shape;343;p3"/>
          <p:cNvSpPr/>
          <p:nvPr/>
        </p:nvSpPr>
        <p:spPr>
          <a:xfrm>
            <a:off x="10479024" y="3099816"/>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4" name="Google Shape;344;p3"/>
          <p:cNvSpPr/>
          <p:nvPr/>
        </p:nvSpPr>
        <p:spPr>
          <a:xfrm>
            <a:off x="9326880" y="3483864"/>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5" name="Google Shape;345;p3"/>
          <p:cNvSpPr/>
          <p:nvPr/>
        </p:nvSpPr>
        <p:spPr>
          <a:xfrm>
            <a:off x="9710928" y="3483864"/>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6" name="Google Shape;346;p3"/>
          <p:cNvSpPr/>
          <p:nvPr/>
        </p:nvSpPr>
        <p:spPr>
          <a:xfrm>
            <a:off x="10094976" y="3483864"/>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7" name="Google Shape;347;p3"/>
          <p:cNvSpPr/>
          <p:nvPr/>
        </p:nvSpPr>
        <p:spPr>
          <a:xfrm>
            <a:off x="10479024" y="3483864"/>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8" name="Google Shape;348;p3"/>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349" name="Google Shape;349;p3"/>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9</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354" name="Shape 354"/>
        <p:cNvGrpSpPr/>
        <p:nvPr/>
      </p:nvGrpSpPr>
      <p:grpSpPr>
        <a:xfrm>
          <a:off x="0" y="0"/>
          <a:ext cx="0" cy="0"/>
          <a:chOff x="0" y="0"/>
          <a:chExt cx="0" cy="0"/>
        </a:xfrm>
      </p:grpSpPr>
      <p:sp>
        <p:nvSpPr>
          <p:cNvPr id="355" name="Google Shape;355;p4"/>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356" name="Google Shape;356;p4"/>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Histoire &amp; origine des modèles de langage</a:t>
            </a:r>
            <a:endParaRPr b="0" i="0" spc="0" sz="2900" u="none" cap="none" strike="noStrike">
              <a:solidFill>
                <a:schemeClr val="dk1"/>
              </a:solidFill>
              <a:latin typeface="Calibri"/>
              <a:ea typeface="Calibri"/>
              <a:cs typeface="Calibri"/>
              <a:sym typeface="Calibri"/>
            </a:endParaRPr>
          </a:p>
        </p:txBody>
      </p:sp>
      <p:sp>
        <p:nvSpPr>
          <p:cNvPr id="357" name="Google Shape;357;p4"/>
          <p:cNvSpPr/>
          <p:nvPr/>
        </p:nvSpPr>
        <p:spPr>
          <a:xfrm>
            <a:off x="566928" y="150876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8" name="Google Shape;358;p4"/>
          <p:cNvSpPr/>
          <p:nvPr/>
        </p:nvSpPr>
        <p:spPr>
          <a:xfrm>
            <a:off x="822960" y="162763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359" name="Google Shape;359;p4"/>
          <p:cNvSpPr/>
          <p:nvPr/>
        </p:nvSpPr>
        <p:spPr>
          <a:xfrm>
            <a:off x="822960" y="187452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Les LLM sont le fruit d'une évolution : de la statistique N-gramme à l'architecture Transformer.</a:t>
            </a:r>
            <a:endParaRPr b="0" i="0" spc="0" sz="1400" u="none" cap="none" strike="noStrike">
              <a:solidFill>
                <a:schemeClr val="dk1"/>
              </a:solidFill>
              <a:latin typeface="Calibri"/>
              <a:ea typeface="Calibri"/>
              <a:cs typeface="Calibri"/>
              <a:sym typeface="Calibri"/>
            </a:endParaRPr>
          </a:p>
        </p:txBody>
      </p:sp>
      <p:cxnSp>
        <p:nvCxnSpPr>
          <p:cNvPr id="360" name="Google Shape;360;p4"/>
          <p:cNvCxnSpPr/>
          <p:nvPr/>
        </p:nvCxnSpPr>
        <p:spPr>
          <a:xfrm>
            <a:off x="2331720" y="3456432"/>
            <a:ext cx="7525512" cy="0"/>
          </a:xfrm>
          <a:prstGeom prst="straightConnector1">
            <a:avLst/>
          </a:prstGeom>
          <a:noFill/>
          <a:ln cap="flat" cmpd="sng" w="25400">
            <a:solidFill>
              <a:srgbClr val="9A542F"/>
            </a:solidFill>
            <a:prstDash val="solid"/>
            <a:round/>
            <a:headEnd len="sm" w="sm" type="none"/>
            <a:tailEnd len="sm" w="sm" type="none"/>
          </a:ln>
        </p:spPr>
      </p:cxnSp>
      <p:sp>
        <p:nvSpPr>
          <p:cNvPr id="361" name="Google Shape;361;p4"/>
          <p:cNvSpPr/>
          <p:nvPr/>
        </p:nvSpPr>
        <p:spPr>
          <a:xfrm>
            <a:off x="2075688" y="3200400"/>
            <a:ext cx="512064" cy="512064"/>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2" name="Google Shape;362;p4"/>
          <p:cNvSpPr/>
          <p:nvPr/>
        </p:nvSpPr>
        <p:spPr>
          <a:xfrm>
            <a:off x="2075688" y="3200400"/>
            <a:ext cx="512064" cy="5120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1</a:t>
            </a:r>
            <a:endParaRPr b="0" i="0" spc="0" sz="1800" u="none" cap="none" strike="noStrike">
              <a:solidFill>
                <a:schemeClr val="dk1"/>
              </a:solidFill>
              <a:latin typeface="Calibri"/>
              <a:ea typeface="Calibri"/>
              <a:cs typeface="Calibri"/>
              <a:sym typeface="Calibri"/>
            </a:endParaRPr>
          </a:p>
        </p:txBody>
      </p:sp>
      <p:sp>
        <p:nvSpPr>
          <p:cNvPr id="363" name="Google Shape;363;p4"/>
          <p:cNvSpPr/>
          <p:nvPr/>
        </p:nvSpPr>
        <p:spPr>
          <a:xfrm>
            <a:off x="708660" y="3977640"/>
            <a:ext cx="3246120"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4" name="Google Shape;364;p4"/>
          <p:cNvSpPr/>
          <p:nvPr/>
        </p:nvSpPr>
        <p:spPr>
          <a:xfrm>
            <a:off x="891540" y="4114800"/>
            <a:ext cx="2880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300"/>
              <a:buFont typeface="Calibri"/>
              <a:buNone/>
            </a:pPr>
            <a:r>
              <a:rPr b="1" i="0" lang="en-US" spc="0" sz="1300" u="none" cap="none" strike="noStrike">
                <a:solidFill>
                  <a:srgbClr val="C77B4C"/>
                </a:solidFill>
                <a:latin typeface="Calibri"/>
                <a:ea typeface="Calibri"/>
                <a:cs typeface="Calibri"/>
                <a:sym typeface="Calibri"/>
              </a:rPr>
              <a:t>Avant 2013</a:t>
            </a:r>
            <a:endParaRPr b="0" i="0" spc="0" sz="1300" u="none" cap="none" strike="noStrike">
              <a:solidFill>
                <a:schemeClr val="dk1"/>
              </a:solidFill>
              <a:latin typeface="Calibri"/>
              <a:ea typeface="Calibri"/>
              <a:cs typeface="Calibri"/>
              <a:sym typeface="Calibri"/>
            </a:endParaRPr>
          </a:p>
        </p:txBody>
      </p:sp>
      <p:sp>
        <p:nvSpPr>
          <p:cNvPr id="365" name="Google Shape;365;p4"/>
          <p:cNvSpPr/>
          <p:nvPr/>
        </p:nvSpPr>
        <p:spPr>
          <a:xfrm>
            <a:off x="891540" y="4434840"/>
            <a:ext cx="2880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N-grammes &amp; chaînes de Markov</a:t>
            </a:r>
            <a:endParaRPr b="0" i="0" spc="0" sz="1450" u="none" cap="none" strike="noStrike">
              <a:solidFill>
                <a:schemeClr val="dk1"/>
              </a:solidFill>
              <a:latin typeface="Calibri"/>
              <a:ea typeface="Calibri"/>
              <a:cs typeface="Calibri"/>
              <a:sym typeface="Calibri"/>
            </a:endParaRPr>
          </a:p>
        </p:txBody>
      </p:sp>
      <p:sp>
        <p:nvSpPr>
          <p:cNvPr id="366" name="Google Shape;366;p4"/>
          <p:cNvSpPr/>
          <p:nvPr/>
        </p:nvSpPr>
        <p:spPr>
          <a:xfrm>
            <a:off x="891540" y="4892040"/>
            <a:ext cx="288036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Statistiques pures, sans mémoire contextuelle.</a:t>
            </a:r>
            <a:endParaRPr b="0" i="0" spc="0" sz="1150" u="none" cap="none" strike="noStrike">
              <a:solidFill>
                <a:schemeClr val="dk1"/>
              </a:solidFill>
              <a:latin typeface="Calibri"/>
              <a:ea typeface="Calibri"/>
              <a:cs typeface="Calibri"/>
              <a:sym typeface="Calibri"/>
            </a:endParaRPr>
          </a:p>
        </p:txBody>
      </p:sp>
      <p:sp>
        <p:nvSpPr>
          <p:cNvPr id="367" name="Google Shape;367;p4"/>
          <p:cNvSpPr/>
          <p:nvPr/>
        </p:nvSpPr>
        <p:spPr>
          <a:xfrm>
            <a:off x="5838444" y="3200400"/>
            <a:ext cx="512064" cy="512064"/>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68" name="Google Shape;368;p4"/>
          <p:cNvSpPr/>
          <p:nvPr/>
        </p:nvSpPr>
        <p:spPr>
          <a:xfrm>
            <a:off x="5838444" y="3200400"/>
            <a:ext cx="512064" cy="5120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2</a:t>
            </a:r>
            <a:endParaRPr b="0" i="0" spc="0" sz="1800" u="none" cap="none" strike="noStrike">
              <a:solidFill>
                <a:schemeClr val="dk1"/>
              </a:solidFill>
              <a:latin typeface="Calibri"/>
              <a:ea typeface="Calibri"/>
              <a:cs typeface="Calibri"/>
              <a:sym typeface="Calibri"/>
            </a:endParaRPr>
          </a:p>
        </p:txBody>
      </p:sp>
      <p:sp>
        <p:nvSpPr>
          <p:cNvPr id="369" name="Google Shape;369;p4"/>
          <p:cNvSpPr/>
          <p:nvPr/>
        </p:nvSpPr>
        <p:spPr>
          <a:xfrm>
            <a:off x="4471416" y="3977640"/>
            <a:ext cx="3246120" cy="141732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0" name="Google Shape;370;p4"/>
          <p:cNvSpPr/>
          <p:nvPr/>
        </p:nvSpPr>
        <p:spPr>
          <a:xfrm>
            <a:off x="4654296" y="4114800"/>
            <a:ext cx="2880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300"/>
              <a:buFont typeface="Calibri"/>
              <a:buNone/>
            </a:pPr>
            <a:r>
              <a:rPr b="1" i="0" lang="en-US" spc="0" sz="1300" u="none" cap="none" strike="noStrike">
                <a:solidFill>
                  <a:srgbClr val="C77B4C"/>
                </a:solidFill>
                <a:latin typeface="Calibri"/>
                <a:ea typeface="Calibri"/>
                <a:cs typeface="Calibri"/>
                <a:sym typeface="Calibri"/>
              </a:rPr>
              <a:t>2013–2017</a:t>
            </a:r>
            <a:endParaRPr b="0" i="0" spc="0" sz="1300" u="none" cap="none" strike="noStrike">
              <a:solidFill>
                <a:schemeClr val="dk1"/>
              </a:solidFill>
              <a:latin typeface="Calibri"/>
              <a:ea typeface="Calibri"/>
              <a:cs typeface="Calibri"/>
              <a:sym typeface="Calibri"/>
            </a:endParaRPr>
          </a:p>
        </p:txBody>
      </p:sp>
      <p:sp>
        <p:nvSpPr>
          <p:cNvPr id="371" name="Google Shape;371;p4"/>
          <p:cNvSpPr/>
          <p:nvPr/>
        </p:nvSpPr>
        <p:spPr>
          <a:xfrm>
            <a:off x="4654296" y="4434840"/>
            <a:ext cx="2880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Word2Vec, RNN &amp; LSTM</a:t>
            </a:r>
            <a:endParaRPr b="0" i="0" spc="0" sz="1450" u="none" cap="none" strike="noStrike">
              <a:solidFill>
                <a:schemeClr val="dk1"/>
              </a:solidFill>
              <a:latin typeface="Calibri"/>
              <a:ea typeface="Calibri"/>
              <a:cs typeface="Calibri"/>
              <a:sym typeface="Calibri"/>
            </a:endParaRPr>
          </a:p>
        </p:txBody>
      </p:sp>
      <p:sp>
        <p:nvSpPr>
          <p:cNvPr id="372" name="Google Shape;372;p4"/>
          <p:cNvSpPr/>
          <p:nvPr/>
        </p:nvSpPr>
        <p:spPr>
          <a:xfrm>
            <a:off x="4654296" y="4892040"/>
            <a:ext cx="288036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Embeddings et mémoire contextuelle limitée.</a:t>
            </a:r>
            <a:endParaRPr b="0" i="0" spc="0" sz="1150" u="none" cap="none" strike="noStrike">
              <a:solidFill>
                <a:schemeClr val="dk1"/>
              </a:solidFill>
              <a:latin typeface="Calibri"/>
              <a:ea typeface="Calibri"/>
              <a:cs typeface="Calibri"/>
              <a:sym typeface="Calibri"/>
            </a:endParaRPr>
          </a:p>
        </p:txBody>
      </p:sp>
      <p:sp>
        <p:nvSpPr>
          <p:cNvPr id="373" name="Google Shape;373;p4"/>
          <p:cNvSpPr/>
          <p:nvPr/>
        </p:nvSpPr>
        <p:spPr>
          <a:xfrm>
            <a:off x="9601200" y="3200400"/>
            <a:ext cx="512064" cy="512064"/>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4" name="Google Shape;374;p4"/>
          <p:cNvSpPr/>
          <p:nvPr/>
        </p:nvSpPr>
        <p:spPr>
          <a:xfrm>
            <a:off x="9601200" y="3200400"/>
            <a:ext cx="512064" cy="51206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3</a:t>
            </a:r>
            <a:endParaRPr b="0" i="0" spc="0" sz="1800" u="none" cap="none" strike="noStrike">
              <a:solidFill>
                <a:schemeClr val="dk1"/>
              </a:solidFill>
              <a:latin typeface="Calibri"/>
              <a:ea typeface="Calibri"/>
              <a:cs typeface="Calibri"/>
              <a:sym typeface="Calibri"/>
            </a:endParaRPr>
          </a:p>
        </p:txBody>
      </p:sp>
      <p:sp>
        <p:nvSpPr>
          <p:cNvPr id="375" name="Google Shape;375;p4"/>
          <p:cNvSpPr/>
          <p:nvPr/>
        </p:nvSpPr>
        <p:spPr>
          <a:xfrm>
            <a:off x="8234172" y="3977640"/>
            <a:ext cx="3246120" cy="1417320"/>
          </a:xfrm>
          <a:prstGeom prst="roundRect">
            <a:avLst>
              <a:gd fmla="val 5161" name="adj"/>
            </a:avLst>
          </a:prstGeom>
          <a:solidFill>
            <a:srgbClr val="1A344B"/>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6" name="Google Shape;376;p4"/>
          <p:cNvSpPr/>
          <p:nvPr/>
        </p:nvSpPr>
        <p:spPr>
          <a:xfrm>
            <a:off x="8417052" y="4114800"/>
            <a:ext cx="288036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300"/>
              <a:buFont typeface="Calibri"/>
              <a:buNone/>
            </a:pPr>
            <a:r>
              <a:rPr b="1" i="0" lang="en-US" spc="0" sz="1300" u="none" cap="none" strike="noStrike">
                <a:solidFill>
                  <a:srgbClr val="C77B4C"/>
                </a:solidFill>
                <a:latin typeface="Calibri"/>
                <a:ea typeface="Calibri"/>
                <a:cs typeface="Calibri"/>
                <a:sym typeface="Calibri"/>
              </a:rPr>
              <a:t>2017</a:t>
            </a:r>
            <a:endParaRPr b="0" i="0" spc="0" sz="1300" u="none" cap="none" strike="noStrike">
              <a:solidFill>
                <a:schemeClr val="dk1"/>
              </a:solidFill>
              <a:latin typeface="Calibri"/>
              <a:ea typeface="Calibri"/>
              <a:cs typeface="Calibri"/>
              <a:sym typeface="Calibri"/>
            </a:endParaRPr>
          </a:p>
        </p:txBody>
      </p:sp>
      <p:sp>
        <p:nvSpPr>
          <p:cNvPr id="377" name="Google Shape;377;p4"/>
          <p:cNvSpPr/>
          <p:nvPr/>
        </p:nvSpPr>
        <p:spPr>
          <a:xfrm>
            <a:off x="8417052" y="4434840"/>
            <a:ext cx="2880360" cy="4114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Auto-Attention</a:t>
            </a:r>
            <a:endParaRPr b="0" i="0" spc="0" sz="1450" u="none" cap="none" strike="noStrike">
              <a:solidFill>
                <a:schemeClr val="dk1"/>
              </a:solidFill>
              <a:latin typeface="Calibri"/>
              <a:ea typeface="Calibri"/>
              <a:cs typeface="Calibri"/>
              <a:sym typeface="Calibri"/>
            </a:endParaRPr>
          </a:p>
        </p:txBody>
      </p:sp>
      <p:sp>
        <p:nvSpPr>
          <p:cNvPr id="378" name="Google Shape;378;p4"/>
          <p:cNvSpPr/>
          <p:nvPr/>
        </p:nvSpPr>
        <p:spPr>
          <a:xfrm>
            <a:off x="8417052" y="4892040"/>
            <a:ext cx="2880360" cy="50292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 Attention Is All You Need » : la révolution.</a:t>
            </a:r>
            <a:endParaRPr b="0" i="0" spc="0" sz="1150" u="none" cap="none" strike="noStrike">
              <a:solidFill>
                <a:schemeClr val="dk1"/>
              </a:solidFill>
              <a:latin typeface="Calibri"/>
              <a:ea typeface="Calibri"/>
              <a:cs typeface="Calibri"/>
              <a:sym typeface="Calibri"/>
            </a:endParaRPr>
          </a:p>
        </p:txBody>
      </p:sp>
      <p:sp>
        <p:nvSpPr>
          <p:cNvPr id="379" name="Google Shape;379;p4"/>
          <p:cNvSpPr/>
          <p:nvPr/>
        </p:nvSpPr>
        <p:spPr>
          <a:xfrm>
            <a:off x="566928" y="603504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Vaswani et al. (2017), Attention Is All You Need - </a:t>
            </a:r>
            <a:r>
              <a:rPr b="0" i="1" lang="en-US" spc="0" sz="1050" u="sng" cap="none" strike="noStrike">
                <a:solidFill>
                  <a:schemeClr val="hlink"/>
                </a:solidFill>
                <a:latin typeface="Calibri"/>
                <a:ea typeface="Calibri"/>
                <a:cs typeface="Calibri"/>
                <a:sym typeface="Calibri"/>
                <a:hlinkClick r:id="rId3"/>
              </a:rPr>
              <a:t>https://arxiv.org/abs/1706.03762</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380" name="Google Shape;380;p4"/>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381" name="Google Shape;381;p4"/>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10</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386" name="Shape 386"/>
        <p:cNvGrpSpPr/>
        <p:nvPr/>
      </p:nvGrpSpPr>
      <p:grpSpPr>
        <a:xfrm>
          <a:off x="0" y="0"/>
          <a:ext cx="0" cy="0"/>
          <a:chOff x="0" y="0"/>
          <a:chExt cx="0" cy="0"/>
        </a:xfrm>
      </p:grpSpPr>
      <p:sp>
        <p:nvSpPr>
          <p:cNvPr id="387" name="Google Shape;387;p5"/>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388" name="Google Shape;388;p5"/>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L'architecture Transformer &amp; le mécanisme d'attention</a:t>
            </a:r>
            <a:endParaRPr b="0" i="0" spc="0" sz="2900" u="none" cap="none" strike="noStrike">
              <a:solidFill>
                <a:schemeClr val="dk1"/>
              </a:solidFill>
              <a:latin typeface="Calibri"/>
              <a:ea typeface="Calibri"/>
              <a:cs typeface="Calibri"/>
              <a:sym typeface="Calibri"/>
            </a:endParaRPr>
          </a:p>
        </p:txBody>
      </p:sp>
      <p:sp>
        <p:nvSpPr>
          <p:cNvPr id="389" name="Google Shape;389;p5"/>
          <p:cNvSpPr/>
          <p:nvPr/>
        </p:nvSpPr>
        <p:spPr>
          <a:xfrm>
            <a:off x="566928" y="1554480"/>
            <a:ext cx="5669280" cy="1188720"/>
          </a:xfrm>
          <a:prstGeom prst="roundRect">
            <a:avLst>
              <a:gd fmla="val 6154"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0" name="Google Shape;390;p5"/>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391" name="Google Shape;391;p5"/>
          <p:cNvSpPr/>
          <p:nvPr/>
        </p:nvSpPr>
        <p:spPr>
          <a:xfrm>
            <a:off x="822960" y="1920240"/>
            <a:ext cx="5157216" cy="73152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Contrairement aux RNN qui lisent séquentiellement, le Transformer traite tous les tokens en parallèle via les matrices Q, K, V.</a:t>
            </a:r>
            <a:endParaRPr b="0" i="0" spc="0" sz="1400" u="none" cap="none" strike="noStrike">
              <a:solidFill>
                <a:schemeClr val="dk1"/>
              </a:solidFill>
              <a:latin typeface="Calibri"/>
              <a:ea typeface="Calibri"/>
              <a:cs typeface="Calibri"/>
              <a:sym typeface="Calibri"/>
            </a:endParaRPr>
          </a:p>
        </p:txBody>
      </p:sp>
      <p:sp>
        <p:nvSpPr>
          <p:cNvPr id="392" name="Google Shape;392;p5"/>
          <p:cNvSpPr/>
          <p:nvPr/>
        </p:nvSpPr>
        <p:spPr>
          <a:xfrm>
            <a:off x="566928" y="2926080"/>
            <a:ext cx="5669280" cy="1234440"/>
          </a:xfrm>
          <a:prstGeom prst="roundRect">
            <a:avLst>
              <a:gd fmla="val 5926"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3" name="Google Shape;393;p5"/>
          <p:cNvSpPr/>
          <p:nvPr/>
        </p:nvSpPr>
        <p:spPr>
          <a:xfrm>
            <a:off x="795528" y="3035808"/>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NUANCE</a:t>
            </a:r>
            <a:endParaRPr b="0" i="0" spc="0" sz="1100" u="none" cap="none" strike="noStrike">
              <a:solidFill>
                <a:schemeClr val="dk1"/>
              </a:solidFill>
              <a:latin typeface="Calibri"/>
              <a:ea typeface="Calibri"/>
              <a:cs typeface="Calibri"/>
              <a:sym typeface="Calibri"/>
            </a:endParaRPr>
          </a:p>
        </p:txBody>
      </p:sp>
      <p:sp>
        <p:nvSpPr>
          <p:cNvPr id="394" name="Google Shape;394;p5"/>
          <p:cNvSpPr/>
          <p:nvPr/>
        </p:nvSpPr>
        <p:spPr>
          <a:xfrm>
            <a:off x="795528" y="3291840"/>
            <a:ext cx="521208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L'auto-attention (Self-Attention) associe un mot à son contexte distant,  ex. retrouver à quoi renvoie un pronom situé 100 mots plus haut.</a:t>
            </a:r>
            <a:endParaRPr b="0" i="0" spc="0" sz="1350" u="none" cap="none" strike="noStrike">
              <a:solidFill>
                <a:schemeClr val="dk1"/>
              </a:solidFill>
              <a:latin typeface="Calibri"/>
              <a:ea typeface="Calibri"/>
              <a:cs typeface="Calibri"/>
              <a:sym typeface="Calibri"/>
            </a:endParaRPr>
          </a:p>
        </p:txBody>
      </p:sp>
      <p:sp>
        <p:nvSpPr>
          <p:cNvPr id="395" name="Google Shape;395;p5"/>
          <p:cNvSpPr/>
          <p:nvPr/>
        </p:nvSpPr>
        <p:spPr>
          <a:xfrm>
            <a:off x="566928" y="4343400"/>
            <a:ext cx="5669280" cy="1005840"/>
          </a:xfrm>
          <a:prstGeom prst="roundRect">
            <a:avLst>
              <a:gd fmla="val 7273"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6" name="Google Shape;396;p5"/>
          <p:cNvSpPr/>
          <p:nvPr/>
        </p:nvSpPr>
        <p:spPr>
          <a:xfrm>
            <a:off x="795528" y="4434840"/>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0" lang="en-US" spc="0" sz="1050" u="none" cap="none" strike="noStrike">
                <a:solidFill>
                  <a:srgbClr val="C77B4C"/>
                </a:solidFill>
                <a:latin typeface="Calibri"/>
                <a:ea typeface="Calibri"/>
                <a:cs typeface="Calibri"/>
                <a:sym typeface="Calibri"/>
              </a:rPr>
              <a:t>FORMULE CLÉ</a:t>
            </a:r>
            <a:endParaRPr b="0" i="0" spc="0" sz="1050" u="none" cap="none" strike="noStrike">
              <a:solidFill>
                <a:schemeClr val="dk1"/>
              </a:solidFill>
              <a:latin typeface="Calibri"/>
              <a:ea typeface="Calibri"/>
              <a:cs typeface="Calibri"/>
              <a:sym typeface="Calibri"/>
            </a:endParaRPr>
          </a:p>
        </p:txBody>
      </p:sp>
      <p:sp>
        <p:nvSpPr>
          <p:cNvPr id="397" name="Google Shape;397;p5"/>
          <p:cNvSpPr/>
          <p:nvPr/>
        </p:nvSpPr>
        <p:spPr>
          <a:xfrm>
            <a:off x="795528" y="4663440"/>
            <a:ext cx="52120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700"/>
              <a:buFont typeface="Cambria"/>
              <a:buNone/>
            </a:pPr>
            <a:r>
              <a:rPr b="1" i="1" lang="en-US" spc="0" sz="1700" u="none" cap="none" strike="noStrike">
                <a:solidFill>
                  <a:srgbClr val="F1EADF"/>
                </a:solidFill>
                <a:latin typeface="Cambria"/>
                <a:ea typeface="Cambria"/>
                <a:cs typeface="Cambria"/>
                <a:sym typeface="Cambria"/>
              </a:rPr>
              <a:t>Attention(Q, K, V) = softmax( QKᵀ / √dₖ ) · V</a:t>
            </a:r>
            <a:endParaRPr b="0" i="0" spc="0" sz="1700" u="none" cap="none" strike="noStrike">
              <a:solidFill>
                <a:schemeClr val="dk1"/>
              </a:solidFill>
              <a:latin typeface="Calibri"/>
              <a:ea typeface="Calibri"/>
              <a:cs typeface="Calibri"/>
              <a:sym typeface="Calibri"/>
            </a:endParaRPr>
          </a:p>
        </p:txBody>
      </p:sp>
      <p:sp>
        <p:nvSpPr>
          <p:cNvPr id="398" name="Google Shape;398;p5"/>
          <p:cNvSpPr/>
          <p:nvPr/>
        </p:nvSpPr>
        <p:spPr>
          <a:xfrm>
            <a:off x="566928" y="603504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The Illustrated Transformer - </a:t>
            </a:r>
            <a:r>
              <a:rPr b="0" i="1" lang="en-US" spc="0" sz="1050" u="sng" cap="none" strike="noStrike">
                <a:solidFill>
                  <a:schemeClr val="hlink"/>
                </a:solidFill>
                <a:latin typeface="Calibri"/>
                <a:ea typeface="Calibri"/>
                <a:cs typeface="Calibri"/>
                <a:sym typeface="Calibri"/>
                <a:hlinkClick r:id="rId3"/>
              </a:rPr>
              <a:t>https://jalammar.github.io/illustrated-transformer/</a:t>
            </a:r>
            <a:r>
              <a:rPr b="0" i="1" lang="en-US" spc="0" sz="1050" u="none" cap="none" strike="noStrike">
                <a:solidFill>
                  <a:srgbClr val="9DB0C2"/>
                </a:solidFill>
                <a:latin typeface="Calibri"/>
                <a:ea typeface="Calibri"/>
                <a:cs typeface="Calibri"/>
                <a:sym typeface="Calibri"/>
              </a:rPr>
              <a:t> </a:t>
            </a:r>
            <a:endParaRPr b="0" i="1" spc="0" sz="1050" u="none" cap="none" strike="noStrike">
              <a:solidFill>
                <a:srgbClr val="9DB0C2"/>
              </a:solidFill>
              <a:latin typeface="Calibri"/>
              <a:ea typeface="Calibri"/>
              <a:cs typeface="Calibri"/>
              <a:sym typeface="Calibri"/>
            </a:endParaRPr>
          </a:p>
        </p:txBody>
      </p:sp>
      <p:sp>
        <p:nvSpPr>
          <p:cNvPr id="399" name="Google Shape;399;p5"/>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400" name="Google Shape;400;p5"/>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11</a:t>
            </a:r>
            <a:endParaRPr b="0" i="0" spc="0" sz="900" u="none" cap="none" strike="noStrike">
              <a:solidFill>
                <a:schemeClr val="dk1"/>
              </a:solidFill>
              <a:latin typeface="Calibri"/>
              <a:ea typeface="Calibri"/>
              <a:cs typeface="Calibri"/>
              <a:sym typeface="Calibri"/>
            </a:endParaRPr>
          </a:p>
        </p:txBody>
      </p:sp>
      <p:pic>
        <p:nvPicPr>
          <p:cNvPr id="401" name="Google Shape;401;p5"/>
          <p:cNvPicPr preferRelativeResize="0"/>
          <p:nvPr/>
        </p:nvPicPr>
        <p:blipFill rotWithShape="1">
          <a:blip r:embed="rId4">
            <a:alphaModFix/>
          </a:blip>
          <a:srcRect b="0" l="0" r="0" t="0"/>
          <a:stretch/>
        </p:blipFill>
        <p:spPr>
          <a:xfrm>
            <a:off x="6969600" y="1530800"/>
            <a:ext cx="4150150" cy="4723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406" name="Shape 406"/>
        <p:cNvGrpSpPr/>
        <p:nvPr/>
      </p:nvGrpSpPr>
      <p:grpSpPr>
        <a:xfrm>
          <a:off x="0" y="0"/>
          <a:ext cx="0" cy="0"/>
          <a:chOff x="0" y="0"/>
          <a:chExt cx="0" cy="0"/>
        </a:xfrm>
      </p:grpSpPr>
      <p:sp>
        <p:nvSpPr>
          <p:cNvPr id="407" name="Google Shape;407;p6"/>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408" name="Google Shape;408;p6"/>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processus de prédiction du prochain token</a:t>
            </a:r>
            <a:endParaRPr b="0" i="0" spc="0" sz="2900" u="none" cap="none" strike="noStrike">
              <a:solidFill>
                <a:schemeClr val="dk1"/>
              </a:solidFill>
              <a:latin typeface="Calibri"/>
              <a:ea typeface="Calibri"/>
              <a:cs typeface="Calibri"/>
              <a:sym typeface="Calibri"/>
            </a:endParaRPr>
          </a:p>
        </p:txBody>
      </p:sp>
      <p:sp>
        <p:nvSpPr>
          <p:cNvPr id="409" name="Google Shape;409;p6"/>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0" name="Google Shape;410;p6"/>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411" name="Google Shape;411;p6"/>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Un LLM ne « pense » pas : c'est un moteur d'inférence statistique autorégressif.</a:t>
            </a:r>
            <a:endParaRPr b="0" i="0" spc="0" sz="1400" u="none" cap="none" strike="noStrike">
              <a:solidFill>
                <a:schemeClr val="dk1"/>
              </a:solidFill>
              <a:latin typeface="Calibri"/>
              <a:ea typeface="Calibri"/>
              <a:cs typeface="Calibri"/>
              <a:sym typeface="Calibri"/>
            </a:endParaRPr>
          </a:p>
        </p:txBody>
      </p:sp>
      <p:sp>
        <p:nvSpPr>
          <p:cNvPr id="412" name="Google Shape;412;p6"/>
          <p:cNvSpPr/>
          <p:nvPr/>
        </p:nvSpPr>
        <p:spPr>
          <a:xfrm>
            <a:off x="566928" y="2697480"/>
            <a:ext cx="248716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3" name="Google Shape;413;p6"/>
          <p:cNvSpPr/>
          <p:nvPr/>
        </p:nvSpPr>
        <p:spPr>
          <a:xfrm>
            <a:off x="768096" y="2898648"/>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4" name="Google Shape;414;p6"/>
          <p:cNvSpPr/>
          <p:nvPr/>
        </p:nvSpPr>
        <p:spPr>
          <a:xfrm>
            <a:off x="768096" y="2898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1</a:t>
            </a:r>
            <a:endParaRPr b="0" i="0" spc="0" sz="1600" u="none" cap="none" strike="noStrike">
              <a:solidFill>
                <a:schemeClr val="dk1"/>
              </a:solidFill>
              <a:latin typeface="Calibri"/>
              <a:ea typeface="Calibri"/>
              <a:cs typeface="Calibri"/>
              <a:sym typeface="Calibri"/>
            </a:endParaRPr>
          </a:p>
        </p:txBody>
      </p:sp>
      <p:sp>
        <p:nvSpPr>
          <p:cNvPr id="415" name="Google Shape;415;p6"/>
          <p:cNvSpPr/>
          <p:nvPr/>
        </p:nvSpPr>
        <p:spPr>
          <a:xfrm>
            <a:off x="1344168" y="2953512"/>
            <a:ext cx="15727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Séquence</a:t>
            </a:r>
            <a:endParaRPr b="0" i="0" spc="0" sz="1450" u="none" cap="none" strike="noStrike">
              <a:solidFill>
                <a:schemeClr val="dk1"/>
              </a:solidFill>
              <a:latin typeface="Calibri"/>
              <a:ea typeface="Calibri"/>
              <a:cs typeface="Calibri"/>
              <a:sym typeface="Calibri"/>
            </a:endParaRPr>
          </a:p>
        </p:txBody>
      </p:sp>
      <p:sp>
        <p:nvSpPr>
          <p:cNvPr id="416" name="Google Shape;416;p6"/>
          <p:cNvSpPr/>
          <p:nvPr/>
        </p:nvSpPr>
        <p:spPr>
          <a:xfrm>
            <a:off x="749808" y="3447288"/>
            <a:ext cx="2121408" cy="548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Reçoit les tokens T₁…Tₙ en entrée.</a:t>
            </a:r>
            <a:endParaRPr b="0" i="0" spc="0" sz="1150" u="none" cap="none" strike="noStrike">
              <a:solidFill>
                <a:schemeClr val="dk1"/>
              </a:solidFill>
              <a:latin typeface="Calibri"/>
              <a:ea typeface="Calibri"/>
              <a:cs typeface="Calibri"/>
              <a:sym typeface="Calibri"/>
            </a:endParaRPr>
          </a:p>
        </p:txBody>
      </p:sp>
      <p:sp>
        <p:nvSpPr>
          <p:cNvPr id="417" name="Google Shape;417;p6"/>
          <p:cNvSpPr/>
          <p:nvPr/>
        </p:nvSpPr>
        <p:spPr>
          <a:xfrm>
            <a:off x="3035808" y="2697480"/>
            <a:ext cx="292608"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000"/>
              <a:buFont typeface="Calibri"/>
              <a:buNone/>
            </a:pPr>
            <a:r>
              <a:rPr b="1" i="0" lang="en-US" spc="0" sz="2000" u="none" cap="none" strike="noStrike">
                <a:solidFill>
                  <a:srgbClr val="C77B4C"/>
                </a:solidFill>
                <a:latin typeface="Calibri"/>
                <a:ea typeface="Calibri"/>
                <a:cs typeface="Calibri"/>
                <a:sym typeface="Calibri"/>
              </a:rPr>
              <a:t>→</a:t>
            </a:r>
            <a:endParaRPr b="0" i="0" spc="0" sz="2000" u="none" cap="none" strike="noStrike">
              <a:solidFill>
                <a:schemeClr val="dk1"/>
              </a:solidFill>
              <a:latin typeface="Calibri"/>
              <a:ea typeface="Calibri"/>
              <a:cs typeface="Calibri"/>
              <a:sym typeface="Calibri"/>
            </a:endParaRPr>
          </a:p>
        </p:txBody>
      </p:sp>
      <p:sp>
        <p:nvSpPr>
          <p:cNvPr id="418" name="Google Shape;418;p6"/>
          <p:cNvSpPr/>
          <p:nvPr/>
        </p:nvSpPr>
        <p:spPr>
          <a:xfrm>
            <a:off x="3346704" y="2697480"/>
            <a:ext cx="248716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9" name="Google Shape;419;p6"/>
          <p:cNvSpPr/>
          <p:nvPr/>
        </p:nvSpPr>
        <p:spPr>
          <a:xfrm>
            <a:off x="3547872" y="2898648"/>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0" name="Google Shape;420;p6"/>
          <p:cNvSpPr/>
          <p:nvPr/>
        </p:nvSpPr>
        <p:spPr>
          <a:xfrm>
            <a:off x="3547872" y="2898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2</a:t>
            </a:r>
            <a:endParaRPr b="0" i="0" spc="0" sz="1600" u="none" cap="none" strike="noStrike">
              <a:solidFill>
                <a:schemeClr val="dk1"/>
              </a:solidFill>
              <a:latin typeface="Calibri"/>
              <a:ea typeface="Calibri"/>
              <a:cs typeface="Calibri"/>
              <a:sym typeface="Calibri"/>
            </a:endParaRPr>
          </a:p>
        </p:txBody>
      </p:sp>
      <p:sp>
        <p:nvSpPr>
          <p:cNvPr id="421" name="Google Shape;421;p6"/>
          <p:cNvSpPr/>
          <p:nvPr/>
        </p:nvSpPr>
        <p:spPr>
          <a:xfrm>
            <a:off x="4123944" y="2953512"/>
            <a:ext cx="15727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Distribution</a:t>
            </a:r>
            <a:endParaRPr b="0" i="0" spc="0" sz="1450" u="none" cap="none" strike="noStrike">
              <a:solidFill>
                <a:schemeClr val="dk1"/>
              </a:solidFill>
              <a:latin typeface="Calibri"/>
              <a:ea typeface="Calibri"/>
              <a:cs typeface="Calibri"/>
              <a:sym typeface="Calibri"/>
            </a:endParaRPr>
          </a:p>
        </p:txBody>
      </p:sp>
      <p:sp>
        <p:nvSpPr>
          <p:cNvPr id="422" name="Google Shape;422;p6"/>
          <p:cNvSpPr/>
          <p:nvPr/>
        </p:nvSpPr>
        <p:spPr>
          <a:xfrm>
            <a:off x="3529584" y="3447288"/>
            <a:ext cx="2121408" cy="548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Calcule une probabilité sur tout le vocabulaire.</a:t>
            </a:r>
            <a:endParaRPr b="0" i="0" spc="0" sz="1150" u="none" cap="none" strike="noStrike">
              <a:solidFill>
                <a:schemeClr val="dk1"/>
              </a:solidFill>
              <a:latin typeface="Calibri"/>
              <a:ea typeface="Calibri"/>
              <a:cs typeface="Calibri"/>
              <a:sym typeface="Calibri"/>
            </a:endParaRPr>
          </a:p>
        </p:txBody>
      </p:sp>
      <p:sp>
        <p:nvSpPr>
          <p:cNvPr id="423" name="Google Shape;423;p6"/>
          <p:cNvSpPr/>
          <p:nvPr/>
        </p:nvSpPr>
        <p:spPr>
          <a:xfrm>
            <a:off x="5815584" y="2697480"/>
            <a:ext cx="292608"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000"/>
              <a:buFont typeface="Calibri"/>
              <a:buNone/>
            </a:pPr>
            <a:r>
              <a:rPr b="1" i="0" lang="en-US" spc="0" sz="2000" u="none" cap="none" strike="noStrike">
                <a:solidFill>
                  <a:srgbClr val="C77B4C"/>
                </a:solidFill>
                <a:latin typeface="Calibri"/>
                <a:ea typeface="Calibri"/>
                <a:cs typeface="Calibri"/>
                <a:sym typeface="Calibri"/>
              </a:rPr>
              <a:t>→</a:t>
            </a:r>
            <a:endParaRPr b="0" i="0" spc="0" sz="2000" u="none" cap="none" strike="noStrike">
              <a:solidFill>
                <a:schemeClr val="dk1"/>
              </a:solidFill>
              <a:latin typeface="Calibri"/>
              <a:ea typeface="Calibri"/>
              <a:cs typeface="Calibri"/>
              <a:sym typeface="Calibri"/>
            </a:endParaRPr>
          </a:p>
        </p:txBody>
      </p:sp>
      <p:sp>
        <p:nvSpPr>
          <p:cNvPr id="424" name="Google Shape;424;p6"/>
          <p:cNvSpPr/>
          <p:nvPr/>
        </p:nvSpPr>
        <p:spPr>
          <a:xfrm>
            <a:off x="6126480" y="2697480"/>
            <a:ext cx="248716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5" name="Google Shape;425;p6"/>
          <p:cNvSpPr/>
          <p:nvPr/>
        </p:nvSpPr>
        <p:spPr>
          <a:xfrm>
            <a:off x="6327648" y="2898648"/>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6" name="Google Shape;426;p6"/>
          <p:cNvSpPr/>
          <p:nvPr/>
        </p:nvSpPr>
        <p:spPr>
          <a:xfrm>
            <a:off x="6327648" y="2898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3</a:t>
            </a:r>
            <a:endParaRPr b="0" i="0" spc="0" sz="1600" u="none" cap="none" strike="noStrike">
              <a:solidFill>
                <a:schemeClr val="dk1"/>
              </a:solidFill>
              <a:latin typeface="Calibri"/>
              <a:ea typeface="Calibri"/>
              <a:cs typeface="Calibri"/>
              <a:sym typeface="Calibri"/>
            </a:endParaRPr>
          </a:p>
        </p:txBody>
      </p:sp>
      <p:sp>
        <p:nvSpPr>
          <p:cNvPr id="427" name="Google Shape;427;p6"/>
          <p:cNvSpPr/>
          <p:nvPr/>
        </p:nvSpPr>
        <p:spPr>
          <a:xfrm>
            <a:off x="6903720" y="2953512"/>
            <a:ext cx="15727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Échantillonnage</a:t>
            </a:r>
            <a:endParaRPr b="0" i="0" spc="0" sz="1450" u="none" cap="none" strike="noStrike">
              <a:solidFill>
                <a:schemeClr val="dk1"/>
              </a:solidFill>
              <a:latin typeface="Calibri"/>
              <a:ea typeface="Calibri"/>
              <a:cs typeface="Calibri"/>
              <a:sym typeface="Calibri"/>
            </a:endParaRPr>
          </a:p>
        </p:txBody>
      </p:sp>
      <p:sp>
        <p:nvSpPr>
          <p:cNvPr id="428" name="Google Shape;428;p6"/>
          <p:cNvSpPr/>
          <p:nvPr/>
        </p:nvSpPr>
        <p:spPr>
          <a:xfrm>
            <a:off x="6309360" y="3447288"/>
            <a:ext cx="2121408" cy="548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Tire le token suivant Tₙ₊₁.</a:t>
            </a:r>
            <a:endParaRPr b="0" i="0" spc="0" sz="1150" u="none" cap="none" strike="noStrike">
              <a:solidFill>
                <a:schemeClr val="dk1"/>
              </a:solidFill>
              <a:latin typeface="Calibri"/>
              <a:ea typeface="Calibri"/>
              <a:cs typeface="Calibri"/>
              <a:sym typeface="Calibri"/>
            </a:endParaRPr>
          </a:p>
        </p:txBody>
      </p:sp>
      <p:sp>
        <p:nvSpPr>
          <p:cNvPr id="429" name="Google Shape;429;p6"/>
          <p:cNvSpPr/>
          <p:nvPr/>
        </p:nvSpPr>
        <p:spPr>
          <a:xfrm>
            <a:off x="8595360" y="2697480"/>
            <a:ext cx="292608" cy="1371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000"/>
              <a:buFont typeface="Calibri"/>
              <a:buNone/>
            </a:pPr>
            <a:r>
              <a:rPr b="1" i="0" lang="en-US" spc="0" sz="2000" u="none" cap="none" strike="noStrike">
                <a:solidFill>
                  <a:srgbClr val="C77B4C"/>
                </a:solidFill>
                <a:latin typeface="Calibri"/>
                <a:ea typeface="Calibri"/>
                <a:cs typeface="Calibri"/>
                <a:sym typeface="Calibri"/>
              </a:rPr>
              <a:t>→</a:t>
            </a:r>
            <a:endParaRPr b="0" i="0" spc="0" sz="2000" u="none" cap="none" strike="noStrike">
              <a:solidFill>
                <a:schemeClr val="dk1"/>
              </a:solidFill>
              <a:latin typeface="Calibri"/>
              <a:ea typeface="Calibri"/>
              <a:cs typeface="Calibri"/>
              <a:sym typeface="Calibri"/>
            </a:endParaRPr>
          </a:p>
        </p:txBody>
      </p:sp>
      <p:sp>
        <p:nvSpPr>
          <p:cNvPr id="430" name="Google Shape;430;p6"/>
          <p:cNvSpPr/>
          <p:nvPr/>
        </p:nvSpPr>
        <p:spPr>
          <a:xfrm>
            <a:off x="8906256" y="2697480"/>
            <a:ext cx="2487168" cy="1371600"/>
          </a:xfrm>
          <a:prstGeom prst="roundRect">
            <a:avLst>
              <a:gd fmla="val 5333" name="adj"/>
            </a:avLst>
          </a:prstGeom>
          <a:solidFill>
            <a:srgbClr val="1A344B"/>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1" name="Google Shape;431;p6"/>
          <p:cNvSpPr/>
          <p:nvPr/>
        </p:nvSpPr>
        <p:spPr>
          <a:xfrm>
            <a:off x="9107424" y="2898648"/>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2" name="Google Shape;432;p6"/>
          <p:cNvSpPr/>
          <p:nvPr/>
        </p:nvSpPr>
        <p:spPr>
          <a:xfrm>
            <a:off x="9107424" y="28986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4</a:t>
            </a:r>
            <a:endParaRPr b="0" i="0" spc="0" sz="1600" u="none" cap="none" strike="noStrike">
              <a:solidFill>
                <a:schemeClr val="dk1"/>
              </a:solidFill>
              <a:latin typeface="Calibri"/>
              <a:ea typeface="Calibri"/>
              <a:cs typeface="Calibri"/>
              <a:sym typeface="Calibri"/>
            </a:endParaRPr>
          </a:p>
        </p:txBody>
      </p:sp>
      <p:sp>
        <p:nvSpPr>
          <p:cNvPr id="433" name="Google Shape;433;p6"/>
          <p:cNvSpPr/>
          <p:nvPr/>
        </p:nvSpPr>
        <p:spPr>
          <a:xfrm>
            <a:off x="9683496" y="2953512"/>
            <a:ext cx="15727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Réinjection</a:t>
            </a:r>
            <a:endParaRPr b="0" i="0" spc="0" sz="1450" u="none" cap="none" strike="noStrike">
              <a:solidFill>
                <a:schemeClr val="dk1"/>
              </a:solidFill>
              <a:latin typeface="Calibri"/>
              <a:ea typeface="Calibri"/>
              <a:cs typeface="Calibri"/>
              <a:sym typeface="Calibri"/>
            </a:endParaRPr>
          </a:p>
        </p:txBody>
      </p:sp>
      <p:sp>
        <p:nvSpPr>
          <p:cNvPr id="434" name="Google Shape;434;p6"/>
          <p:cNvSpPr/>
          <p:nvPr/>
        </p:nvSpPr>
        <p:spPr>
          <a:xfrm>
            <a:off x="9089136" y="3447288"/>
            <a:ext cx="2121408" cy="5486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9DB0C2"/>
              </a:buClr>
              <a:buSzPts val="1150"/>
              <a:buFont typeface="Calibri"/>
              <a:buNone/>
            </a:pPr>
            <a:r>
              <a:rPr b="0" i="0" lang="en-US" spc="0" sz="1150" u="none" cap="none" strike="noStrike">
                <a:solidFill>
                  <a:srgbClr val="9DB0C2"/>
                </a:solidFill>
                <a:latin typeface="Calibri"/>
                <a:ea typeface="Calibri"/>
                <a:cs typeface="Calibri"/>
                <a:sym typeface="Calibri"/>
              </a:rPr>
              <a:t>Ré-injecte Tₙ₊₁ pour prédire Tₙ₊₂.</a:t>
            </a:r>
            <a:endParaRPr b="0" i="0" spc="0" sz="1150" u="none" cap="none" strike="noStrike">
              <a:solidFill>
                <a:schemeClr val="dk1"/>
              </a:solidFill>
              <a:latin typeface="Calibri"/>
              <a:ea typeface="Calibri"/>
              <a:cs typeface="Calibri"/>
              <a:sym typeface="Calibri"/>
            </a:endParaRPr>
          </a:p>
        </p:txBody>
      </p:sp>
      <p:sp>
        <p:nvSpPr>
          <p:cNvPr id="435" name="Google Shape;435;p6"/>
          <p:cNvSpPr/>
          <p:nvPr/>
        </p:nvSpPr>
        <p:spPr>
          <a:xfrm>
            <a:off x="566928" y="4251960"/>
            <a:ext cx="11055096"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1250"/>
              <a:buFont typeface="Calibri"/>
              <a:buNone/>
            </a:pPr>
            <a:r>
              <a:rPr b="0" i="1" lang="en-US" spc="0" sz="1250" u="none" cap="none" strike="noStrike">
                <a:solidFill>
                  <a:srgbClr val="C77B4C"/>
                </a:solidFill>
                <a:latin typeface="Calibri"/>
                <a:ea typeface="Calibri"/>
                <a:cs typeface="Calibri"/>
                <a:sym typeface="Calibri"/>
              </a:rPr>
              <a:t>↺  Boucle autorégressive : chaque token généré devient une entrée du suivant</a:t>
            </a:r>
            <a:endParaRPr b="0" i="0" spc="0" sz="1250" u="none" cap="none" strike="noStrike">
              <a:solidFill>
                <a:schemeClr val="dk1"/>
              </a:solidFill>
              <a:latin typeface="Calibri"/>
              <a:ea typeface="Calibri"/>
              <a:cs typeface="Calibri"/>
              <a:sym typeface="Calibri"/>
            </a:endParaRPr>
          </a:p>
        </p:txBody>
      </p:sp>
      <p:sp>
        <p:nvSpPr>
          <p:cNvPr id="436" name="Google Shape;436;p6"/>
          <p:cNvSpPr/>
          <p:nvPr/>
        </p:nvSpPr>
        <p:spPr>
          <a:xfrm>
            <a:off x="566928" y="4754880"/>
            <a:ext cx="11055096" cy="960120"/>
          </a:xfrm>
          <a:prstGeom prst="roundRect">
            <a:avLst>
              <a:gd fmla="val 7619" name="adj"/>
            </a:avLst>
          </a:prstGeom>
          <a:solidFill>
            <a:srgbClr val="3A2622"/>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7" name="Google Shape;437;p6"/>
          <p:cNvSpPr/>
          <p:nvPr/>
        </p:nvSpPr>
        <p:spPr>
          <a:xfrm>
            <a:off x="841248" y="4754880"/>
            <a:ext cx="10506456"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C56C6C"/>
              </a:buClr>
              <a:buSzPts val="1400"/>
              <a:buFont typeface="Calibri"/>
              <a:buNone/>
            </a:pPr>
            <a:r>
              <a:rPr b="1" i="0" lang="en-US" spc="0" sz="1400" u="none" cap="none" strike="noStrike">
                <a:solidFill>
                  <a:srgbClr val="C56C6C"/>
                </a:solidFill>
                <a:latin typeface="Calibri"/>
                <a:ea typeface="Calibri"/>
                <a:cs typeface="Calibri"/>
                <a:sym typeface="Calibri"/>
              </a:rPr>
              <a:t>Conséquence   </a:t>
            </a:r>
            <a:r>
              <a:rPr b="0" i="0" lang="en-US" spc="0" sz="1400" u="none" cap="none" strike="noStrike">
                <a:solidFill>
                  <a:srgbClr val="F1EADF"/>
                </a:solidFill>
                <a:latin typeface="Calibri"/>
                <a:ea typeface="Calibri"/>
                <a:cs typeface="Calibri"/>
                <a:sym typeface="Calibri"/>
              </a:rPr>
              <a:t>Sensibilité extrême au prompt initial et accumulation potentielle des erreurs au fil de la génération.</a:t>
            </a:r>
            <a:endParaRPr b="0" i="0" spc="0" sz="1400" u="none" cap="none" strike="noStrike">
              <a:solidFill>
                <a:schemeClr val="dk1"/>
              </a:solidFill>
              <a:latin typeface="Calibri"/>
              <a:ea typeface="Calibri"/>
              <a:cs typeface="Calibri"/>
              <a:sym typeface="Calibri"/>
            </a:endParaRPr>
          </a:p>
        </p:txBody>
      </p:sp>
      <p:sp>
        <p:nvSpPr>
          <p:cNvPr id="438" name="Google Shape;438;p6"/>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439" name="Google Shape;439;p6"/>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12</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444" name="Shape 444"/>
        <p:cNvGrpSpPr/>
        <p:nvPr/>
      </p:nvGrpSpPr>
      <p:grpSpPr>
        <a:xfrm>
          <a:off x="0" y="0"/>
          <a:ext cx="0" cy="0"/>
          <a:chOff x="0" y="0"/>
          <a:chExt cx="0" cy="0"/>
        </a:xfrm>
      </p:grpSpPr>
      <p:sp>
        <p:nvSpPr>
          <p:cNvPr id="445" name="Google Shape;445;p45"/>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EXERCICE 2 · À VOUS DE JOUER</a:t>
            </a:r>
            <a:endParaRPr b="0" i="0" spc="0" sz="1400" u="none" cap="none" strike="noStrike">
              <a:solidFill>
                <a:srgbClr val="000000"/>
              </a:solidFill>
              <a:latin typeface="Arial"/>
              <a:ea typeface="Arial"/>
              <a:cs typeface="Arial"/>
              <a:sym typeface="Arial"/>
            </a:endParaRPr>
          </a:p>
        </p:txBody>
      </p:sp>
      <p:sp>
        <p:nvSpPr>
          <p:cNvPr id="446" name="Google Shape;446;p45"/>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Comparaison : modèle de diffusion vs LLM</a:t>
            </a:r>
            <a:endParaRPr b="0" i="0" spc="0" sz="1400" u="none" cap="none" strike="noStrike">
              <a:solidFill>
                <a:srgbClr val="000000"/>
              </a:solidFill>
              <a:latin typeface="Arial"/>
              <a:ea typeface="Arial"/>
              <a:cs typeface="Arial"/>
              <a:sym typeface="Arial"/>
            </a:endParaRPr>
          </a:p>
        </p:txBody>
      </p:sp>
      <p:sp>
        <p:nvSpPr>
          <p:cNvPr id="447" name="Google Shape;447;p45"/>
          <p:cNvSpPr/>
          <p:nvPr/>
        </p:nvSpPr>
        <p:spPr>
          <a:xfrm>
            <a:off x="566928" y="1554480"/>
            <a:ext cx="8458200" cy="12344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8" name="Google Shape;448;p45"/>
          <p:cNvSpPr txBox="1"/>
          <p:nvPr/>
        </p:nvSpPr>
        <p:spPr>
          <a:xfrm>
            <a:off x="822960" y="1645920"/>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QUESTION</a:t>
            </a:r>
            <a:endParaRPr b="0" i="0" spc="0" sz="1400" u="none" cap="none" strike="noStrike">
              <a:solidFill>
                <a:srgbClr val="000000"/>
              </a:solidFill>
              <a:latin typeface="Arial"/>
              <a:ea typeface="Arial"/>
              <a:cs typeface="Arial"/>
              <a:sym typeface="Arial"/>
            </a:endParaRPr>
          </a:p>
        </p:txBody>
      </p:sp>
      <p:sp>
        <p:nvSpPr>
          <p:cNvPr id="449" name="Google Shape;449;p45"/>
          <p:cNvSpPr txBox="1"/>
          <p:nvPr/>
        </p:nvSpPr>
        <p:spPr>
          <a:xfrm>
            <a:off x="822960" y="1901952"/>
            <a:ext cx="80010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550"/>
              <a:buFont typeface="Arial"/>
              <a:buNone/>
            </a:pPr>
            <a:r>
              <a:rPr b="0" i="0" lang="en-US" spc="0" sz="1550" u="none" cap="none" strike="noStrike">
                <a:solidFill>
                  <a:srgbClr val="F1EADF"/>
                </a:solidFill>
                <a:latin typeface="Calibri"/>
                <a:ea typeface="Calibri"/>
                <a:cs typeface="Calibri"/>
                <a:sym typeface="Calibri"/>
              </a:rPr>
              <a:t>Stable Diffusion et un LLM sont tous deux des modèles génératifs. En quoi diffèrent-ils dans leur façon de générer, et pour quels usages choisir l'un ou l'autre ?</a:t>
            </a:r>
            <a:endParaRPr b="0" i="0" spc="0" sz="1400" u="none" cap="none" strike="noStrike">
              <a:solidFill>
                <a:srgbClr val="000000"/>
              </a:solidFill>
              <a:latin typeface="Arial"/>
              <a:ea typeface="Arial"/>
              <a:cs typeface="Arial"/>
              <a:sym typeface="Arial"/>
            </a:endParaRPr>
          </a:p>
        </p:txBody>
      </p:sp>
      <p:sp>
        <p:nvSpPr>
          <p:cNvPr id="450" name="Google Shape;450;p45"/>
          <p:cNvSpPr/>
          <p:nvPr/>
        </p:nvSpPr>
        <p:spPr>
          <a:xfrm>
            <a:off x="9253728" y="1554480"/>
            <a:ext cx="2368296" cy="1234440"/>
          </a:xfrm>
          <a:prstGeom prst="roundRect">
            <a:avLst>
              <a:gd fmla="val 9412"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1" name="Google Shape;451;p45"/>
          <p:cNvSpPr txBox="1"/>
          <p:nvPr/>
        </p:nvSpPr>
        <p:spPr>
          <a:xfrm>
            <a:off x="9253728" y="1627632"/>
            <a:ext cx="2368296"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C77B4C"/>
                </a:solidFill>
                <a:latin typeface="Cambria"/>
                <a:ea typeface="Cambria"/>
                <a:cs typeface="Cambria"/>
                <a:sym typeface="Cambria"/>
              </a:rPr>
              <a:t>5 min</a:t>
            </a:r>
            <a:endParaRPr b="0" i="0" spc="0" sz="1400" u="none" cap="none" strike="noStrike">
              <a:solidFill>
                <a:srgbClr val="000000"/>
              </a:solidFill>
              <a:latin typeface="Arial"/>
              <a:ea typeface="Arial"/>
              <a:cs typeface="Arial"/>
              <a:sym typeface="Arial"/>
            </a:endParaRPr>
          </a:p>
        </p:txBody>
      </p:sp>
      <p:sp>
        <p:nvSpPr>
          <p:cNvPr id="452" name="Google Shape;452;p45"/>
          <p:cNvSpPr txBox="1"/>
          <p:nvPr/>
        </p:nvSpPr>
        <p:spPr>
          <a:xfrm>
            <a:off x="9253728" y="2212848"/>
            <a:ext cx="2368296"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pc="0" sz="1100" u="none" cap="none" strike="noStrike">
                <a:solidFill>
                  <a:srgbClr val="9DB0C2"/>
                </a:solidFill>
                <a:latin typeface="Calibri"/>
                <a:ea typeface="Calibri"/>
                <a:cs typeface="Calibri"/>
                <a:sym typeface="Calibri"/>
              </a:rPr>
              <a:t>réflexion, puis mise en commun</a:t>
            </a:r>
            <a:endParaRPr b="0" i="0" spc="0" sz="1400" u="none" cap="none" strike="noStrike">
              <a:solidFill>
                <a:srgbClr val="000000"/>
              </a:solidFill>
              <a:latin typeface="Arial"/>
              <a:ea typeface="Arial"/>
              <a:cs typeface="Arial"/>
              <a:sym typeface="Arial"/>
            </a:endParaRPr>
          </a:p>
        </p:txBody>
      </p:sp>
      <p:sp>
        <p:nvSpPr>
          <p:cNvPr id="453" name="Google Shape;453;p45"/>
          <p:cNvSpPr txBox="1"/>
          <p:nvPr/>
        </p:nvSpPr>
        <p:spPr>
          <a:xfrm>
            <a:off x="566928" y="301752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PISTES DE RÉFLEXION</a:t>
            </a:r>
            <a:endParaRPr b="0" i="0" spc="0" sz="1400" u="none" cap="none" strike="noStrike">
              <a:solidFill>
                <a:srgbClr val="000000"/>
              </a:solidFill>
              <a:latin typeface="Arial"/>
              <a:ea typeface="Arial"/>
              <a:cs typeface="Arial"/>
              <a:sym typeface="Arial"/>
            </a:endParaRPr>
          </a:p>
        </p:txBody>
      </p:sp>
      <p:sp>
        <p:nvSpPr>
          <p:cNvPr id="454" name="Google Shape;454;p45"/>
          <p:cNvSpPr/>
          <p:nvPr/>
        </p:nvSpPr>
        <p:spPr>
          <a:xfrm>
            <a:off x="566928"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45"/>
          <p:cNvSpPr/>
          <p:nvPr/>
        </p:nvSpPr>
        <p:spPr>
          <a:xfrm>
            <a:off x="768096"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6" name="Google Shape;456;p45"/>
          <p:cNvSpPr txBox="1"/>
          <p:nvPr/>
        </p:nvSpPr>
        <p:spPr>
          <a:xfrm>
            <a:off x="768096"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457" name="Google Shape;457;p45"/>
          <p:cNvSpPr txBox="1"/>
          <p:nvPr/>
        </p:nvSpPr>
        <p:spPr>
          <a:xfrm>
            <a:off x="1344168"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Que génère-t-on ?</a:t>
            </a:r>
            <a:endParaRPr b="0" i="0" spc="0" sz="1400" u="none" cap="none" strike="noStrike">
              <a:solidFill>
                <a:srgbClr val="000000"/>
              </a:solidFill>
              <a:latin typeface="Arial"/>
              <a:ea typeface="Arial"/>
              <a:cs typeface="Arial"/>
              <a:sym typeface="Arial"/>
            </a:endParaRPr>
          </a:p>
        </p:txBody>
      </p:sp>
      <p:sp>
        <p:nvSpPr>
          <p:cNvPr id="458" name="Google Shape;458;p45"/>
          <p:cNvSpPr txBox="1"/>
          <p:nvPr/>
        </p:nvSpPr>
        <p:spPr>
          <a:xfrm>
            <a:off x="749808"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Une image dans un espace continu, ou une séquence de tokens issus d'un vocabulaire ?</a:t>
            </a:r>
            <a:endParaRPr b="0" i="0" spc="0" sz="1400" u="none" cap="none" strike="noStrike">
              <a:solidFill>
                <a:srgbClr val="000000"/>
              </a:solidFill>
              <a:latin typeface="Arial"/>
              <a:ea typeface="Arial"/>
              <a:cs typeface="Arial"/>
              <a:sym typeface="Arial"/>
            </a:endParaRPr>
          </a:p>
        </p:txBody>
      </p:sp>
      <p:sp>
        <p:nvSpPr>
          <p:cNvPr id="459" name="Google Shape;459;p45"/>
          <p:cNvSpPr/>
          <p:nvPr/>
        </p:nvSpPr>
        <p:spPr>
          <a:xfrm>
            <a:off x="4343400"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0" name="Google Shape;460;p45"/>
          <p:cNvSpPr/>
          <p:nvPr/>
        </p:nvSpPr>
        <p:spPr>
          <a:xfrm>
            <a:off x="4544568"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1" name="Google Shape;461;p45"/>
          <p:cNvSpPr txBox="1"/>
          <p:nvPr/>
        </p:nvSpPr>
        <p:spPr>
          <a:xfrm>
            <a:off x="4544568"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462" name="Google Shape;462;p45"/>
          <p:cNvSpPr txBox="1"/>
          <p:nvPr/>
        </p:nvSpPr>
        <p:spPr>
          <a:xfrm>
            <a:off x="5120640"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Comment ?</a:t>
            </a:r>
            <a:endParaRPr b="0" i="0" spc="0" sz="1400" u="none" cap="none" strike="noStrike">
              <a:solidFill>
                <a:srgbClr val="000000"/>
              </a:solidFill>
              <a:latin typeface="Arial"/>
              <a:ea typeface="Arial"/>
              <a:cs typeface="Arial"/>
              <a:sym typeface="Arial"/>
            </a:endParaRPr>
          </a:p>
        </p:txBody>
      </p:sp>
      <p:sp>
        <p:nvSpPr>
          <p:cNvPr id="463" name="Google Shape;463;p45"/>
          <p:cNvSpPr txBox="1"/>
          <p:nvPr/>
        </p:nvSpPr>
        <p:spPr>
          <a:xfrm>
            <a:off x="4526280"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Débruitage itératif de toute l'image, ou boucle autorégressive token par token ?</a:t>
            </a:r>
            <a:endParaRPr b="0" i="0" spc="0" sz="1400" u="none" cap="none" strike="noStrike">
              <a:solidFill>
                <a:srgbClr val="000000"/>
              </a:solidFill>
              <a:latin typeface="Arial"/>
              <a:ea typeface="Arial"/>
              <a:cs typeface="Arial"/>
              <a:sym typeface="Arial"/>
            </a:endParaRPr>
          </a:p>
        </p:txBody>
      </p:sp>
      <p:sp>
        <p:nvSpPr>
          <p:cNvPr id="464" name="Google Shape;464;p45"/>
          <p:cNvSpPr/>
          <p:nvPr/>
        </p:nvSpPr>
        <p:spPr>
          <a:xfrm>
            <a:off x="8119872"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5" name="Google Shape;465;p45"/>
          <p:cNvSpPr/>
          <p:nvPr/>
        </p:nvSpPr>
        <p:spPr>
          <a:xfrm>
            <a:off x="8321040"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6" name="Google Shape;466;p45"/>
          <p:cNvSpPr txBox="1"/>
          <p:nvPr/>
        </p:nvSpPr>
        <p:spPr>
          <a:xfrm>
            <a:off x="8321040"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467" name="Google Shape;467;p45"/>
          <p:cNvSpPr txBox="1"/>
          <p:nvPr/>
        </p:nvSpPr>
        <p:spPr>
          <a:xfrm>
            <a:off x="8897112"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Où ça casse ?</a:t>
            </a:r>
            <a:endParaRPr b="0" i="0" spc="0" sz="1400" u="none" cap="none" strike="noStrike">
              <a:solidFill>
                <a:srgbClr val="000000"/>
              </a:solidFill>
              <a:latin typeface="Arial"/>
              <a:ea typeface="Arial"/>
              <a:cs typeface="Arial"/>
              <a:sym typeface="Arial"/>
            </a:endParaRPr>
          </a:p>
        </p:txBody>
      </p:sp>
      <p:sp>
        <p:nvSpPr>
          <p:cNvPr id="468" name="Google Shape;468;p45"/>
          <p:cNvSpPr txBox="1"/>
          <p:nvPr/>
        </p:nvSpPr>
        <p:spPr>
          <a:xfrm>
            <a:off x="8302752"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Artefacts visuels et lenteur, ou sensibilité au prompt et accumulation d'erreurs ?</a:t>
            </a:r>
            <a:endParaRPr b="0" i="0" spc="0" sz="1400" u="none" cap="none" strike="noStrike">
              <a:solidFill>
                <a:srgbClr val="000000"/>
              </a:solidFill>
              <a:latin typeface="Arial"/>
              <a:ea typeface="Arial"/>
              <a:cs typeface="Arial"/>
              <a:sym typeface="Arial"/>
            </a:endParaRPr>
          </a:p>
        </p:txBody>
      </p:sp>
      <p:sp>
        <p:nvSpPr>
          <p:cNvPr id="469" name="Google Shape;469;p45"/>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470" name="Google Shape;470;p45"/>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13</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475" name="Shape 475"/>
        <p:cNvGrpSpPr/>
        <p:nvPr/>
      </p:nvGrpSpPr>
      <p:grpSpPr>
        <a:xfrm>
          <a:off x="0" y="0"/>
          <a:ext cx="0" cy="0"/>
          <a:chOff x="0" y="0"/>
          <a:chExt cx="0" cy="0"/>
        </a:xfrm>
      </p:grpSpPr>
      <p:sp>
        <p:nvSpPr>
          <p:cNvPr id="476" name="Google Shape;476;p7"/>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477" name="Google Shape;477;p7"/>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La tokenization : du texte brut aux identifiants</a:t>
            </a:r>
            <a:endParaRPr b="0" i="0" spc="0" sz="2900" u="none" cap="none" strike="noStrike">
              <a:solidFill>
                <a:schemeClr val="dk1"/>
              </a:solidFill>
              <a:latin typeface="Calibri"/>
              <a:ea typeface="Calibri"/>
              <a:cs typeface="Calibri"/>
              <a:sym typeface="Calibri"/>
            </a:endParaRPr>
          </a:p>
        </p:txBody>
      </p:sp>
      <p:sp>
        <p:nvSpPr>
          <p:cNvPr id="478" name="Google Shape;478;p7"/>
          <p:cNvSpPr/>
          <p:nvPr/>
        </p:nvSpPr>
        <p:spPr>
          <a:xfrm>
            <a:off x="566928" y="1554480"/>
            <a:ext cx="6035040" cy="1143000"/>
          </a:xfrm>
          <a:prstGeom prst="roundRect">
            <a:avLst>
              <a:gd fmla="val 6400"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9" name="Google Shape;479;p7"/>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480" name="Google Shape;480;p7"/>
          <p:cNvSpPr/>
          <p:nvPr/>
        </p:nvSpPr>
        <p:spPr>
          <a:xfrm>
            <a:off x="822960" y="1920240"/>
            <a:ext cx="5522976" cy="6858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Le modèle ne lit ni lettres ni mots, mais des identifiants (IDs) issus d'un algorithme de découpage : BPE, WordPiece.</a:t>
            </a:r>
            <a:endParaRPr b="0" i="0" spc="0" sz="1400" u="none" cap="none" strike="noStrike">
              <a:solidFill>
                <a:schemeClr val="dk1"/>
              </a:solidFill>
              <a:latin typeface="Calibri"/>
              <a:ea typeface="Calibri"/>
              <a:cs typeface="Calibri"/>
              <a:sym typeface="Calibri"/>
            </a:endParaRPr>
          </a:p>
        </p:txBody>
      </p:sp>
      <p:sp>
        <p:nvSpPr>
          <p:cNvPr id="481" name="Google Shape;481;p7"/>
          <p:cNvSpPr/>
          <p:nvPr/>
        </p:nvSpPr>
        <p:spPr>
          <a:xfrm>
            <a:off x="566928" y="2926080"/>
            <a:ext cx="2834640"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2" name="Google Shape;482;p7"/>
          <p:cNvSpPr/>
          <p:nvPr/>
        </p:nvSpPr>
        <p:spPr>
          <a:xfrm>
            <a:off x="749808" y="3035808"/>
            <a:ext cx="24688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3000"/>
              <a:buFont typeface="Cambria"/>
              <a:buNone/>
            </a:pPr>
            <a:r>
              <a:rPr b="1" i="0" lang="en-US" spc="0" sz="3000" u="none" cap="none" strike="noStrike">
                <a:solidFill>
                  <a:srgbClr val="C77B4C"/>
                </a:solidFill>
                <a:latin typeface="Cambria"/>
                <a:ea typeface="Cambria"/>
                <a:cs typeface="Cambria"/>
                <a:sym typeface="Cambria"/>
              </a:rPr>
              <a:t>≈ 0,75</a:t>
            </a:r>
            <a:endParaRPr b="0" i="0" spc="0" sz="3000" u="none" cap="none" strike="noStrike">
              <a:solidFill>
                <a:schemeClr val="dk1"/>
              </a:solidFill>
              <a:latin typeface="Calibri"/>
              <a:ea typeface="Calibri"/>
              <a:cs typeface="Calibri"/>
              <a:sym typeface="Calibri"/>
            </a:endParaRPr>
          </a:p>
        </p:txBody>
      </p:sp>
      <p:sp>
        <p:nvSpPr>
          <p:cNvPr id="483" name="Google Shape;483;p7"/>
          <p:cNvSpPr/>
          <p:nvPr/>
        </p:nvSpPr>
        <p:spPr>
          <a:xfrm>
            <a:off x="749808" y="3584448"/>
            <a:ext cx="24688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00"/>
              <a:buFont typeface="Calibri"/>
              <a:buNone/>
            </a:pPr>
            <a:r>
              <a:rPr b="0" i="0" lang="en-US" spc="0" sz="1200" u="none" cap="none" strike="noStrike">
                <a:solidFill>
                  <a:srgbClr val="9DB0C2"/>
                </a:solidFill>
                <a:latin typeface="Calibri"/>
                <a:ea typeface="Calibri"/>
                <a:cs typeface="Calibri"/>
                <a:sym typeface="Calibri"/>
              </a:rPr>
              <a:t>token / mot (anglais)</a:t>
            </a:r>
            <a:endParaRPr b="0" i="0" spc="0" sz="1200" u="none" cap="none" strike="noStrike">
              <a:solidFill>
                <a:schemeClr val="dk1"/>
              </a:solidFill>
              <a:latin typeface="Calibri"/>
              <a:ea typeface="Calibri"/>
              <a:cs typeface="Calibri"/>
              <a:sym typeface="Calibri"/>
            </a:endParaRPr>
          </a:p>
        </p:txBody>
      </p:sp>
      <p:sp>
        <p:nvSpPr>
          <p:cNvPr id="484" name="Google Shape;484;p7"/>
          <p:cNvSpPr/>
          <p:nvPr/>
        </p:nvSpPr>
        <p:spPr>
          <a:xfrm>
            <a:off x="3584448" y="2926080"/>
            <a:ext cx="2834640"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5" name="Google Shape;485;p7"/>
          <p:cNvSpPr/>
          <p:nvPr/>
        </p:nvSpPr>
        <p:spPr>
          <a:xfrm>
            <a:off x="3767328" y="3035808"/>
            <a:ext cx="246888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3000"/>
              <a:buFont typeface="Cambria"/>
              <a:buNone/>
            </a:pPr>
            <a:r>
              <a:rPr b="1" i="0" lang="en-US" spc="0" sz="3000" u="none" cap="none" strike="noStrike">
                <a:solidFill>
                  <a:srgbClr val="C77B4C"/>
                </a:solidFill>
                <a:latin typeface="Cambria"/>
                <a:ea typeface="Cambria"/>
                <a:cs typeface="Cambria"/>
                <a:sym typeface="Cambria"/>
              </a:rPr>
              <a:t>≈ 0,5</a:t>
            </a:r>
            <a:endParaRPr b="0" i="0" spc="0" sz="3000" u="none" cap="none" strike="noStrike">
              <a:solidFill>
                <a:schemeClr val="dk1"/>
              </a:solidFill>
              <a:latin typeface="Calibri"/>
              <a:ea typeface="Calibri"/>
              <a:cs typeface="Calibri"/>
              <a:sym typeface="Calibri"/>
            </a:endParaRPr>
          </a:p>
        </p:txBody>
      </p:sp>
      <p:sp>
        <p:nvSpPr>
          <p:cNvPr id="486" name="Google Shape;486;p7"/>
          <p:cNvSpPr/>
          <p:nvPr/>
        </p:nvSpPr>
        <p:spPr>
          <a:xfrm>
            <a:off x="3767328" y="3584448"/>
            <a:ext cx="246888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00"/>
              <a:buFont typeface="Calibri"/>
              <a:buNone/>
            </a:pPr>
            <a:r>
              <a:rPr b="0" i="0" lang="en-US" spc="0" sz="1200" u="none" cap="none" strike="noStrike">
                <a:solidFill>
                  <a:srgbClr val="9DB0C2"/>
                </a:solidFill>
                <a:latin typeface="Calibri"/>
                <a:ea typeface="Calibri"/>
                <a:cs typeface="Calibri"/>
                <a:sym typeface="Calibri"/>
              </a:rPr>
              <a:t>token / mot (français)</a:t>
            </a:r>
            <a:endParaRPr b="0" i="0" spc="0" sz="1200" u="none" cap="none" strike="noStrike">
              <a:solidFill>
                <a:schemeClr val="dk1"/>
              </a:solidFill>
              <a:latin typeface="Calibri"/>
              <a:ea typeface="Calibri"/>
              <a:cs typeface="Calibri"/>
              <a:sym typeface="Calibri"/>
            </a:endParaRPr>
          </a:p>
        </p:txBody>
      </p:sp>
      <p:sp>
        <p:nvSpPr>
          <p:cNvPr id="487" name="Google Shape;487;p7"/>
          <p:cNvSpPr/>
          <p:nvPr/>
        </p:nvSpPr>
        <p:spPr>
          <a:xfrm>
            <a:off x="566928" y="4206240"/>
            <a:ext cx="6035040" cy="1143000"/>
          </a:xfrm>
          <a:prstGeom prst="roundRect">
            <a:avLst>
              <a:gd fmla="val 6400"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8" name="Google Shape;488;p7"/>
          <p:cNvSpPr/>
          <p:nvPr/>
        </p:nvSpPr>
        <p:spPr>
          <a:xfrm>
            <a:off x="795528" y="4315968"/>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IMPACT DIRECT</a:t>
            </a:r>
            <a:endParaRPr b="0" i="0" spc="0" sz="1100" u="none" cap="none" strike="noStrike">
              <a:solidFill>
                <a:schemeClr val="dk1"/>
              </a:solidFill>
              <a:latin typeface="Calibri"/>
              <a:ea typeface="Calibri"/>
              <a:cs typeface="Calibri"/>
              <a:sym typeface="Calibri"/>
            </a:endParaRPr>
          </a:p>
        </p:txBody>
      </p:sp>
      <p:sp>
        <p:nvSpPr>
          <p:cNvPr id="489" name="Google Shape;489;p7"/>
          <p:cNvSpPr/>
          <p:nvPr/>
        </p:nvSpPr>
        <p:spPr>
          <a:xfrm>
            <a:off x="795528" y="4617720"/>
            <a:ext cx="5577840" cy="7315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00"/>
              <a:buFont typeface="Calibri"/>
              <a:buChar char="•"/>
            </a:pPr>
            <a:r>
              <a:rPr b="0" i="0" lang="en-US" spc="0" sz="1300" u="none" cap="none" strike="noStrike">
                <a:solidFill>
                  <a:srgbClr val="F1EADF"/>
                </a:solidFill>
                <a:latin typeface="Calibri"/>
                <a:ea typeface="Calibri"/>
                <a:cs typeface="Calibri"/>
                <a:sym typeface="Calibri"/>
              </a:rPr>
              <a:t>Facturation des API (coût au token)</a:t>
            </a:r>
            <a:endParaRPr b="0" i="0" spc="0" sz="13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00"/>
              <a:buFont typeface="Calibri"/>
              <a:buChar char="•"/>
            </a:pPr>
            <a:r>
              <a:rPr b="0" i="0" lang="en-US" spc="0" sz="1300" u="none" cap="none" strike="noStrike">
                <a:solidFill>
                  <a:srgbClr val="F1EADF"/>
                </a:solidFill>
                <a:latin typeface="Calibri"/>
                <a:ea typeface="Calibri"/>
                <a:cs typeface="Calibri"/>
                <a:sym typeface="Calibri"/>
              </a:rPr>
              <a:t>Dépassement de la fenêtre de contexte</a:t>
            </a:r>
            <a:endParaRPr b="0" i="0" spc="0" sz="1300" u="none" cap="none" strike="noStrike">
              <a:solidFill>
                <a:schemeClr val="dk1"/>
              </a:solidFill>
              <a:latin typeface="Calibri"/>
              <a:ea typeface="Calibri"/>
              <a:cs typeface="Calibri"/>
              <a:sym typeface="Calibri"/>
            </a:endParaRPr>
          </a:p>
        </p:txBody>
      </p:sp>
      <p:sp>
        <p:nvSpPr>
          <p:cNvPr id="490" name="Google Shape;490;p7"/>
          <p:cNvSpPr/>
          <p:nvPr/>
        </p:nvSpPr>
        <p:spPr>
          <a:xfrm>
            <a:off x="6922008" y="1554480"/>
            <a:ext cx="4700016" cy="457200"/>
          </a:xfrm>
          <a:prstGeom prst="roundRect">
            <a:avLst>
              <a:gd fmla="val 16000" name="adj"/>
            </a:avLst>
          </a:prstGeom>
          <a:solidFill>
            <a:srgbClr val="1E3A24"/>
          </a:solidFill>
          <a:ln cap="flat" cmpd="sng" w="12700">
            <a:solidFill>
              <a:srgbClr val="7FB0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1" name="Google Shape;491;p7"/>
          <p:cNvSpPr/>
          <p:nvPr/>
        </p:nvSpPr>
        <p:spPr>
          <a:xfrm>
            <a:off x="7104888" y="1554480"/>
            <a:ext cx="4379976"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1200"/>
              <a:buFont typeface="Calibri"/>
              <a:buNone/>
            </a:pPr>
            <a:r>
              <a:rPr b="1" i="0" lang="en-US" spc="0" sz="1200" u="none" cap="none" strike="noStrike">
                <a:solidFill>
                  <a:srgbClr val="7FB08A"/>
                </a:solidFill>
                <a:latin typeface="Calibri"/>
                <a:ea typeface="Calibri"/>
                <a:cs typeface="Calibri"/>
                <a:sym typeface="Calibri"/>
              </a:rPr>
              <a:t>Démo  </a:t>
            </a:r>
            <a:r>
              <a:rPr b="0" i="0" lang="en-US" spc="0" sz="1200" u="none" cap="none" strike="noStrike">
                <a:solidFill>
                  <a:srgbClr val="F1EADF"/>
                </a:solidFill>
                <a:latin typeface="Calibri"/>
                <a:ea typeface="Calibri"/>
                <a:cs typeface="Calibri"/>
                <a:sym typeface="Calibri"/>
              </a:rPr>
              <a:t>OpenAI Tokenizer - visualisez le découpage d'une phrase </a:t>
            </a:r>
            <a:r>
              <a:rPr b="0" i="0" lang="en-US" spc="0" sz="1200" u="sng" cap="none" strike="noStrike">
                <a:solidFill>
                  <a:schemeClr val="hlink"/>
                </a:solidFill>
                <a:latin typeface="Calibri"/>
                <a:ea typeface="Calibri"/>
                <a:cs typeface="Calibri"/>
                <a:sym typeface="Calibri"/>
                <a:hlinkClick r:id="rId3"/>
              </a:rPr>
              <a:t>https://platform.openai.com/tokenizer</a:t>
            </a:r>
            <a:r>
              <a:rPr b="0" i="0" lang="en-US" spc="0" sz="1200" u="none" cap="none" strike="noStrike">
                <a:solidFill>
                  <a:srgbClr val="F1EADF"/>
                </a:solidFill>
                <a:latin typeface="Calibri"/>
                <a:ea typeface="Calibri"/>
                <a:cs typeface="Calibri"/>
                <a:sym typeface="Calibri"/>
              </a:rPr>
              <a:t> </a:t>
            </a:r>
            <a:endParaRPr b="0" i="0" spc="0" sz="1200" u="none" cap="none" strike="noStrike">
              <a:solidFill>
                <a:schemeClr val="dk1"/>
              </a:solidFill>
              <a:latin typeface="Calibri"/>
              <a:ea typeface="Calibri"/>
              <a:cs typeface="Calibri"/>
              <a:sym typeface="Calibri"/>
            </a:endParaRPr>
          </a:p>
        </p:txBody>
      </p:sp>
      <p:sp>
        <p:nvSpPr>
          <p:cNvPr id="492" name="Google Shape;492;p7"/>
          <p:cNvSpPr/>
          <p:nvPr/>
        </p:nvSpPr>
        <p:spPr>
          <a:xfrm>
            <a:off x="566928" y="598932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Tiktoken (GitHub OpenAI) </a:t>
            </a:r>
            <a:r>
              <a:rPr b="0" i="1" lang="en-US" spc="0" sz="1050" u="sng" cap="none" strike="noStrike">
                <a:solidFill>
                  <a:schemeClr val="hlink"/>
                </a:solidFill>
                <a:latin typeface="Calibri"/>
                <a:ea typeface="Calibri"/>
                <a:cs typeface="Calibri"/>
                <a:sym typeface="Calibri"/>
                <a:hlinkClick r:id="rId4"/>
              </a:rPr>
              <a:t>https://github.com/openai/tiktoken</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493" name="Google Shape;493;p7"/>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494" name="Google Shape;494;p7"/>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14</a:t>
            </a:r>
            <a:endParaRPr b="0" i="0" spc="0" sz="900" u="none" cap="none" strike="noStrike">
              <a:solidFill>
                <a:schemeClr val="dk1"/>
              </a:solidFill>
              <a:latin typeface="Calibri"/>
              <a:ea typeface="Calibri"/>
              <a:cs typeface="Calibri"/>
              <a:sym typeface="Calibri"/>
            </a:endParaRPr>
          </a:p>
        </p:txBody>
      </p:sp>
      <p:pic>
        <p:nvPicPr>
          <p:cNvPr id="495" name="Google Shape;495;p7"/>
          <p:cNvPicPr preferRelativeResize="0"/>
          <p:nvPr/>
        </p:nvPicPr>
        <p:blipFill rotWithShape="1">
          <a:blip r:embed="rId5">
            <a:alphaModFix/>
          </a:blip>
          <a:srcRect b="0" l="0" r="0" t="0"/>
          <a:stretch/>
        </p:blipFill>
        <p:spPr>
          <a:xfrm>
            <a:off x="6744825" y="2538950"/>
            <a:ext cx="5273326" cy="2152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500" name="Shape 500"/>
        <p:cNvGrpSpPr/>
        <p:nvPr/>
      </p:nvGrpSpPr>
      <p:grpSpPr>
        <a:xfrm>
          <a:off x="0" y="0"/>
          <a:ext cx="0" cy="0"/>
          <a:chOff x="0" y="0"/>
          <a:chExt cx="0" cy="0"/>
        </a:xfrm>
      </p:grpSpPr>
      <p:sp>
        <p:nvSpPr>
          <p:cNvPr id="501" name="Google Shape;501;p8"/>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502" name="Google Shape;502;p8"/>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Les embeddings vectoriels : la représentation du sens</a:t>
            </a:r>
            <a:endParaRPr b="0" i="0" spc="0" sz="2900" u="none" cap="none" strike="noStrike">
              <a:solidFill>
                <a:schemeClr val="dk1"/>
              </a:solidFill>
              <a:latin typeface="Calibri"/>
              <a:ea typeface="Calibri"/>
              <a:cs typeface="Calibri"/>
              <a:sym typeface="Calibri"/>
            </a:endParaRPr>
          </a:p>
        </p:txBody>
      </p:sp>
      <p:sp>
        <p:nvSpPr>
          <p:cNvPr id="503" name="Google Shape;503;p8"/>
          <p:cNvSpPr/>
          <p:nvPr/>
        </p:nvSpPr>
        <p:spPr>
          <a:xfrm>
            <a:off x="566928" y="1554480"/>
            <a:ext cx="6035040" cy="1143000"/>
          </a:xfrm>
          <a:prstGeom prst="roundRect">
            <a:avLst>
              <a:gd fmla="val 6400"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4" name="Google Shape;504;p8"/>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505" name="Google Shape;505;p8"/>
          <p:cNvSpPr/>
          <p:nvPr/>
        </p:nvSpPr>
        <p:spPr>
          <a:xfrm>
            <a:off x="822960" y="1920240"/>
            <a:ext cx="5522976" cy="6858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Un embedding transforme un token ou une phrase en un vecteur dense dans un espace à N dimensions (ex. 768 ou 1536).</a:t>
            </a:r>
            <a:endParaRPr b="0" i="0" spc="0" sz="1400" u="none" cap="none" strike="noStrike">
              <a:solidFill>
                <a:schemeClr val="dk1"/>
              </a:solidFill>
              <a:latin typeface="Calibri"/>
              <a:ea typeface="Calibri"/>
              <a:cs typeface="Calibri"/>
              <a:sym typeface="Calibri"/>
            </a:endParaRPr>
          </a:p>
        </p:txBody>
      </p:sp>
      <p:sp>
        <p:nvSpPr>
          <p:cNvPr id="506" name="Google Shape;506;p8"/>
          <p:cNvSpPr/>
          <p:nvPr/>
        </p:nvSpPr>
        <p:spPr>
          <a:xfrm>
            <a:off x="566928" y="2926080"/>
            <a:ext cx="6035040"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7" name="Google Shape;507;p8"/>
          <p:cNvSpPr/>
          <p:nvPr/>
        </p:nvSpPr>
        <p:spPr>
          <a:xfrm>
            <a:off x="795528" y="3035808"/>
            <a:ext cx="36576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RÈGLE GÉOMÉTRIQUE</a:t>
            </a:r>
            <a:endParaRPr b="0" i="0" spc="0" sz="1100" u="none" cap="none" strike="noStrike">
              <a:solidFill>
                <a:schemeClr val="dk1"/>
              </a:solidFill>
              <a:latin typeface="Calibri"/>
              <a:ea typeface="Calibri"/>
              <a:cs typeface="Calibri"/>
              <a:sym typeface="Calibri"/>
            </a:endParaRPr>
          </a:p>
        </p:txBody>
      </p:sp>
      <p:sp>
        <p:nvSpPr>
          <p:cNvPr id="508" name="Google Shape;508;p8"/>
          <p:cNvSpPr/>
          <p:nvPr/>
        </p:nvSpPr>
        <p:spPr>
          <a:xfrm>
            <a:off x="795528" y="3291840"/>
            <a:ext cx="557784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Deux concepts </a:t>
            </a:r>
            <a:r>
              <a:rPr b="1" i="0" lang="en-US" spc="0" sz="1350" u="none" cap="none" strike="noStrike">
                <a:solidFill>
                  <a:srgbClr val="F1EADF"/>
                </a:solidFill>
                <a:latin typeface="Calibri"/>
                <a:ea typeface="Calibri"/>
                <a:cs typeface="Calibri"/>
                <a:sym typeface="Calibri"/>
              </a:rPr>
              <a:t>sémantiquement</a:t>
            </a:r>
            <a:r>
              <a:rPr b="0" i="0" lang="en-US" spc="0" sz="1350" u="none" cap="none" strike="noStrike">
                <a:solidFill>
                  <a:srgbClr val="F1EADF"/>
                </a:solidFill>
                <a:latin typeface="Calibri"/>
                <a:ea typeface="Calibri"/>
                <a:cs typeface="Calibri"/>
                <a:sym typeface="Calibri"/>
              </a:rPr>
              <a:t> proches ont des vecteurs proches, mesurés par similarité cosinus.</a:t>
            </a:r>
            <a:endParaRPr b="0" i="0" spc="0" sz="1350" u="none" cap="none" strike="noStrike">
              <a:solidFill>
                <a:schemeClr val="dk1"/>
              </a:solidFill>
              <a:latin typeface="Calibri"/>
              <a:ea typeface="Calibri"/>
              <a:cs typeface="Calibri"/>
              <a:sym typeface="Calibri"/>
            </a:endParaRPr>
          </a:p>
        </p:txBody>
      </p:sp>
      <p:sp>
        <p:nvSpPr>
          <p:cNvPr id="509" name="Google Shape;509;p8"/>
          <p:cNvSpPr/>
          <p:nvPr/>
        </p:nvSpPr>
        <p:spPr>
          <a:xfrm>
            <a:off x="566928" y="4114800"/>
            <a:ext cx="60350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00"/>
              <a:buFont typeface="Calibri"/>
              <a:buNone/>
            </a:pPr>
            <a:r>
              <a:rPr b="0" i="1" lang="en-US" spc="0" sz="1200" u="none" cap="none" strike="noStrike">
                <a:solidFill>
                  <a:srgbClr val="9DB0C2"/>
                </a:solidFill>
                <a:latin typeface="Calibri"/>
                <a:ea typeface="Calibri"/>
                <a:cs typeface="Calibri"/>
                <a:sym typeface="Calibri"/>
              </a:rPr>
              <a:t>Exemple d'arithmétique vectorielle :</a:t>
            </a:r>
            <a:endParaRPr b="0" i="0" spc="0" sz="1200" u="none" cap="none" strike="noStrike">
              <a:solidFill>
                <a:schemeClr val="dk1"/>
              </a:solidFill>
              <a:latin typeface="Calibri"/>
              <a:ea typeface="Calibri"/>
              <a:cs typeface="Calibri"/>
              <a:sym typeface="Calibri"/>
            </a:endParaRPr>
          </a:p>
        </p:txBody>
      </p:sp>
      <p:sp>
        <p:nvSpPr>
          <p:cNvPr id="510" name="Google Shape;510;p8"/>
          <p:cNvSpPr/>
          <p:nvPr/>
        </p:nvSpPr>
        <p:spPr>
          <a:xfrm>
            <a:off x="566928" y="4434840"/>
            <a:ext cx="754380" cy="548640"/>
          </a:xfrm>
          <a:prstGeom prst="roundRect">
            <a:avLst>
              <a:gd fmla="val 13333"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1" name="Google Shape;511;p8"/>
          <p:cNvSpPr/>
          <p:nvPr/>
        </p:nvSpPr>
        <p:spPr>
          <a:xfrm>
            <a:off x="566928" y="4434840"/>
            <a:ext cx="75438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Roi</a:t>
            </a:r>
            <a:endParaRPr b="0" i="0" spc="0" sz="1300" u="none" cap="none" strike="noStrike">
              <a:solidFill>
                <a:schemeClr val="dk1"/>
              </a:solidFill>
              <a:latin typeface="Calibri"/>
              <a:ea typeface="Calibri"/>
              <a:cs typeface="Calibri"/>
              <a:sym typeface="Calibri"/>
            </a:endParaRPr>
          </a:p>
        </p:txBody>
      </p:sp>
      <p:sp>
        <p:nvSpPr>
          <p:cNvPr id="512" name="Google Shape;512;p8"/>
          <p:cNvSpPr/>
          <p:nvPr/>
        </p:nvSpPr>
        <p:spPr>
          <a:xfrm>
            <a:off x="1440180" y="4434840"/>
            <a:ext cx="310896"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1EADF"/>
              </a:buClr>
              <a:buSzPts val="1800"/>
              <a:buFont typeface="Cambria"/>
              <a:buNone/>
            </a:pPr>
            <a:r>
              <a:rPr b="1" i="0" lang="en-US" spc="0" sz="1800" u="none" cap="none" strike="noStrike">
                <a:solidFill>
                  <a:srgbClr val="F1EADF"/>
                </a:solidFill>
                <a:latin typeface="Cambria"/>
                <a:ea typeface="Cambria"/>
                <a:cs typeface="Cambria"/>
                <a:sym typeface="Cambria"/>
              </a:rPr>
              <a:t>−</a:t>
            </a:r>
            <a:endParaRPr b="0" i="0" spc="0" sz="1800" u="none" cap="none" strike="noStrike">
              <a:solidFill>
                <a:schemeClr val="dk1"/>
              </a:solidFill>
              <a:latin typeface="Calibri"/>
              <a:ea typeface="Calibri"/>
              <a:cs typeface="Calibri"/>
              <a:sym typeface="Calibri"/>
            </a:endParaRPr>
          </a:p>
        </p:txBody>
      </p:sp>
      <p:sp>
        <p:nvSpPr>
          <p:cNvPr id="513" name="Google Shape;513;p8"/>
          <p:cNvSpPr/>
          <p:nvPr/>
        </p:nvSpPr>
        <p:spPr>
          <a:xfrm>
            <a:off x="1787652" y="4434840"/>
            <a:ext cx="1001268" cy="548640"/>
          </a:xfrm>
          <a:prstGeom prst="roundRect">
            <a:avLst>
              <a:gd fmla="val 13333" name="adj"/>
            </a:avLst>
          </a:prstGeom>
          <a:solidFill>
            <a:srgbClr val="244766"/>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4" name="Google Shape;514;p8"/>
          <p:cNvSpPr/>
          <p:nvPr/>
        </p:nvSpPr>
        <p:spPr>
          <a:xfrm>
            <a:off x="1787652" y="4434840"/>
            <a:ext cx="1001268"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1EADF"/>
              </a:buClr>
              <a:buSzPts val="1300"/>
              <a:buFont typeface="Calibri"/>
              <a:buNone/>
            </a:pPr>
            <a:r>
              <a:rPr b="1" i="0" lang="en-US" spc="0" sz="1300" u="none" cap="none" strike="noStrike">
                <a:solidFill>
                  <a:srgbClr val="F1EADF"/>
                </a:solidFill>
                <a:latin typeface="Calibri"/>
                <a:ea typeface="Calibri"/>
                <a:cs typeface="Calibri"/>
                <a:sym typeface="Calibri"/>
              </a:rPr>
              <a:t>Homme</a:t>
            </a:r>
            <a:endParaRPr b="0" i="0" spc="0" sz="1300" u="none" cap="none" strike="noStrike">
              <a:solidFill>
                <a:schemeClr val="dk1"/>
              </a:solidFill>
              <a:latin typeface="Calibri"/>
              <a:ea typeface="Calibri"/>
              <a:cs typeface="Calibri"/>
              <a:sym typeface="Calibri"/>
            </a:endParaRPr>
          </a:p>
        </p:txBody>
      </p:sp>
      <p:sp>
        <p:nvSpPr>
          <p:cNvPr id="515" name="Google Shape;515;p8"/>
          <p:cNvSpPr/>
          <p:nvPr/>
        </p:nvSpPr>
        <p:spPr>
          <a:xfrm>
            <a:off x="2907792" y="4434840"/>
            <a:ext cx="310896"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1EADF"/>
              </a:buClr>
              <a:buSzPts val="1800"/>
              <a:buFont typeface="Cambria"/>
              <a:buNone/>
            </a:pPr>
            <a:r>
              <a:rPr b="1" i="0" lang="en-US" spc="0" sz="1800" u="none" cap="none" strike="noStrike">
                <a:solidFill>
                  <a:srgbClr val="F1EADF"/>
                </a:solidFill>
                <a:latin typeface="Cambria"/>
                <a:ea typeface="Cambria"/>
                <a:cs typeface="Cambria"/>
                <a:sym typeface="Cambria"/>
              </a:rPr>
              <a:t>+</a:t>
            </a:r>
            <a:endParaRPr b="0" i="0" spc="0" sz="1800" u="none" cap="none" strike="noStrike">
              <a:solidFill>
                <a:schemeClr val="dk1"/>
              </a:solidFill>
              <a:latin typeface="Calibri"/>
              <a:ea typeface="Calibri"/>
              <a:cs typeface="Calibri"/>
              <a:sym typeface="Calibri"/>
            </a:endParaRPr>
          </a:p>
        </p:txBody>
      </p:sp>
      <p:sp>
        <p:nvSpPr>
          <p:cNvPr id="516" name="Google Shape;516;p8"/>
          <p:cNvSpPr/>
          <p:nvPr/>
        </p:nvSpPr>
        <p:spPr>
          <a:xfrm>
            <a:off x="3255264" y="4434840"/>
            <a:ext cx="1001268" cy="548640"/>
          </a:xfrm>
          <a:prstGeom prst="roundRect">
            <a:avLst>
              <a:gd fmla="val 13333" name="adj"/>
            </a:avLst>
          </a:prstGeom>
          <a:solidFill>
            <a:srgbClr val="244766"/>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7" name="Google Shape;517;p8"/>
          <p:cNvSpPr/>
          <p:nvPr/>
        </p:nvSpPr>
        <p:spPr>
          <a:xfrm>
            <a:off x="3255264" y="4434840"/>
            <a:ext cx="1001268"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1EADF"/>
              </a:buClr>
              <a:buSzPts val="1300"/>
              <a:buFont typeface="Calibri"/>
              <a:buNone/>
            </a:pPr>
            <a:r>
              <a:rPr b="1" i="0" lang="en-US" spc="0" sz="1300" u="none" cap="none" strike="noStrike">
                <a:solidFill>
                  <a:srgbClr val="F1EADF"/>
                </a:solidFill>
                <a:latin typeface="Calibri"/>
                <a:ea typeface="Calibri"/>
                <a:cs typeface="Calibri"/>
                <a:sym typeface="Calibri"/>
              </a:rPr>
              <a:t>Femme</a:t>
            </a:r>
            <a:endParaRPr b="0" i="0" spc="0" sz="1300" u="none" cap="none" strike="noStrike">
              <a:solidFill>
                <a:schemeClr val="dk1"/>
              </a:solidFill>
              <a:latin typeface="Calibri"/>
              <a:ea typeface="Calibri"/>
              <a:cs typeface="Calibri"/>
              <a:sym typeface="Calibri"/>
            </a:endParaRPr>
          </a:p>
        </p:txBody>
      </p:sp>
      <p:sp>
        <p:nvSpPr>
          <p:cNvPr id="518" name="Google Shape;518;p8"/>
          <p:cNvSpPr/>
          <p:nvPr/>
        </p:nvSpPr>
        <p:spPr>
          <a:xfrm>
            <a:off x="4375404" y="4434840"/>
            <a:ext cx="310896"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1EADF"/>
              </a:buClr>
              <a:buSzPts val="1800"/>
              <a:buFont typeface="Cambria"/>
              <a:buNone/>
            </a:pPr>
            <a:r>
              <a:rPr b="1" i="0" lang="en-US" spc="0" sz="1800" u="none" cap="none" strike="noStrike">
                <a:solidFill>
                  <a:srgbClr val="F1EADF"/>
                </a:solidFill>
                <a:latin typeface="Cambria"/>
                <a:ea typeface="Cambria"/>
                <a:cs typeface="Cambria"/>
                <a:sym typeface="Cambria"/>
              </a:rPr>
              <a:t>≈</a:t>
            </a:r>
            <a:endParaRPr b="0" i="0" spc="0" sz="1800" u="none" cap="none" strike="noStrike">
              <a:solidFill>
                <a:schemeClr val="dk1"/>
              </a:solidFill>
              <a:latin typeface="Calibri"/>
              <a:ea typeface="Calibri"/>
              <a:cs typeface="Calibri"/>
              <a:sym typeface="Calibri"/>
            </a:endParaRPr>
          </a:p>
        </p:txBody>
      </p:sp>
      <p:sp>
        <p:nvSpPr>
          <p:cNvPr id="519" name="Google Shape;519;p8"/>
          <p:cNvSpPr/>
          <p:nvPr/>
        </p:nvSpPr>
        <p:spPr>
          <a:xfrm>
            <a:off x="4722876" y="4434840"/>
            <a:ext cx="1001268" cy="548640"/>
          </a:xfrm>
          <a:prstGeom prst="roundRect">
            <a:avLst>
              <a:gd fmla="val 13333"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0" name="Google Shape;520;p8"/>
          <p:cNvSpPr/>
          <p:nvPr/>
        </p:nvSpPr>
        <p:spPr>
          <a:xfrm>
            <a:off x="4722876" y="4434840"/>
            <a:ext cx="1001268"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Reine</a:t>
            </a:r>
            <a:endParaRPr b="0" i="0" spc="0" sz="1300" u="none" cap="none" strike="noStrike">
              <a:solidFill>
                <a:schemeClr val="dk1"/>
              </a:solidFill>
              <a:latin typeface="Calibri"/>
              <a:ea typeface="Calibri"/>
              <a:cs typeface="Calibri"/>
              <a:sym typeface="Calibri"/>
            </a:endParaRPr>
          </a:p>
        </p:txBody>
      </p:sp>
      <p:sp>
        <p:nvSpPr>
          <p:cNvPr id="521" name="Google Shape;521;p8"/>
          <p:cNvSpPr/>
          <p:nvPr/>
        </p:nvSpPr>
        <p:spPr>
          <a:xfrm>
            <a:off x="566928" y="603504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Mikolov et al., Efficient Estimation of Word Representations -  </a:t>
            </a:r>
            <a:r>
              <a:rPr b="0" i="1" lang="en-US" spc="0" sz="1050" u="sng" cap="none" strike="noStrike">
                <a:solidFill>
                  <a:schemeClr val="hlink"/>
                </a:solidFill>
                <a:latin typeface="Calibri"/>
                <a:ea typeface="Calibri"/>
                <a:cs typeface="Calibri"/>
                <a:sym typeface="Calibri"/>
                <a:hlinkClick r:id="rId3"/>
              </a:rPr>
              <a:t>https://arxiv.org/pdf/1301.3781</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522" name="Google Shape;522;p8"/>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523" name="Google Shape;523;p8"/>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15</a:t>
            </a:r>
            <a:endParaRPr b="0" i="0" spc="0" sz="900" u="none" cap="none" strike="noStrike">
              <a:solidFill>
                <a:schemeClr val="dk1"/>
              </a:solidFill>
              <a:latin typeface="Calibri"/>
              <a:ea typeface="Calibri"/>
              <a:cs typeface="Calibri"/>
              <a:sym typeface="Calibri"/>
            </a:endParaRPr>
          </a:p>
        </p:txBody>
      </p:sp>
      <p:pic>
        <p:nvPicPr>
          <p:cNvPr id="524" name="Google Shape;524;p8"/>
          <p:cNvPicPr preferRelativeResize="0"/>
          <p:nvPr/>
        </p:nvPicPr>
        <p:blipFill rotWithShape="1">
          <a:blip r:embed="rId4">
            <a:alphaModFix/>
          </a:blip>
          <a:srcRect b="0" l="0" r="0" t="0"/>
          <a:stretch/>
        </p:blipFill>
        <p:spPr>
          <a:xfrm>
            <a:off x="6900675" y="1519250"/>
            <a:ext cx="4942699" cy="3819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529" name="Shape 529"/>
        <p:cNvGrpSpPr/>
        <p:nvPr/>
      </p:nvGrpSpPr>
      <p:grpSpPr>
        <a:xfrm>
          <a:off x="0" y="0"/>
          <a:ext cx="0" cy="0"/>
          <a:chOff x="0" y="0"/>
          <a:chExt cx="0" cy="0"/>
        </a:xfrm>
      </p:grpSpPr>
      <p:sp>
        <p:nvSpPr>
          <p:cNvPr id="530" name="Google Shape;530;p9"/>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531" name="Google Shape;531;p9"/>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cycle d'entraînement : Pré-entraînement &amp; SFT</a:t>
            </a:r>
            <a:endParaRPr b="0" i="0" spc="0" sz="2900" u="none" cap="none" strike="noStrike">
              <a:solidFill>
                <a:schemeClr val="dk1"/>
              </a:solidFill>
              <a:latin typeface="Calibri"/>
              <a:ea typeface="Calibri"/>
              <a:cs typeface="Calibri"/>
              <a:sym typeface="Calibri"/>
            </a:endParaRPr>
          </a:p>
        </p:txBody>
      </p:sp>
      <p:sp>
        <p:nvSpPr>
          <p:cNvPr id="532" name="Google Shape;532;p9"/>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3" name="Google Shape;533;p9"/>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534" name="Google Shape;534;p9"/>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Passer d'un modèle « compléteur de texte brut » à un véritable « assistant d'instruction ».</a:t>
            </a:r>
            <a:endParaRPr b="0" i="0" spc="0" sz="1400" u="none" cap="none" strike="noStrike">
              <a:solidFill>
                <a:schemeClr val="dk1"/>
              </a:solidFill>
              <a:latin typeface="Calibri"/>
              <a:ea typeface="Calibri"/>
              <a:cs typeface="Calibri"/>
              <a:sym typeface="Calibri"/>
            </a:endParaRPr>
          </a:p>
        </p:txBody>
      </p:sp>
      <p:sp>
        <p:nvSpPr>
          <p:cNvPr id="535" name="Google Shape;535;p9"/>
          <p:cNvSpPr/>
          <p:nvPr/>
        </p:nvSpPr>
        <p:spPr>
          <a:xfrm>
            <a:off x="566928" y="2743200"/>
            <a:ext cx="5070348" cy="2468880"/>
          </a:xfrm>
          <a:prstGeom prst="roundRect">
            <a:avLst>
              <a:gd fmla="val 296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6" name="Google Shape;536;p9"/>
          <p:cNvSpPr/>
          <p:nvPr/>
        </p:nvSpPr>
        <p:spPr>
          <a:xfrm>
            <a:off x="841248" y="3017520"/>
            <a:ext cx="548640" cy="54864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p9"/>
          <p:cNvSpPr/>
          <p:nvPr/>
        </p:nvSpPr>
        <p:spPr>
          <a:xfrm>
            <a:off x="841248"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1</a:t>
            </a:r>
            <a:endParaRPr b="0" i="0" spc="0" sz="2000" u="none" cap="none" strike="noStrike">
              <a:solidFill>
                <a:schemeClr val="dk1"/>
              </a:solidFill>
              <a:latin typeface="Calibri"/>
              <a:ea typeface="Calibri"/>
              <a:cs typeface="Calibri"/>
              <a:sym typeface="Calibri"/>
            </a:endParaRPr>
          </a:p>
        </p:txBody>
      </p:sp>
      <p:sp>
        <p:nvSpPr>
          <p:cNvPr id="538" name="Google Shape;538;p9"/>
          <p:cNvSpPr/>
          <p:nvPr/>
        </p:nvSpPr>
        <p:spPr>
          <a:xfrm>
            <a:off x="1527048" y="3063240"/>
            <a:ext cx="388162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900"/>
              <a:buFont typeface="Cambria"/>
              <a:buNone/>
            </a:pPr>
            <a:r>
              <a:rPr b="1" i="0" lang="en-US" spc="0" sz="1900" u="none" cap="none" strike="noStrike">
                <a:solidFill>
                  <a:srgbClr val="F1EADF"/>
                </a:solidFill>
                <a:latin typeface="Cambria"/>
                <a:ea typeface="Cambria"/>
                <a:cs typeface="Cambria"/>
                <a:sym typeface="Cambria"/>
              </a:rPr>
              <a:t>Pre-training</a:t>
            </a:r>
            <a:endParaRPr b="0" i="0" spc="0" sz="1900" u="none" cap="none" strike="noStrike">
              <a:solidFill>
                <a:schemeClr val="dk1"/>
              </a:solidFill>
              <a:latin typeface="Calibri"/>
              <a:ea typeface="Calibri"/>
              <a:cs typeface="Calibri"/>
              <a:sym typeface="Calibri"/>
            </a:endParaRPr>
          </a:p>
        </p:txBody>
      </p:sp>
      <p:sp>
        <p:nvSpPr>
          <p:cNvPr id="539" name="Google Shape;539;p9"/>
          <p:cNvSpPr/>
          <p:nvPr/>
        </p:nvSpPr>
        <p:spPr>
          <a:xfrm>
            <a:off x="1527048" y="3456432"/>
            <a:ext cx="3881628"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50"/>
              <a:buFont typeface="Calibri"/>
              <a:buNone/>
            </a:pPr>
            <a:r>
              <a:rPr b="0" i="1" lang="en-US" spc="0" sz="1250" u="none" cap="none" strike="noStrike">
                <a:solidFill>
                  <a:srgbClr val="C77B4C"/>
                </a:solidFill>
                <a:latin typeface="Calibri"/>
                <a:ea typeface="Calibri"/>
                <a:cs typeface="Calibri"/>
                <a:sym typeface="Calibri"/>
              </a:rPr>
              <a:t>Apprentissage non supervisé</a:t>
            </a:r>
            <a:endParaRPr b="0" i="0" spc="0" sz="1250" u="none" cap="none" strike="noStrike">
              <a:solidFill>
                <a:schemeClr val="dk1"/>
              </a:solidFill>
              <a:latin typeface="Calibri"/>
              <a:ea typeface="Calibri"/>
              <a:cs typeface="Calibri"/>
              <a:sym typeface="Calibri"/>
            </a:endParaRPr>
          </a:p>
        </p:txBody>
      </p:sp>
      <p:sp>
        <p:nvSpPr>
          <p:cNvPr id="540" name="Google Shape;540;p9"/>
          <p:cNvSpPr/>
          <p:nvPr/>
        </p:nvSpPr>
        <p:spPr>
          <a:xfrm>
            <a:off x="841248" y="3977640"/>
            <a:ext cx="4521708" cy="109728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Pétaoctets de texte brut</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Acquisition du langage</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Culture générale du modèle</a:t>
            </a:r>
            <a:endParaRPr b="0" i="0" spc="0" sz="1350" u="none" cap="none" strike="noStrike">
              <a:solidFill>
                <a:schemeClr val="dk1"/>
              </a:solidFill>
              <a:latin typeface="Calibri"/>
              <a:ea typeface="Calibri"/>
              <a:cs typeface="Calibri"/>
              <a:sym typeface="Calibri"/>
            </a:endParaRPr>
          </a:p>
        </p:txBody>
      </p:sp>
      <p:sp>
        <p:nvSpPr>
          <p:cNvPr id="541" name="Google Shape;541;p9"/>
          <p:cNvSpPr/>
          <p:nvPr/>
        </p:nvSpPr>
        <p:spPr>
          <a:xfrm>
            <a:off x="5637276" y="2743200"/>
            <a:ext cx="914400" cy="24688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3400"/>
              <a:buFont typeface="Calibri"/>
              <a:buNone/>
            </a:pPr>
            <a:r>
              <a:rPr b="1" i="0" lang="en-US" spc="0" sz="3400" u="none" cap="none" strike="noStrike">
                <a:solidFill>
                  <a:srgbClr val="C77B4C"/>
                </a:solidFill>
                <a:latin typeface="Calibri"/>
                <a:ea typeface="Calibri"/>
                <a:cs typeface="Calibri"/>
                <a:sym typeface="Calibri"/>
              </a:rPr>
              <a:t>→</a:t>
            </a:r>
            <a:endParaRPr b="0" i="0" spc="0" sz="3400" u="none" cap="none" strike="noStrike">
              <a:solidFill>
                <a:schemeClr val="dk1"/>
              </a:solidFill>
              <a:latin typeface="Calibri"/>
              <a:ea typeface="Calibri"/>
              <a:cs typeface="Calibri"/>
              <a:sym typeface="Calibri"/>
            </a:endParaRPr>
          </a:p>
        </p:txBody>
      </p:sp>
      <p:sp>
        <p:nvSpPr>
          <p:cNvPr id="542" name="Google Shape;542;p9"/>
          <p:cNvSpPr/>
          <p:nvPr/>
        </p:nvSpPr>
        <p:spPr>
          <a:xfrm>
            <a:off x="6551676" y="2743200"/>
            <a:ext cx="5070348" cy="2468880"/>
          </a:xfrm>
          <a:prstGeom prst="roundRect">
            <a:avLst>
              <a:gd fmla="val 2963"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3" name="Google Shape;543;p9"/>
          <p:cNvSpPr/>
          <p:nvPr/>
        </p:nvSpPr>
        <p:spPr>
          <a:xfrm>
            <a:off x="6825996" y="3017520"/>
            <a:ext cx="548640" cy="54864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4" name="Google Shape;544;p9"/>
          <p:cNvSpPr/>
          <p:nvPr/>
        </p:nvSpPr>
        <p:spPr>
          <a:xfrm>
            <a:off x="6825996" y="3017520"/>
            <a:ext cx="548640"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2000"/>
              <a:buFont typeface="Cambria"/>
              <a:buNone/>
            </a:pPr>
            <a:r>
              <a:rPr b="1" i="0" lang="en-US" spc="0" sz="2000" u="none" cap="none" strike="noStrike">
                <a:solidFill>
                  <a:srgbClr val="112536"/>
                </a:solidFill>
                <a:latin typeface="Cambria"/>
                <a:ea typeface="Cambria"/>
                <a:cs typeface="Cambria"/>
                <a:sym typeface="Cambria"/>
              </a:rPr>
              <a:t>2</a:t>
            </a:r>
            <a:endParaRPr b="0" i="0" spc="0" sz="2000" u="none" cap="none" strike="noStrike">
              <a:solidFill>
                <a:schemeClr val="dk1"/>
              </a:solidFill>
              <a:latin typeface="Calibri"/>
              <a:ea typeface="Calibri"/>
              <a:cs typeface="Calibri"/>
              <a:sym typeface="Calibri"/>
            </a:endParaRPr>
          </a:p>
        </p:txBody>
      </p:sp>
      <p:sp>
        <p:nvSpPr>
          <p:cNvPr id="545" name="Google Shape;545;p9"/>
          <p:cNvSpPr/>
          <p:nvPr/>
        </p:nvSpPr>
        <p:spPr>
          <a:xfrm>
            <a:off x="7511796" y="3063240"/>
            <a:ext cx="388162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900"/>
              <a:buFont typeface="Cambria"/>
              <a:buNone/>
            </a:pPr>
            <a:r>
              <a:rPr b="1" i="0" lang="en-US" spc="0" sz="1900" u="none" cap="none" strike="noStrike">
                <a:solidFill>
                  <a:srgbClr val="F1EADF"/>
                </a:solidFill>
                <a:latin typeface="Cambria"/>
                <a:ea typeface="Cambria"/>
                <a:cs typeface="Cambria"/>
                <a:sym typeface="Cambria"/>
              </a:rPr>
              <a:t>SFT</a:t>
            </a:r>
            <a:endParaRPr b="0" i="0" spc="0" sz="1900" u="none" cap="none" strike="noStrike">
              <a:solidFill>
                <a:schemeClr val="dk1"/>
              </a:solidFill>
              <a:latin typeface="Calibri"/>
              <a:ea typeface="Calibri"/>
              <a:cs typeface="Calibri"/>
              <a:sym typeface="Calibri"/>
            </a:endParaRPr>
          </a:p>
        </p:txBody>
      </p:sp>
      <p:sp>
        <p:nvSpPr>
          <p:cNvPr id="546" name="Google Shape;546;p9"/>
          <p:cNvSpPr/>
          <p:nvPr/>
        </p:nvSpPr>
        <p:spPr>
          <a:xfrm>
            <a:off x="7511796" y="3456432"/>
            <a:ext cx="3881628"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50"/>
              <a:buFont typeface="Calibri"/>
              <a:buNone/>
            </a:pPr>
            <a:r>
              <a:rPr b="0" i="1" lang="en-US" spc="0" sz="1250" u="none" cap="none" strike="noStrike">
                <a:solidFill>
                  <a:srgbClr val="C77B4C"/>
                </a:solidFill>
                <a:latin typeface="Calibri"/>
                <a:ea typeface="Calibri"/>
                <a:cs typeface="Calibri"/>
                <a:sym typeface="Calibri"/>
              </a:rPr>
              <a:t>Supervised Fine-Tuning</a:t>
            </a:r>
            <a:endParaRPr b="0" i="0" spc="0" sz="1250" u="none" cap="none" strike="noStrike">
              <a:solidFill>
                <a:schemeClr val="dk1"/>
              </a:solidFill>
              <a:latin typeface="Calibri"/>
              <a:ea typeface="Calibri"/>
              <a:cs typeface="Calibri"/>
              <a:sym typeface="Calibri"/>
            </a:endParaRPr>
          </a:p>
        </p:txBody>
      </p:sp>
      <p:sp>
        <p:nvSpPr>
          <p:cNvPr id="547" name="Google Shape;547;p9"/>
          <p:cNvSpPr/>
          <p:nvPr/>
        </p:nvSpPr>
        <p:spPr>
          <a:xfrm>
            <a:off x="6825996" y="3977640"/>
            <a:ext cx="4521708" cy="109728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Paires (Instruction, Réponse idéale)</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Le modèle apprend à suivre des consignes</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Comportement d'assistant</a:t>
            </a:r>
            <a:endParaRPr b="0" i="0" spc="0" sz="1350" u="none" cap="none" strike="noStrike">
              <a:solidFill>
                <a:schemeClr val="dk1"/>
              </a:solidFill>
              <a:latin typeface="Calibri"/>
              <a:ea typeface="Calibri"/>
              <a:cs typeface="Calibri"/>
              <a:sym typeface="Calibri"/>
            </a:endParaRPr>
          </a:p>
        </p:txBody>
      </p:sp>
      <p:sp>
        <p:nvSpPr>
          <p:cNvPr id="548" name="Google Shape;548;p9"/>
          <p:cNvSpPr/>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Ouyang et al. (OpenAI), Training LM to follow instructions with human feedback </a:t>
            </a:r>
            <a:r>
              <a:rPr b="0" i="1" lang="en-US" spc="0" sz="1050" u="sng" cap="none" strike="noStrike">
                <a:solidFill>
                  <a:schemeClr val="hlink"/>
                </a:solidFill>
                <a:latin typeface="Calibri"/>
                <a:ea typeface="Calibri"/>
                <a:cs typeface="Calibri"/>
                <a:sym typeface="Calibri"/>
                <a:hlinkClick r:id="rId3"/>
              </a:rPr>
              <a:t>https://arxiv.org/abs/2203.02155</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549" name="Google Shape;549;p9"/>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550" name="Google Shape;550;p9"/>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16</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555" name="Shape 555"/>
        <p:cNvGrpSpPr/>
        <p:nvPr/>
      </p:nvGrpSpPr>
      <p:grpSpPr>
        <a:xfrm>
          <a:off x="0" y="0"/>
          <a:ext cx="0" cy="0"/>
          <a:chOff x="0" y="0"/>
          <a:chExt cx="0" cy="0"/>
        </a:xfrm>
      </p:grpSpPr>
      <p:sp>
        <p:nvSpPr>
          <p:cNvPr id="556" name="Google Shape;556;p10"/>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FONDAMENTAUX</a:t>
            </a:r>
            <a:endParaRPr b="0" i="0" spc="0" sz="1200" u="none" cap="none" strike="noStrike">
              <a:solidFill>
                <a:schemeClr val="dk1"/>
              </a:solidFill>
              <a:latin typeface="Calibri"/>
              <a:ea typeface="Calibri"/>
              <a:cs typeface="Calibri"/>
              <a:sym typeface="Calibri"/>
            </a:endParaRPr>
          </a:p>
        </p:txBody>
      </p:sp>
      <p:sp>
        <p:nvSpPr>
          <p:cNvPr id="557" name="Google Shape;557;p10"/>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L'alignement par RLHF / DPO</a:t>
            </a:r>
            <a:endParaRPr b="0" i="0" spc="0" sz="2900" u="none" cap="none" strike="noStrike">
              <a:solidFill>
                <a:schemeClr val="dk1"/>
              </a:solidFill>
              <a:latin typeface="Calibri"/>
              <a:ea typeface="Calibri"/>
              <a:cs typeface="Calibri"/>
              <a:sym typeface="Calibri"/>
            </a:endParaRPr>
          </a:p>
        </p:txBody>
      </p:sp>
      <p:sp>
        <p:nvSpPr>
          <p:cNvPr id="558" name="Google Shape;558;p10"/>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59" name="Google Shape;559;p10"/>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560" name="Google Shape;560;p10"/>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Garantir la sécurité et l'utilité des réponses, tout en limitant la toxicité.</a:t>
            </a:r>
            <a:endParaRPr b="0" i="0" spc="0" sz="1400" u="none" cap="none" strike="noStrike">
              <a:solidFill>
                <a:schemeClr val="dk1"/>
              </a:solidFill>
              <a:latin typeface="Calibri"/>
              <a:ea typeface="Calibri"/>
              <a:cs typeface="Calibri"/>
              <a:sym typeface="Calibri"/>
            </a:endParaRPr>
          </a:p>
        </p:txBody>
      </p:sp>
      <p:sp>
        <p:nvSpPr>
          <p:cNvPr id="561" name="Google Shape;561;p10"/>
          <p:cNvSpPr/>
          <p:nvPr/>
        </p:nvSpPr>
        <p:spPr>
          <a:xfrm>
            <a:off x="566928" y="2743200"/>
            <a:ext cx="5298948" cy="26060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2" name="Google Shape;562;p10"/>
          <p:cNvSpPr/>
          <p:nvPr/>
        </p:nvSpPr>
        <p:spPr>
          <a:xfrm>
            <a:off x="886968" y="3017520"/>
            <a:ext cx="465886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2000"/>
              <a:buFont typeface="Cambria"/>
              <a:buNone/>
            </a:pPr>
            <a:r>
              <a:rPr b="1" i="0" lang="en-US" spc="0" sz="2000" u="none" cap="none" strike="noStrike">
                <a:solidFill>
                  <a:srgbClr val="C77B4C"/>
                </a:solidFill>
                <a:latin typeface="Cambria"/>
                <a:ea typeface="Cambria"/>
                <a:cs typeface="Cambria"/>
                <a:sym typeface="Cambria"/>
              </a:rPr>
              <a:t>RLHF</a:t>
            </a:r>
            <a:endParaRPr b="0" i="0" spc="0" sz="2000" u="none" cap="none" strike="noStrike">
              <a:solidFill>
                <a:schemeClr val="dk1"/>
              </a:solidFill>
              <a:latin typeface="Calibri"/>
              <a:ea typeface="Calibri"/>
              <a:cs typeface="Calibri"/>
              <a:sym typeface="Calibri"/>
            </a:endParaRPr>
          </a:p>
        </p:txBody>
      </p:sp>
      <p:sp>
        <p:nvSpPr>
          <p:cNvPr id="563" name="Google Shape;563;p10"/>
          <p:cNvSpPr/>
          <p:nvPr/>
        </p:nvSpPr>
        <p:spPr>
          <a:xfrm>
            <a:off x="886968" y="3456432"/>
            <a:ext cx="4658868"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50"/>
              <a:buFont typeface="Calibri"/>
              <a:buNone/>
            </a:pPr>
            <a:r>
              <a:rPr b="0" i="1" lang="en-US" spc="0" sz="1250" u="none" cap="none" strike="noStrike">
                <a:solidFill>
                  <a:srgbClr val="9DB0C2"/>
                </a:solidFill>
                <a:latin typeface="Calibri"/>
                <a:ea typeface="Calibri"/>
                <a:cs typeface="Calibri"/>
                <a:sym typeface="Calibri"/>
              </a:rPr>
              <a:t>Reinforcement Learning from Human Feedback</a:t>
            </a:r>
            <a:endParaRPr b="0" i="0" spc="0" sz="1250" u="none" cap="none" strike="noStrike">
              <a:solidFill>
                <a:schemeClr val="dk1"/>
              </a:solidFill>
              <a:latin typeface="Calibri"/>
              <a:ea typeface="Calibri"/>
              <a:cs typeface="Calibri"/>
              <a:sym typeface="Calibri"/>
            </a:endParaRPr>
          </a:p>
        </p:txBody>
      </p:sp>
      <p:sp>
        <p:nvSpPr>
          <p:cNvPr id="564" name="Google Shape;564;p10"/>
          <p:cNvSpPr/>
          <p:nvPr/>
        </p:nvSpPr>
        <p:spPr>
          <a:xfrm>
            <a:off x="886968" y="3977640"/>
            <a:ext cx="4658868"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Modèle de récompense entraîné sur des préférences humaines</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Politique ajustée par renforcement (PPO)</a:t>
            </a:r>
            <a:endParaRPr b="0" i="0" spc="0" sz="1350" u="none" cap="none" strike="noStrike">
              <a:solidFill>
                <a:schemeClr val="dk1"/>
              </a:solidFill>
              <a:latin typeface="Calibri"/>
              <a:ea typeface="Calibri"/>
              <a:cs typeface="Calibri"/>
              <a:sym typeface="Calibri"/>
            </a:endParaRPr>
          </a:p>
        </p:txBody>
      </p:sp>
      <p:sp>
        <p:nvSpPr>
          <p:cNvPr id="565" name="Google Shape;565;p10"/>
          <p:cNvSpPr/>
          <p:nvPr/>
        </p:nvSpPr>
        <p:spPr>
          <a:xfrm>
            <a:off x="6323076" y="2743200"/>
            <a:ext cx="5298948" cy="260604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6" name="Google Shape;566;p10"/>
          <p:cNvSpPr/>
          <p:nvPr/>
        </p:nvSpPr>
        <p:spPr>
          <a:xfrm>
            <a:off x="6643116" y="3017520"/>
            <a:ext cx="465886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2000"/>
              <a:buFont typeface="Cambria"/>
              <a:buNone/>
            </a:pPr>
            <a:r>
              <a:rPr b="1" i="0" lang="en-US" spc="0" sz="2000" u="none" cap="none" strike="noStrike">
                <a:solidFill>
                  <a:srgbClr val="C77B4C"/>
                </a:solidFill>
                <a:latin typeface="Cambria"/>
                <a:ea typeface="Cambria"/>
                <a:cs typeface="Cambria"/>
                <a:sym typeface="Cambria"/>
              </a:rPr>
              <a:t>DPO</a:t>
            </a:r>
            <a:endParaRPr b="0" i="0" spc="0" sz="2000" u="none" cap="none" strike="noStrike">
              <a:solidFill>
                <a:schemeClr val="dk1"/>
              </a:solidFill>
              <a:latin typeface="Calibri"/>
              <a:ea typeface="Calibri"/>
              <a:cs typeface="Calibri"/>
              <a:sym typeface="Calibri"/>
            </a:endParaRPr>
          </a:p>
        </p:txBody>
      </p:sp>
      <p:sp>
        <p:nvSpPr>
          <p:cNvPr id="567" name="Google Shape;567;p10"/>
          <p:cNvSpPr/>
          <p:nvPr/>
        </p:nvSpPr>
        <p:spPr>
          <a:xfrm>
            <a:off x="6643116" y="3456432"/>
            <a:ext cx="4658868"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50"/>
              <a:buFont typeface="Calibri"/>
              <a:buNone/>
            </a:pPr>
            <a:r>
              <a:rPr b="0" i="1" lang="en-US" spc="0" sz="1250" u="none" cap="none" strike="noStrike">
                <a:solidFill>
                  <a:srgbClr val="9DB0C2"/>
                </a:solidFill>
                <a:latin typeface="Calibri"/>
                <a:ea typeface="Calibri"/>
                <a:cs typeface="Calibri"/>
                <a:sym typeface="Calibri"/>
              </a:rPr>
              <a:t>Direct Preference Optimization</a:t>
            </a:r>
            <a:endParaRPr b="0" i="0" spc="0" sz="1250" u="none" cap="none" strike="noStrike">
              <a:solidFill>
                <a:schemeClr val="dk1"/>
              </a:solidFill>
              <a:latin typeface="Calibri"/>
              <a:ea typeface="Calibri"/>
              <a:cs typeface="Calibri"/>
              <a:sym typeface="Calibri"/>
            </a:endParaRPr>
          </a:p>
        </p:txBody>
      </p:sp>
      <p:sp>
        <p:nvSpPr>
          <p:cNvPr id="568" name="Google Shape;568;p10"/>
          <p:cNvSpPr/>
          <p:nvPr/>
        </p:nvSpPr>
        <p:spPr>
          <a:xfrm>
            <a:off x="6643116" y="3977640"/>
            <a:ext cx="4658868" cy="118872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Alternative moderne, plus simple</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Évite l'entraînement d'un modèle de récompense séparé</a:t>
            </a:r>
            <a:endParaRPr b="0" i="0" spc="0" sz="1350" u="none" cap="none" strike="noStrike">
              <a:solidFill>
                <a:schemeClr val="dk1"/>
              </a:solidFill>
              <a:latin typeface="Calibri"/>
              <a:ea typeface="Calibri"/>
              <a:cs typeface="Calibri"/>
              <a:sym typeface="Calibri"/>
            </a:endParaRPr>
          </a:p>
        </p:txBody>
      </p:sp>
      <p:sp>
        <p:nvSpPr>
          <p:cNvPr id="569" name="Google Shape;569;p10"/>
          <p:cNvSpPr/>
          <p:nvPr/>
        </p:nvSpPr>
        <p:spPr>
          <a:xfrm>
            <a:off x="566928" y="598932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Rafailov et al. (2023), Direct Preference Optimization - </a:t>
            </a:r>
            <a:r>
              <a:rPr b="0" i="1" lang="en-US" spc="0" sz="1050" u="sng" cap="none" strike="noStrike">
                <a:solidFill>
                  <a:schemeClr val="hlink"/>
                </a:solidFill>
                <a:latin typeface="Calibri"/>
                <a:ea typeface="Calibri"/>
                <a:cs typeface="Calibri"/>
                <a:sym typeface="Calibri"/>
                <a:hlinkClick r:id="rId3"/>
              </a:rPr>
              <a:t>https://arxiv.org/pdf/2305.18290</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570" name="Google Shape;570;p10"/>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571" name="Google Shape;571;p10"/>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17</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576" name="Shape 576"/>
        <p:cNvGrpSpPr/>
        <p:nvPr/>
      </p:nvGrpSpPr>
      <p:grpSpPr>
        <a:xfrm>
          <a:off x="0" y="0"/>
          <a:ext cx="0" cy="0"/>
          <a:chOff x="0" y="0"/>
          <a:chExt cx="0" cy="0"/>
        </a:xfrm>
      </p:grpSpPr>
      <p:sp>
        <p:nvSpPr>
          <p:cNvPr id="577" name="Google Shape;577;p46"/>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EXERCICE 3 · À VOUS DE JOUER</a:t>
            </a:r>
            <a:endParaRPr b="0" i="0" spc="0" sz="1400" u="none" cap="none" strike="noStrike">
              <a:solidFill>
                <a:srgbClr val="000000"/>
              </a:solidFill>
              <a:latin typeface="Arial"/>
              <a:ea typeface="Arial"/>
              <a:cs typeface="Arial"/>
              <a:sym typeface="Arial"/>
            </a:endParaRPr>
          </a:p>
        </p:txBody>
      </p:sp>
      <p:sp>
        <p:nvSpPr>
          <p:cNvPr id="578" name="Google Shape;578;p46"/>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Création : concevoir son propre modèle génératif</a:t>
            </a:r>
            <a:endParaRPr b="0" i="0" spc="0" sz="1400" u="none" cap="none" strike="noStrike">
              <a:solidFill>
                <a:srgbClr val="000000"/>
              </a:solidFill>
              <a:latin typeface="Arial"/>
              <a:ea typeface="Arial"/>
              <a:cs typeface="Arial"/>
              <a:sym typeface="Arial"/>
            </a:endParaRPr>
          </a:p>
        </p:txBody>
      </p:sp>
      <p:sp>
        <p:nvSpPr>
          <p:cNvPr id="579" name="Google Shape;579;p46"/>
          <p:cNvSpPr/>
          <p:nvPr/>
        </p:nvSpPr>
        <p:spPr>
          <a:xfrm>
            <a:off x="566928" y="1554480"/>
            <a:ext cx="8458200" cy="12344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0" name="Google Shape;580;p46"/>
          <p:cNvSpPr txBox="1"/>
          <p:nvPr/>
        </p:nvSpPr>
        <p:spPr>
          <a:xfrm>
            <a:off x="822960" y="1645920"/>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QUESTION</a:t>
            </a:r>
            <a:endParaRPr b="0" i="0" spc="0" sz="1400" u="none" cap="none" strike="noStrike">
              <a:solidFill>
                <a:srgbClr val="000000"/>
              </a:solidFill>
              <a:latin typeface="Arial"/>
              <a:ea typeface="Arial"/>
              <a:cs typeface="Arial"/>
              <a:sym typeface="Arial"/>
            </a:endParaRPr>
          </a:p>
        </p:txBody>
      </p:sp>
      <p:sp>
        <p:nvSpPr>
          <p:cNvPr id="581" name="Google Shape;581;p46"/>
          <p:cNvSpPr txBox="1"/>
          <p:nvPr/>
        </p:nvSpPr>
        <p:spPr>
          <a:xfrm>
            <a:off x="822960" y="1901952"/>
            <a:ext cx="80010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550"/>
              <a:buFont typeface="Arial"/>
              <a:buNone/>
            </a:pPr>
            <a:r>
              <a:rPr b="0" i="0" lang="en-US" spc="0" sz="1550" u="none" cap="none" strike="noStrike">
                <a:solidFill>
                  <a:srgbClr val="F1EADF"/>
                </a:solidFill>
                <a:latin typeface="Calibri"/>
                <a:ea typeface="Calibri"/>
                <a:cs typeface="Calibri"/>
                <a:sym typeface="Calibri"/>
              </a:rPr>
              <a:t>Votre entreprise veut générer soit des fiches produit dans le ton de sa marque, soit des visuels produit. Comment créer ce modèle, et comment juger la qualité de ce qu'il génère ?</a:t>
            </a:r>
            <a:endParaRPr b="0" i="0" spc="0" sz="1400" u="none" cap="none" strike="noStrike">
              <a:solidFill>
                <a:srgbClr val="000000"/>
              </a:solidFill>
              <a:latin typeface="Arial"/>
              <a:ea typeface="Arial"/>
              <a:cs typeface="Arial"/>
              <a:sym typeface="Arial"/>
            </a:endParaRPr>
          </a:p>
        </p:txBody>
      </p:sp>
      <p:sp>
        <p:nvSpPr>
          <p:cNvPr id="582" name="Google Shape;582;p46"/>
          <p:cNvSpPr/>
          <p:nvPr/>
        </p:nvSpPr>
        <p:spPr>
          <a:xfrm>
            <a:off x="9253728" y="1554480"/>
            <a:ext cx="2368296" cy="1234440"/>
          </a:xfrm>
          <a:prstGeom prst="roundRect">
            <a:avLst>
              <a:gd fmla="val 9412"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3" name="Google Shape;583;p46"/>
          <p:cNvSpPr txBox="1"/>
          <p:nvPr/>
        </p:nvSpPr>
        <p:spPr>
          <a:xfrm>
            <a:off x="9253728" y="1627632"/>
            <a:ext cx="2368296"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C77B4C"/>
                </a:solidFill>
                <a:latin typeface="Cambria"/>
                <a:ea typeface="Cambria"/>
                <a:cs typeface="Cambria"/>
                <a:sym typeface="Cambria"/>
              </a:rPr>
              <a:t>5 min</a:t>
            </a:r>
            <a:endParaRPr b="0" i="0" spc="0" sz="1400" u="none" cap="none" strike="noStrike">
              <a:solidFill>
                <a:srgbClr val="000000"/>
              </a:solidFill>
              <a:latin typeface="Arial"/>
              <a:ea typeface="Arial"/>
              <a:cs typeface="Arial"/>
              <a:sym typeface="Arial"/>
            </a:endParaRPr>
          </a:p>
        </p:txBody>
      </p:sp>
      <p:sp>
        <p:nvSpPr>
          <p:cNvPr id="584" name="Google Shape;584;p46"/>
          <p:cNvSpPr txBox="1"/>
          <p:nvPr/>
        </p:nvSpPr>
        <p:spPr>
          <a:xfrm>
            <a:off x="9253728" y="2212848"/>
            <a:ext cx="2368296"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pc="0" sz="1100" u="none" cap="none" strike="noStrike">
                <a:solidFill>
                  <a:srgbClr val="9DB0C2"/>
                </a:solidFill>
                <a:latin typeface="Calibri"/>
                <a:ea typeface="Calibri"/>
                <a:cs typeface="Calibri"/>
                <a:sym typeface="Calibri"/>
              </a:rPr>
              <a:t>réflexion, puis mise en commun</a:t>
            </a:r>
            <a:endParaRPr b="0" i="0" spc="0" sz="1400" u="none" cap="none" strike="noStrike">
              <a:solidFill>
                <a:srgbClr val="000000"/>
              </a:solidFill>
              <a:latin typeface="Arial"/>
              <a:ea typeface="Arial"/>
              <a:cs typeface="Arial"/>
              <a:sym typeface="Arial"/>
            </a:endParaRPr>
          </a:p>
        </p:txBody>
      </p:sp>
      <p:sp>
        <p:nvSpPr>
          <p:cNvPr id="585" name="Google Shape;585;p46"/>
          <p:cNvSpPr txBox="1"/>
          <p:nvPr/>
        </p:nvSpPr>
        <p:spPr>
          <a:xfrm>
            <a:off x="566928" y="301752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PISTES DE RÉFLEXION</a:t>
            </a:r>
            <a:endParaRPr b="0" i="0" spc="0" sz="1400" u="none" cap="none" strike="noStrike">
              <a:solidFill>
                <a:srgbClr val="000000"/>
              </a:solidFill>
              <a:latin typeface="Arial"/>
              <a:ea typeface="Arial"/>
              <a:cs typeface="Arial"/>
              <a:sym typeface="Arial"/>
            </a:endParaRPr>
          </a:p>
        </p:txBody>
      </p:sp>
      <p:sp>
        <p:nvSpPr>
          <p:cNvPr id="586" name="Google Shape;586;p46"/>
          <p:cNvSpPr/>
          <p:nvPr/>
        </p:nvSpPr>
        <p:spPr>
          <a:xfrm>
            <a:off x="566928"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7" name="Google Shape;587;p46"/>
          <p:cNvSpPr/>
          <p:nvPr/>
        </p:nvSpPr>
        <p:spPr>
          <a:xfrm>
            <a:off x="768096"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88" name="Google Shape;588;p46"/>
          <p:cNvSpPr txBox="1"/>
          <p:nvPr/>
        </p:nvSpPr>
        <p:spPr>
          <a:xfrm>
            <a:off x="768096"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589" name="Google Shape;589;p46"/>
          <p:cNvSpPr txBox="1"/>
          <p:nvPr/>
        </p:nvSpPr>
        <p:spPr>
          <a:xfrm>
            <a:off x="1344168"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Partir de zéro ?</a:t>
            </a:r>
            <a:endParaRPr b="0" i="0" spc="0" sz="1400" u="none" cap="none" strike="noStrike">
              <a:solidFill>
                <a:srgbClr val="000000"/>
              </a:solidFill>
              <a:latin typeface="Arial"/>
              <a:ea typeface="Arial"/>
              <a:cs typeface="Arial"/>
              <a:sym typeface="Arial"/>
            </a:endParaRPr>
          </a:p>
        </p:txBody>
      </p:sp>
      <p:sp>
        <p:nvSpPr>
          <p:cNvPr id="590" name="Google Shape;590;p46"/>
          <p:cNvSpPr txBox="1"/>
          <p:nvPr/>
        </p:nvSpPr>
        <p:spPr>
          <a:xfrm>
            <a:off x="749808"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Entraîner un modèle complet, ou adapter un modèle déjà pré-entraîné ?</a:t>
            </a:r>
            <a:endParaRPr b="0" i="0" spc="0" sz="1400" u="none" cap="none" strike="noStrike">
              <a:solidFill>
                <a:srgbClr val="000000"/>
              </a:solidFill>
              <a:latin typeface="Arial"/>
              <a:ea typeface="Arial"/>
              <a:cs typeface="Arial"/>
              <a:sym typeface="Arial"/>
            </a:endParaRPr>
          </a:p>
        </p:txBody>
      </p:sp>
      <p:sp>
        <p:nvSpPr>
          <p:cNvPr id="591" name="Google Shape;591;p46"/>
          <p:cNvSpPr/>
          <p:nvPr/>
        </p:nvSpPr>
        <p:spPr>
          <a:xfrm>
            <a:off x="4343400"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2" name="Google Shape;592;p46"/>
          <p:cNvSpPr/>
          <p:nvPr/>
        </p:nvSpPr>
        <p:spPr>
          <a:xfrm>
            <a:off x="4544568"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3" name="Google Shape;593;p46"/>
          <p:cNvSpPr txBox="1"/>
          <p:nvPr/>
        </p:nvSpPr>
        <p:spPr>
          <a:xfrm>
            <a:off x="4544568"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594" name="Google Shape;594;p46"/>
          <p:cNvSpPr txBox="1"/>
          <p:nvPr/>
        </p:nvSpPr>
        <p:spPr>
          <a:xfrm>
            <a:off x="5120640"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Quelles données ?</a:t>
            </a:r>
            <a:endParaRPr b="0" i="0" spc="0" sz="1400" u="none" cap="none" strike="noStrike">
              <a:solidFill>
                <a:srgbClr val="000000"/>
              </a:solidFill>
              <a:latin typeface="Arial"/>
              <a:ea typeface="Arial"/>
              <a:cs typeface="Arial"/>
              <a:sym typeface="Arial"/>
            </a:endParaRPr>
          </a:p>
        </p:txBody>
      </p:sp>
      <p:sp>
        <p:nvSpPr>
          <p:cNvPr id="595" name="Google Shape;595;p46"/>
          <p:cNvSpPr txBox="1"/>
          <p:nvPr/>
        </p:nvSpPr>
        <p:spPr>
          <a:xfrm>
            <a:off x="4526280"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Quel volume, quel format ? Des paires (instruction, réponse idéale) suffisent-elles ?</a:t>
            </a:r>
            <a:endParaRPr b="0" i="0" spc="0" sz="1400" u="none" cap="none" strike="noStrike">
              <a:solidFill>
                <a:srgbClr val="000000"/>
              </a:solidFill>
              <a:latin typeface="Arial"/>
              <a:ea typeface="Arial"/>
              <a:cs typeface="Arial"/>
              <a:sym typeface="Arial"/>
            </a:endParaRPr>
          </a:p>
        </p:txBody>
      </p:sp>
      <p:sp>
        <p:nvSpPr>
          <p:cNvPr id="596" name="Google Shape;596;p46"/>
          <p:cNvSpPr/>
          <p:nvPr/>
        </p:nvSpPr>
        <p:spPr>
          <a:xfrm>
            <a:off x="8119872"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7" name="Google Shape;597;p46"/>
          <p:cNvSpPr/>
          <p:nvPr/>
        </p:nvSpPr>
        <p:spPr>
          <a:xfrm>
            <a:off x="8321040"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8" name="Google Shape;598;p46"/>
          <p:cNvSpPr txBox="1"/>
          <p:nvPr/>
        </p:nvSpPr>
        <p:spPr>
          <a:xfrm>
            <a:off x="8321040"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599" name="Google Shape;599;p46"/>
          <p:cNvSpPr txBox="1"/>
          <p:nvPr/>
        </p:nvSpPr>
        <p:spPr>
          <a:xfrm>
            <a:off x="8897112"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Quelle qualité ?</a:t>
            </a:r>
            <a:endParaRPr b="0" i="0" spc="0" sz="1400" u="none" cap="none" strike="noStrike">
              <a:solidFill>
                <a:srgbClr val="000000"/>
              </a:solidFill>
              <a:latin typeface="Arial"/>
              <a:ea typeface="Arial"/>
              <a:cs typeface="Arial"/>
              <a:sym typeface="Arial"/>
            </a:endParaRPr>
          </a:p>
        </p:txBody>
      </p:sp>
      <p:sp>
        <p:nvSpPr>
          <p:cNvPr id="600" name="Google Shape;600;p46"/>
          <p:cNvSpPr txBox="1"/>
          <p:nvPr/>
        </p:nvSpPr>
        <p:spPr>
          <a:xfrm>
            <a:off x="8302752"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Comment vérifier que les échantillons sont réalistes, variés et conformes à la marque ?</a:t>
            </a:r>
            <a:endParaRPr b="0" i="0" spc="0" sz="1400" u="none" cap="none" strike="noStrike">
              <a:solidFill>
                <a:srgbClr val="000000"/>
              </a:solidFill>
              <a:latin typeface="Arial"/>
              <a:ea typeface="Arial"/>
              <a:cs typeface="Arial"/>
              <a:sym typeface="Arial"/>
            </a:endParaRPr>
          </a:p>
        </p:txBody>
      </p:sp>
      <p:sp>
        <p:nvSpPr>
          <p:cNvPr id="601" name="Google Shape;601;p46"/>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602" name="Google Shape;602;p46"/>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18</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607" name="Shape 607"/>
        <p:cNvGrpSpPr/>
        <p:nvPr/>
      </p:nvGrpSpPr>
      <p:grpSpPr>
        <a:xfrm>
          <a:off x="0" y="0"/>
          <a:ext cx="0" cy="0"/>
          <a:chOff x="0" y="0"/>
          <a:chExt cx="0" cy="0"/>
        </a:xfrm>
      </p:grpSpPr>
      <p:sp>
        <p:nvSpPr>
          <p:cNvPr id="608" name="Google Shape;608;p11"/>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INFÉRENCE</a:t>
            </a:r>
            <a:endParaRPr b="0" i="0" spc="0" sz="1200" u="none" cap="none" strike="noStrike">
              <a:solidFill>
                <a:schemeClr val="dk1"/>
              </a:solidFill>
              <a:latin typeface="Calibri"/>
              <a:ea typeface="Calibri"/>
              <a:cs typeface="Calibri"/>
              <a:sym typeface="Calibri"/>
            </a:endParaRPr>
          </a:p>
        </p:txBody>
      </p:sp>
      <p:sp>
        <p:nvSpPr>
          <p:cNvPr id="609" name="Google Shape;609;p11"/>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Paramètres d'inférence - Température &amp; Top-P</a:t>
            </a:r>
            <a:endParaRPr b="0" i="0" spc="0" sz="2900" u="none" cap="none" strike="noStrike">
              <a:solidFill>
                <a:schemeClr val="dk1"/>
              </a:solidFill>
              <a:latin typeface="Calibri"/>
              <a:ea typeface="Calibri"/>
              <a:cs typeface="Calibri"/>
              <a:sym typeface="Calibri"/>
            </a:endParaRPr>
          </a:p>
        </p:txBody>
      </p:sp>
      <p:sp>
        <p:nvSpPr>
          <p:cNvPr id="610" name="Google Shape;610;p11"/>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1" name="Google Shape;611;p11"/>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612" name="Google Shape;612;p11"/>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Contrôler la variabilité et le déterminisme de la réponse lors du tirage probabiliste.</a:t>
            </a:r>
            <a:endParaRPr b="0" i="0" spc="0" sz="1400" u="none" cap="none" strike="noStrike">
              <a:solidFill>
                <a:schemeClr val="dk1"/>
              </a:solidFill>
              <a:latin typeface="Calibri"/>
              <a:ea typeface="Calibri"/>
              <a:cs typeface="Calibri"/>
              <a:sym typeface="Calibri"/>
            </a:endParaRPr>
          </a:p>
        </p:txBody>
      </p:sp>
      <p:sp>
        <p:nvSpPr>
          <p:cNvPr id="613" name="Google Shape;613;p11"/>
          <p:cNvSpPr/>
          <p:nvPr/>
        </p:nvSpPr>
        <p:spPr>
          <a:xfrm>
            <a:off x="566928" y="2743200"/>
            <a:ext cx="5298948" cy="2148840"/>
          </a:xfrm>
          <a:prstGeom prst="roundRect">
            <a:avLst>
              <a:gd fmla="val 3404"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4" name="Google Shape;614;p11"/>
          <p:cNvSpPr/>
          <p:nvPr/>
        </p:nvSpPr>
        <p:spPr>
          <a:xfrm>
            <a:off x="886968" y="2971800"/>
            <a:ext cx="46588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800"/>
              <a:buFont typeface="Cambria"/>
              <a:buNone/>
            </a:pPr>
            <a:r>
              <a:rPr b="1" i="0" lang="en-US" spc="0" sz="1800" u="none" cap="none" strike="noStrike">
                <a:solidFill>
                  <a:srgbClr val="C77B4C"/>
                </a:solidFill>
                <a:latin typeface="Cambria"/>
                <a:ea typeface="Cambria"/>
                <a:cs typeface="Cambria"/>
                <a:sym typeface="Cambria"/>
              </a:rPr>
              <a:t>Température  (T)</a:t>
            </a:r>
            <a:endParaRPr b="0" i="0" spc="0" sz="1800" u="none" cap="none" strike="noStrike">
              <a:solidFill>
                <a:schemeClr val="dk1"/>
              </a:solidFill>
              <a:latin typeface="Calibri"/>
              <a:ea typeface="Calibri"/>
              <a:cs typeface="Calibri"/>
              <a:sym typeface="Calibri"/>
            </a:endParaRPr>
          </a:p>
        </p:txBody>
      </p:sp>
      <p:sp>
        <p:nvSpPr>
          <p:cNvPr id="615" name="Google Shape;615;p11"/>
          <p:cNvSpPr/>
          <p:nvPr/>
        </p:nvSpPr>
        <p:spPr>
          <a:xfrm>
            <a:off x="886968" y="3520440"/>
            <a:ext cx="4658868" cy="566928"/>
          </a:xfrm>
          <a:prstGeom prst="roundRect">
            <a:avLst>
              <a:gd fmla="val 12903" name="adj"/>
            </a:avLst>
          </a:prstGeom>
          <a:solidFill>
            <a:srgbClr val="142B22"/>
          </a:solidFill>
          <a:ln cap="flat" cmpd="sng" w="12700">
            <a:solidFill>
              <a:srgbClr val="7FB0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6" name="Google Shape;616;p11"/>
          <p:cNvSpPr/>
          <p:nvPr/>
        </p:nvSpPr>
        <p:spPr>
          <a:xfrm>
            <a:off x="1024128" y="3520440"/>
            <a:ext cx="4384548"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1250"/>
              <a:buFont typeface="Calibri"/>
              <a:buNone/>
            </a:pPr>
            <a:r>
              <a:rPr b="1" i="0" lang="en-US" spc="0" sz="1250" u="none" cap="none" strike="noStrike">
                <a:solidFill>
                  <a:srgbClr val="7FB08A"/>
                </a:solidFill>
                <a:latin typeface="Calibri"/>
                <a:ea typeface="Calibri"/>
                <a:cs typeface="Calibri"/>
                <a:sym typeface="Calibri"/>
              </a:rPr>
              <a:t>T → 0   </a:t>
            </a:r>
            <a:r>
              <a:rPr b="0" i="0" lang="en-US" spc="0" sz="1250" u="none" cap="none" strike="noStrike">
                <a:solidFill>
                  <a:srgbClr val="F1EADF"/>
                </a:solidFill>
                <a:latin typeface="Calibri"/>
                <a:ea typeface="Calibri"/>
                <a:cs typeface="Calibri"/>
                <a:sym typeface="Calibri"/>
              </a:rPr>
              <a:t>factuel, déterministe (code / SQL)</a:t>
            </a:r>
            <a:endParaRPr b="0" i="0" spc="0" sz="1250" u="none" cap="none" strike="noStrike">
              <a:solidFill>
                <a:schemeClr val="dk1"/>
              </a:solidFill>
              <a:latin typeface="Calibri"/>
              <a:ea typeface="Calibri"/>
              <a:cs typeface="Calibri"/>
              <a:sym typeface="Calibri"/>
            </a:endParaRPr>
          </a:p>
        </p:txBody>
      </p:sp>
      <p:sp>
        <p:nvSpPr>
          <p:cNvPr id="617" name="Google Shape;617;p11"/>
          <p:cNvSpPr/>
          <p:nvPr/>
        </p:nvSpPr>
        <p:spPr>
          <a:xfrm>
            <a:off x="886968" y="4206240"/>
            <a:ext cx="4658868" cy="566928"/>
          </a:xfrm>
          <a:prstGeom prst="roundRect">
            <a:avLst>
              <a:gd fmla="val 12903" name="adj"/>
            </a:avLst>
          </a:prstGeom>
          <a:solidFill>
            <a:srgbClr val="33231F"/>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8" name="Google Shape;618;p11"/>
          <p:cNvSpPr/>
          <p:nvPr/>
        </p:nvSpPr>
        <p:spPr>
          <a:xfrm>
            <a:off x="1024128" y="4206240"/>
            <a:ext cx="4384548"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6C6C"/>
              </a:buClr>
              <a:buSzPts val="1250"/>
              <a:buFont typeface="Calibri"/>
              <a:buNone/>
            </a:pPr>
            <a:r>
              <a:rPr b="1" i="0" lang="en-US" spc="0" sz="1250" u="none" cap="none" strike="noStrike">
                <a:solidFill>
                  <a:srgbClr val="C56C6C"/>
                </a:solidFill>
                <a:latin typeface="Calibri"/>
                <a:ea typeface="Calibri"/>
                <a:cs typeface="Calibri"/>
                <a:sym typeface="Calibri"/>
              </a:rPr>
              <a:t>T &gt; 0.8   </a:t>
            </a:r>
            <a:r>
              <a:rPr b="0" i="0" lang="en-US" spc="0" sz="1250" u="none" cap="none" strike="noStrike">
                <a:solidFill>
                  <a:srgbClr val="F1EADF"/>
                </a:solidFill>
                <a:latin typeface="Calibri"/>
                <a:ea typeface="Calibri"/>
                <a:cs typeface="Calibri"/>
                <a:sym typeface="Calibri"/>
              </a:rPr>
              <a:t>créatif, mais risque d'hallucination</a:t>
            </a:r>
            <a:endParaRPr b="0" i="0" spc="0" sz="1250" u="none" cap="none" strike="noStrike">
              <a:solidFill>
                <a:schemeClr val="dk1"/>
              </a:solidFill>
              <a:latin typeface="Calibri"/>
              <a:ea typeface="Calibri"/>
              <a:cs typeface="Calibri"/>
              <a:sym typeface="Calibri"/>
            </a:endParaRPr>
          </a:p>
        </p:txBody>
      </p:sp>
      <p:sp>
        <p:nvSpPr>
          <p:cNvPr id="619" name="Google Shape;619;p11"/>
          <p:cNvSpPr/>
          <p:nvPr/>
        </p:nvSpPr>
        <p:spPr>
          <a:xfrm>
            <a:off x="6323076" y="2743200"/>
            <a:ext cx="5298948" cy="2148840"/>
          </a:xfrm>
          <a:prstGeom prst="roundRect">
            <a:avLst>
              <a:gd fmla="val 3404"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20" name="Google Shape;620;p11"/>
          <p:cNvSpPr/>
          <p:nvPr/>
        </p:nvSpPr>
        <p:spPr>
          <a:xfrm>
            <a:off x="6643116" y="2971800"/>
            <a:ext cx="46588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800"/>
              <a:buFont typeface="Cambria"/>
              <a:buNone/>
            </a:pPr>
            <a:r>
              <a:rPr b="1" i="0" lang="en-US" spc="0" sz="1800" u="none" cap="none" strike="noStrike">
                <a:solidFill>
                  <a:srgbClr val="C77B4C"/>
                </a:solidFill>
                <a:latin typeface="Cambria"/>
                <a:ea typeface="Cambria"/>
                <a:cs typeface="Cambria"/>
                <a:sym typeface="Cambria"/>
              </a:rPr>
              <a:t>Top-P  (Nucleus Sampling)</a:t>
            </a:r>
            <a:endParaRPr b="0" i="0" spc="0" sz="1800" u="none" cap="none" strike="noStrike">
              <a:solidFill>
                <a:schemeClr val="dk1"/>
              </a:solidFill>
              <a:latin typeface="Calibri"/>
              <a:ea typeface="Calibri"/>
              <a:cs typeface="Calibri"/>
              <a:sym typeface="Calibri"/>
            </a:endParaRPr>
          </a:p>
        </p:txBody>
      </p:sp>
      <p:sp>
        <p:nvSpPr>
          <p:cNvPr id="621" name="Google Shape;621;p11"/>
          <p:cNvSpPr/>
          <p:nvPr/>
        </p:nvSpPr>
        <p:spPr>
          <a:xfrm>
            <a:off x="6643116" y="3520440"/>
            <a:ext cx="4658868" cy="7315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Sélectionne uniquement le plus petit sous-ensemble de tokens dont la probabilité cumulée atteint P.</a:t>
            </a:r>
            <a:endParaRPr b="0" i="0" spc="0" sz="1350" u="none" cap="none" strike="noStrike">
              <a:solidFill>
                <a:schemeClr val="dk1"/>
              </a:solidFill>
              <a:latin typeface="Calibri"/>
              <a:ea typeface="Calibri"/>
              <a:cs typeface="Calibri"/>
              <a:sym typeface="Calibri"/>
            </a:endParaRPr>
          </a:p>
        </p:txBody>
      </p:sp>
      <p:sp>
        <p:nvSpPr>
          <p:cNvPr id="622" name="Google Shape;622;p11"/>
          <p:cNvSpPr/>
          <p:nvPr/>
        </p:nvSpPr>
        <p:spPr>
          <a:xfrm>
            <a:off x="6643116" y="4251960"/>
            <a:ext cx="4658868"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DB0C2"/>
              </a:buClr>
              <a:buSzPts val="1250"/>
              <a:buFont typeface="Calibri"/>
              <a:buNone/>
            </a:pPr>
            <a:r>
              <a:rPr b="0" i="1" lang="en-US" spc="0" sz="1250" u="none" cap="none" strike="noStrike">
                <a:solidFill>
                  <a:srgbClr val="9DB0C2"/>
                </a:solidFill>
                <a:latin typeface="Calibri"/>
                <a:ea typeface="Calibri"/>
                <a:cs typeface="Calibri"/>
                <a:sym typeface="Calibri"/>
              </a:rPr>
              <a:t>Ex. P = 0.9  →  on garde le « noyau » de probabilité le plus dense.</a:t>
            </a:r>
            <a:endParaRPr b="0" i="0" spc="0" sz="1250" u="none" cap="none" strike="noStrike">
              <a:solidFill>
                <a:schemeClr val="dk1"/>
              </a:solidFill>
              <a:latin typeface="Calibri"/>
              <a:ea typeface="Calibri"/>
              <a:cs typeface="Calibri"/>
              <a:sym typeface="Calibri"/>
            </a:endParaRPr>
          </a:p>
        </p:txBody>
      </p:sp>
      <p:sp>
        <p:nvSpPr>
          <p:cNvPr id="623" name="Google Shape;623;p11"/>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624" name="Google Shape;624;p11"/>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19</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629" name="Shape 629"/>
        <p:cNvGrpSpPr/>
        <p:nvPr/>
      </p:nvGrpSpPr>
      <p:grpSpPr>
        <a:xfrm>
          <a:off x="0" y="0"/>
          <a:ext cx="0" cy="0"/>
          <a:chOff x="0" y="0"/>
          <a:chExt cx="0" cy="0"/>
        </a:xfrm>
      </p:grpSpPr>
      <p:sp>
        <p:nvSpPr>
          <p:cNvPr id="630" name="Google Shape;630;p12"/>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INFÉRENCE</a:t>
            </a:r>
            <a:endParaRPr b="0" i="0" spc="0" sz="1200" u="none" cap="none" strike="noStrike">
              <a:solidFill>
                <a:schemeClr val="dk1"/>
              </a:solidFill>
              <a:latin typeface="Calibri"/>
              <a:ea typeface="Calibri"/>
              <a:cs typeface="Calibri"/>
              <a:sym typeface="Calibri"/>
            </a:endParaRPr>
          </a:p>
        </p:txBody>
      </p:sp>
      <p:sp>
        <p:nvSpPr>
          <p:cNvPr id="631" name="Google Shape;631;p12"/>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Paramètres d'inférence - Stop Sequences &amp; Limits</a:t>
            </a:r>
            <a:endParaRPr b="0" i="0" spc="0" sz="2900" u="none" cap="none" strike="noStrike">
              <a:solidFill>
                <a:schemeClr val="dk1"/>
              </a:solidFill>
              <a:latin typeface="Calibri"/>
              <a:ea typeface="Calibri"/>
              <a:cs typeface="Calibri"/>
              <a:sym typeface="Calibri"/>
            </a:endParaRPr>
          </a:p>
        </p:txBody>
      </p:sp>
      <p:sp>
        <p:nvSpPr>
          <p:cNvPr id="632" name="Google Shape;632;p12"/>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3" name="Google Shape;633;p12"/>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634" name="Google Shape;634;p12"/>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Gérer l'arrêt de la génération et maîtriser le coût d'exécution.</a:t>
            </a:r>
            <a:endParaRPr b="0" i="0" spc="0" sz="1400" u="none" cap="none" strike="noStrike">
              <a:solidFill>
                <a:schemeClr val="dk1"/>
              </a:solidFill>
              <a:latin typeface="Calibri"/>
              <a:ea typeface="Calibri"/>
              <a:cs typeface="Calibri"/>
              <a:sym typeface="Calibri"/>
            </a:endParaRPr>
          </a:p>
        </p:txBody>
      </p:sp>
      <p:sp>
        <p:nvSpPr>
          <p:cNvPr id="635" name="Google Shape;635;p12"/>
          <p:cNvSpPr/>
          <p:nvPr/>
        </p:nvSpPr>
        <p:spPr>
          <a:xfrm>
            <a:off x="566928" y="2697480"/>
            <a:ext cx="3471672" cy="2651760"/>
          </a:xfrm>
          <a:prstGeom prst="roundRect">
            <a:avLst>
              <a:gd fmla="val 275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6" name="Google Shape;636;p12"/>
          <p:cNvSpPr/>
          <p:nvPr/>
        </p:nvSpPr>
        <p:spPr>
          <a:xfrm>
            <a:off x="841248" y="2990088"/>
            <a:ext cx="502920" cy="50292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7" name="Google Shape;637;p12"/>
          <p:cNvSpPr/>
          <p:nvPr/>
        </p:nvSpPr>
        <p:spPr>
          <a:xfrm>
            <a:off x="841248" y="2990088"/>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1</a:t>
            </a:r>
            <a:endParaRPr b="0" i="0" spc="0" sz="1800" u="none" cap="none" strike="noStrike">
              <a:solidFill>
                <a:schemeClr val="dk1"/>
              </a:solidFill>
              <a:latin typeface="Calibri"/>
              <a:ea typeface="Calibri"/>
              <a:cs typeface="Calibri"/>
              <a:sym typeface="Calibri"/>
            </a:endParaRPr>
          </a:p>
        </p:txBody>
      </p:sp>
      <p:sp>
        <p:nvSpPr>
          <p:cNvPr id="638" name="Google Shape;638;p12"/>
          <p:cNvSpPr/>
          <p:nvPr/>
        </p:nvSpPr>
        <p:spPr>
          <a:xfrm>
            <a:off x="841248" y="3657600"/>
            <a:ext cx="2923032" cy="6400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Max Tokens</a:t>
            </a:r>
            <a:endParaRPr b="0" i="0" spc="0" sz="1600" u="none" cap="none" strike="noStrike">
              <a:solidFill>
                <a:schemeClr val="dk1"/>
              </a:solidFill>
              <a:latin typeface="Calibri"/>
              <a:ea typeface="Calibri"/>
              <a:cs typeface="Calibri"/>
              <a:sym typeface="Calibri"/>
            </a:endParaRPr>
          </a:p>
        </p:txBody>
      </p:sp>
      <p:sp>
        <p:nvSpPr>
          <p:cNvPr id="639" name="Google Shape;639;p12"/>
          <p:cNvSpPr/>
          <p:nvPr/>
        </p:nvSpPr>
        <p:spPr>
          <a:xfrm>
            <a:off x="841248" y="4297680"/>
            <a:ext cx="2923032"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Borne supérieure de génération pour éviter les boucles infinies et les dépassements de budget.</a:t>
            </a:r>
            <a:endParaRPr b="0" i="0" spc="0" sz="1250" u="none" cap="none" strike="noStrike">
              <a:solidFill>
                <a:schemeClr val="dk1"/>
              </a:solidFill>
              <a:latin typeface="Calibri"/>
              <a:ea typeface="Calibri"/>
              <a:cs typeface="Calibri"/>
              <a:sym typeface="Calibri"/>
            </a:endParaRPr>
          </a:p>
        </p:txBody>
      </p:sp>
      <p:sp>
        <p:nvSpPr>
          <p:cNvPr id="640" name="Google Shape;640;p12"/>
          <p:cNvSpPr/>
          <p:nvPr/>
        </p:nvSpPr>
        <p:spPr>
          <a:xfrm>
            <a:off x="4358640" y="2697480"/>
            <a:ext cx="3471672" cy="2651760"/>
          </a:xfrm>
          <a:prstGeom prst="roundRect">
            <a:avLst>
              <a:gd fmla="val 2759"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1" name="Google Shape;641;p12"/>
          <p:cNvSpPr/>
          <p:nvPr/>
        </p:nvSpPr>
        <p:spPr>
          <a:xfrm>
            <a:off x="4632960" y="2990088"/>
            <a:ext cx="502920" cy="50292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2" name="Google Shape;642;p12"/>
          <p:cNvSpPr/>
          <p:nvPr/>
        </p:nvSpPr>
        <p:spPr>
          <a:xfrm>
            <a:off x="4632960" y="2990088"/>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2</a:t>
            </a:r>
            <a:endParaRPr b="0" i="0" spc="0" sz="1800" u="none" cap="none" strike="noStrike">
              <a:solidFill>
                <a:schemeClr val="dk1"/>
              </a:solidFill>
              <a:latin typeface="Calibri"/>
              <a:ea typeface="Calibri"/>
              <a:cs typeface="Calibri"/>
              <a:sym typeface="Calibri"/>
            </a:endParaRPr>
          </a:p>
        </p:txBody>
      </p:sp>
      <p:sp>
        <p:nvSpPr>
          <p:cNvPr id="643" name="Google Shape;643;p12"/>
          <p:cNvSpPr/>
          <p:nvPr/>
        </p:nvSpPr>
        <p:spPr>
          <a:xfrm>
            <a:off x="4632960" y="3657600"/>
            <a:ext cx="2923032" cy="6400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Stop Sequences</a:t>
            </a:r>
            <a:endParaRPr b="0" i="0" spc="0" sz="1600" u="none" cap="none" strike="noStrike">
              <a:solidFill>
                <a:schemeClr val="dk1"/>
              </a:solidFill>
              <a:latin typeface="Calibri"/>
              <a:ea typeface="Calibri"/>
              <a:cs typeface="Calibri"/>
              <a:sym typeface="Calibri"/>
            </a:endParaRPr>
          </a:p>
        </p:txBody>
      </p:sp>
      <p:sp>
        <p:nvSpPr>
          <p:cNvPr id="644" name="Google Shape;644;p12"/>
          <p:cNvSpPr/>
          <p:nvPr/>
        </p:nvSpPr>
        <p:spPr>
          <a:xfrm>
            <a:off x="4632960" y="4297680"/>
            <a:ext cx="2923032"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Chaînes qui coupent immédiatement l'inférence - ex. \nUSER: ou &lt;/s&gt;.</a:t>
            </a:r>
            <a:endParaRPr b="0" i="0" spc="0" sz="1250" u="none" cap="none" strike="noStrike">
              <a:solidFill>
                <a:schemeClr val="dk1"/>
              </a:solidFill>
              <a:latin typeface="Calibri"/>
              <a:ea typeface="Calibri"/>
              <a:cs typeface="Calibri"/>
              <a:sym typeface="Calibri"/>
            </a:endParaRPr>
          </a:p>
        </p:txBody>
      </p:sp>
      <p:sp>
        <p:nvSpPr>
          <p:cNvPr id="645" name="Google Shape;645;p12"/>
          <p:cNvSpPr/>
          <p:nvPr/>
        </p:nvSpPr>
        <p:spPr>
          <a:xfrm>
            <a:off x="8150352" y="2697480"/>
            <a:ext cx="3471672" cy="2651760"/>
          </a:xfrm>
          <a:prstGeom prst="roundRect">
            <a:avLst>
              <a:gd fmla="val 275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6" name="Google Shape;646;p12"/>
          <p:cNvSpPr/>
          <p:nvPr/>
        </p:nvSpPr>
        <p:spPr>
          <a:xfrm>
            <a:off x="8424672" y="2990088"/>
            <a:ext cx="502920" cy="50292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7" name="Google Shape;647;p12"/>
          <p:cNvSpPr/>
          <p:nvPr/>
        </p:nvSpPr>
        <p:spPr>
          <a:xfrm>
            <a:off x="8424672" y="2990088"/>
            <a:ext cx="502920" cy="5029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800"/>
              <a:buFont typeface="Cambria"/>
              <a:buNone/>
            </a:pPr>
            <a:r>
              <a:rPr b="1" i="0" lang="en-US" spc="0" sz="1800" u="none" cap="none" strike="noStrike">
                <a:solidFill>
                  <a:srgbClr val="112536"/>
                </a:solidFill>
                <a:latin typeface="Cambria"/>
                <a:ea typeface="Cambria"/>
                <a:cs typeface="Cambria"/>
                <a:sym typeface="Cambria"/>
              </a:rPr>
              <a:t>3</a:t>
            </a:r>
            <a:endParaRPr b="0" i="0" spc="0" sz="1800" u="none" cap="none" strike="noStrike">
              <a:solidFill>
                <a:schemeClr val="dk1"/>
              </a:solidFill>
              <a:latin typeface="Calibri"/>
              <a:ea typeface="Calibri"/>
              <a:cs typeface="Calibri"/>
              <a:sym typeface="Calibri"/>
            </a:endParaRPr>
          </a:p>
        </p:txBody>
      </p:sp>
      <p:sp>
        <p:nvSpPr>
          <p:cNvPr id="648" name="Google Shape;648;p12"/>
          <p:cNvSpPr/>
          <p:nvPr/>
        </p:nvSpPr>
        <p:spPr>
          <a:xfrm>
            <a:off x="8424672" y="3657600"/>
            <a:ext cx="2923032" cy="640080"/>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Clr>
                <a:srgbClr val="F1EADF"/>
              </a:buClr>
              <a:buSzPts val="1600"/>
              <a:buFont typeface="Cambria"/>
              <a:buNone/>
            </a:pPr>
            <a:r>
              <a:rPr b="1" i="0" lang="en-US" spc="0" sz="1600" u="none" cap="none" strike="noStrike">
                <a:solidFill>
                  <a:srgbClr val="F1EADF"/>
                </a:solidFill>
                <a:latin typeface="Cambria"/>
                <a:ea typeface="Cambria"/>
                <a:cs typeface="Cambria"/>
                <a:sym typeface="Cambria"/>
              </a:rPr>
              <a:t>Presence / Frequency Penalties</a:t>
            </a:r>
            <a:endParaRPr b="0" i="0" spc="0" sz="1600" u="none" cap="none" strike="noStrike">
              <a:solidFill>
                <a:schemeClr val="dk1"/>
              </a:solidFill>
              <a:latin typeface="Calibri"/>
              <a:ea typeface="Calibri"/>
              <a:cs typeface="Calibri"/>
              <a:sym typeface="Calibri"/>
            </a:endParaRPr>
          </a:p>
        </p:txBody>
      </p:sp>
      <p:sp>
        <p:nvSpPr>
          <p:cNvPr id="649" name="Google Shape;649;p12"/>
          <p:cNvSpPr/>
          <p:nvPr/>
        </p:nvSpPr>
        <p:spPr>
          <a:xfrm>
            <a:off x="8424672" y="4297680"/>
            <a:ext cx="2923032"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9DB0C2"/>
              </a:buClr>
              <a:buSzPts val="1250"/>
              <a:buFont typeface="Calibri"/>
              <a:buNone/>
            </a:pPr>
            <a:r>
              <a:rPr b="0" i="0" lang="en-US" spc="0" sz="1250" u="none" cap="none" strike="noStrike">
                <a:solidFill>
                  <a:srgbClr val="9DB0C2"/>
                </a:solidFill>
                <a:latin typeface="Calibri"/>
                <a:ea typeface="Calibri"/>
                <a:cs typeface="Calibri"/>
                <a:sym typeface="Calibri"/>
              </a:rPr>
              <a:t>Pénalisent la répétition de mots déjà générés pour diversifier la sortie.</a:t>
            </a:r>
            <a:endParaRPr b="0" i="0" spc="0" sz="1250" u="none" cap="none" strike="noStrike">
              <a:solidFill>
                <a:schemeClr val="dk1"/>
              </a:solidFill>
              <a:latin typeface="Calibri"/>
              <a:ea typeface="Calibri"/>
              <a:cs typeface="Calibri"/>
              <a:sym typeface="Calibri"/>
            </a:endParaRPr>
          </a:p>
        </p:txBody>
      </p:sp>
      <p:sp>
        <p:nvSpPr>
          <p:cNvPr id="650" name="Google Shape;650;p12"/>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651" name="Google Shape;651;p12"/>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20</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656" name="Shape 656"/>
        <p:cNvGrpSpPr/>
        <p:nvPr/>
      </p:nvGrpSpPr>
      <p:grpSpPr>
        <a:xfrm>
          <a:off x="0" y="0"/>
          <a:ext cx="0" cy="0"/>
          <a:chOff x="0" y="0"/>
          <a:chExt cx="0" cy="0"/>
        </a:xfrm>
      </p:grpSpPr>
      <p:sp>
        <p:nvSpPr>
          <p:cNvPr id="657" name="Google Shape;657;p47"/>
          <p:cNvSpPr txBox="1"/>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EXERCICE 4 · À VOUS DE JOUER</a:t>
            </a:r>
            <a:endParaRPr b="0" i="0" spc="0" sz="1400" u="none" cap="none" strike="noStrike">
              <a:solidFill>
                <a:srgbClr val="000000"/>
              </a:solidFill>
              <a:latin typeface="Arial"/>
              <a:ea typeface="Arial"/>
              <a:cs typeface="Arial"/>
              <a:sym typeface="Arial"/>
            </a:endParaRPr>
          </a:p>
        </p:txBody>
      </p:sp>
      <p:sp>
        <p:nvSpPr>
          <p:cNvPr id="658" name="Google Shape;658;p47"/>
          <p:cNvSpPr txBox="1"/>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Hyperparamètres : régler la génération</a:t>
            </a:r>
            <a:endParaRPr b="0" i="0" spc="0" sz="1400" u="none" cap="none" strike="noStrike">
              <a:solidFill>
                <a:srgbClr val="000000"/>
              </a:solidFill>
              <a:latin typeface="Arial"/>
              <a:ea typeface="Arial"/>
              <a:cs typeface="Arial"/>
              <a:sym typeface="Arial"/>
            </a:endParaRPr>
          </a:p>
        </p:txBody>
      </p:sp>
      <p:sp>
        <p:nvSpPr>
          <p:cNvPr id="659" name="Google Shape;659;p47"/>
          <p:cNvSpPr/>
          <p:nvPr/>
        </p:nvSpPr>
        <p:spPr>
          <a:xfrm>
            <a:off x="566928" y="1554480"/>
            <a:ext cx="8458200" cy="12344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0" name="Google Shape;660;p47"/>
          <p:cNvSpPr txBox="1"/>
          <p:nvPr/>
        </p:nvSpPr>
        <p:spPr>
          <a:xfrm>
            <a:off x="822960" y="1645920"/>
            <a:ext cx="27432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QUESTION</a:t>
            </a:r>
            <a:endParaRPr b="0" i="0" spc="0" sz="1400" u="none" cap="none" strike="noStrike">
              <a:solidFill>
                <a:srgbClr val="000000"/>
              </a:solidFill>
              <a:latin typeface="Arial"/>
              <a:ea typeface="Arial"/>
              <a:cs typeface="Arial"/>
              <a:sym typeface="Arial"/>
            </a:endParaRPr>
          </a:p>
        </p:txBody>
      </p:sp>
      <p:sp>
        <p:nvSpPr>
          <p:cNvPr id="661" name="Google Shape;661;p47"/>
          <p:cNvSpPr txBox="1"/>
          <p:nvPr/>
        </p:nvSpPr>
        <p:spPr>
          <a:xfrm>
            <a:off x="822960" y="1901952"/>
            <a:ext cx="80010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550"/>
              <a:buFont typeface="Arial"/>
              <a:buNone/>
            </a:pPr>
            <a:r>
              <a:rPr b="0" i="0" lang="en-US" spc="0" sz="1550" u="none" cap="none" strike="noStrike">
                <a:solidFill>
                  <a:srgbClr val="F1EADF"/>
                </a:solidFill>
                <a:latin typeface="Calibri"/>
                <a:ea typeface="Calibri"/>
                <a:cs typeface="Calibri"/>
                <a:sym typeface="Calibri"/>
              </a:rPr>
              <a:t>Un même modèle sert à deux usages : générer des requêtes SQL et proposer des slogans marketing. Quels réglages choisir pour chacun, et comment prouver qu'ils sont les bons ?</a:t>
            </a:r>
            <a:endParaRPr b="0" i="0" spc="0" sz="1400" u="none" cap="none" strike="noStrike">
              <a:solidFill>
                <a:srgbClr val="000000"/>
              </a:solidFill>
              <a:latin typeface="Arial"/>
              <a:ea typeface="Arial"/>
              <a:cs typeface="Arial"/>
              <a:sym typeface="Arial"/>
            </a:endParaRPr>
          </a:p>
        </p:txBody>
      </p:sp>
      <p:sp>
        <p:nvSpPr>
          <p:cNvPr id="662" name="Google Shape;662;p47"/>
          <p:cNvSpPr/>
          <p:nvPr/>
        </p:nvSpPr>
        <p:spPr>
          <a:xfrm>
            <a:off x="9253728" y="1554480"/>
            <a:ext cx="2368296" cy="1234440"/>
          </a:xfrm>
          <a:prstGeom prst="roundRect">
            <a:avLst>
              <a:gd fmla="val 9412"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3" name="Google Shape;663;p47"/>
          <p:cNvSpPr txBox="1"/>
          <p:nvPr/>
        </p:nvSpPr>
        <p:spPr>
          <a:xfrm>
            <a:off x="9253728" y="1627632"/>
            <a:ext cx="2368296"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C77B4C"/>
                </a:solidFill>
                <a:latin typeface="Cambria"/>
                <a:ea typeface="Cambria"/>
                <a:cs typeface="Cambria"/>
                <a:sym typeface="Cambria"/>
              </a:rPr>
              <a:t>5 min</a:t>
            </a:r>
            <a:endParaRPr b="0" i="0" spc="0" sz="1400" u="none" cap="none" strike="noStrike">
              <a:solidFill>
                <a:srgbClr val="000000"/>
              </a:solidFill>
              <a:latin typeface="Arial"/>
              <a:ea typeface="Arial"/>
              <a:cs typeface="Arial"/>
              <a:sym typeface="Arial"/>
            </a:endParaRPr>
          </a:p>
        </p:txBody>
      </p:sp>
      <p:sp>
        <p:nvSpPr>
          <p:cNvPr id="664" name="Google Shape;664;p47"/>
          <p:cNvSpPr txBox="1"/>
          <p:nvPr/>
        </p:nvSpPr>
        <p:spPr>
          <a:xfrm>
            <a:off x="9253728" y="2212848"/>
            <a:ext cx="2368296"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pc="0" sz="1100" u="none" cap="none" strike="noStrike">
                <a:solidFill>
                  <a:srgbClr val="9DB0C2"/>
                </a:solidFill>
                <a:latin typeface="Calibri"/>
                <a:ea typeface="Calibri"/>
                <a:cs typeface="Calibri"/>
                <a:sym typeface="Calibri"/>
              </a:rPr>
              <a:t>réflexion, puis mise en commun</a:t>
            </a:r>
            <a:endParaRPr b="0" i="0" spc="0" sz="1400" u="none" cap="none" strike="noStrike">
              <a:solidFill>
                <a:srgbClr val="000000"/>
              </a:solidFill>
              <a:latin typeface="Arial"/>
              <a:ea typeface="Arial"/>
              <a:cs typeface="Arial"/>
              <a:sym typeface="Arial"/>
            </a:endParaRPr>
          </a:p>
        </p:txBody>
      </p:sp>
      <p:sp>
        <p:nvSpPr>
          <p:cNvPr id="665" name="Google Shape;665;p47"/>
          <p:cNvSpPr txBox="1"/>
          <p:nvPr/>
        </p:nvSpPr>
        <p:spPr>
          <a:xfrm>
            <a:off x="566928" y="301752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PISTES DE RÉFLEXION</a:t>
            </a:r>
            <a:endParaRPr b="0" i="0" spc="0" sz="1400" u="none" cap="none" strike="noStrike">
              <a:solidFill>
                <a:srgbClr val="000000"/>
              </a:solidFill>
              <a:latin typeface="Arial"/>
              <a:ea typeface="Arial"/>
              <a:cs typeface="Arial"/>
              <a:sym typeface="Arial"/>
            </a:endParaRPr>
          </a:p>
        </p:txBody>
      </p:sp>
      <p:sp>
        <p:nvSpPr>
          <p:cNvPr id="666" name="Google Shape;666;p47"/>
          <p:cNvSpPr/>
          <p:nvPr/>
        </p:nvSpPr>
        <p:spPr>
          <a:xfrm>
            <a:off x="566928"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7" name="Google Shape;667;p47"/>
          <p:cNvSpPr/>
          <p:nvPr/>
        </p:nvSpPr>
        <p:spPr>
          <a:xfrm>
            <a:off x="768096"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8" name="Google Shape;668;p47"/>
          <p:cNvSpPr txBox="1"/>
          <p:nvPr/>
        </p:nvSpPr>
        <p:spPr>
          <a:xfrm>
            <a:off x="768096"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669" name="Google Shape;669;p47"/>
          <p:cNvSpPr txBox="1"/>
          <p:nvPr/>
        </p:nvSpPr>
        <p:spPr>
          <a:xfrm>
            <a:off x="1344168"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Température &amp; Top-P</a:t>
            </a:r>
            <a:endParaRPr b="0" i="0" spc="0" sz="1400" u="none" cap="none" strike="noStrike">
              <a:solidFill>
                <a:srgbClr val="000000"/>
              </a:solidFill>
              <a:latin typeface="Arial"/>
              <a:ea typeface="Arial"/>
              <a:cs typeface="Arial"/>
              <a:sym typeface="Arial"/>
            </a:endParaRPr>
          </a:p>
        </p:txBody>
      </p:sp>
      <p:sp>
        <p:nvSpPr>
          <p:cNvPr id="670" name="Google Shape;670;p47"/>
          <p:cNvSpPr txBox="1"/>
          <p:nvPr/>
        </p:nvSpPr>
        <p:spPr>
          <a:xfrm>
            <a:off x="749808"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Faut-il une sortie déterministe ou créative ? Quelles valeurs pour chaque usage ?</a:t>
            </a:r>
            <a:endParaRPr b="0" i="0" spc="0" sz="1400" u="none" cap="none" strike="noStrike">
              <a:solidFill>
                <a:srgbClr val="000000"/>
              </a:solidFill>
              <a:latin typeface="Arial"/>
              <a:ea typeface="Arial"/>
              <a:cs typeface="Arial"/>
              <a:sym typeface="Arial"/>
            </a:endParaRPr>
          </a:p>
        </p:txBody>
      </p:sp>
      <p:sp>
        <p:nvSpPr>
          <p:cNvPr id="671" name="Google Shape;671;p47"/>
          <p:cNvSpPr/>
          <p:nvPr/>
        </p:nvSpPr>
        <p:spPr>
          <a:xfrm>
            <a:off x="4343400"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2" name="Google Shape;672;p47"/>
          <p:cNvSpPr/>
          <p:nvPr/>
        </p:nvSpPr>
        <p:spPr>
          <a:xfrm>
            <a:off x="4544568"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3" name="Google Shape;673;p47"/>
          <p:cNvSpPr txBox="1"/>
          <p:nvPr/>
        </p:nvSpPr>
        <p:spPr>
          <a:xfrm>
            <a:off x="4544568"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674" name="Google Shape;674;p47"/>
          <p:cNvSpPr txBox="1"/>
          <p:nvPr/>
        </p:nvSpPr>
        <p:spPr>
          <a:xfrm>
            <a:off x="5120640"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Limites d'arrêt</a:t>
            </a:r>
            <a:endParaRPr b="0" i="0" spc="0" sz="1400" u="none" cap="none" strike="noStrike">
              <a:solidFill>
                <a:srgbClr val="000000"/>
              </a:solidFill>
              <a:latin typeface="Arial"/>
              <a:ea typeface="Arial"/>
              <a:cs typeface="Arial"/>
              <a:sym typeface="Arial"/>
            </a:endParaRPr>
          </a:p>
        </p:txBody>
      </p:sp>
      <p:sp>
        <p:nvSpPr>
          <p:cNvPr id="675" name="Google Shape;675;p47"/>
          <p:cNvSpPr txBox="1"/>
          <p:nvPr/>
        </p:nvSpPr>
        <p:spPr>
          <a:xfrm>
            <a:off x="4526280"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Max tokens, stop sequences, penalties : lesquels sont utiles ici, et pourquoi ?</a:t>
            </a:r>
            <a:endParaRPr b="0" i="0" spc="0" sz="1400" u="none" cap="none" strike="noStrike">
              <a:solidFill>
                <a:srgbClr val="000000"/>
              </a:solidFill>
              <a:latin typeface="Arial"/>
              <a:ea typeface="Arial"/>
              <a:cs typeface="Arial"/>
              <a:sym typeface="Arial"/>
            </a:endParaRPr>
          </a:p>
        </p:txBody>
      </p:sp>
      <p:sp>
        <p:nvSpPr>
          <p:cNvPr id="676" name="Google Shape;676;p47"/>
          <p:cNvSpPr/>
          <p:nvPr/>
        </p:nvSpPr>
        <p:spPr>
          <a:xfrm>
            <a:off x="8119872" y="3383280"/>
            <a:ext cx="3502152"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p47"/>
          <p:cNvSpPr/>
          <p:nvPr/>
        </p:nvSpPr>
        <p:spPr>
          <a:xfrm>
            <a:off x="8321040"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8" name="Google Shape;678;p47"/>
          <p:cNvSpPr txBox="1"/>
          <p:nvPr/>
        </p:nvSpPr>
        <p:spPr>
          <a:xfrm>
            <a:off x="8321040"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679" name="Google Shape;679;p47"/>
          <p:cNvSpPr txBox="1"/>
          <p:nvPr/>
        </p:nvSpPr>
        <p:spPr>
          <a:xfrm>
            <a:off x="8897112" y="3547872"/>
            <a:ext cx="26060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Le prouver</a:t>
            </a:r>
            <a:endParaRPr b="0" i="0" spc="0" sz="1400" u="none" cap="none" strike="noStrike">
              <a:solidFill>
                <a:srgbClr val="000000"/>
              </a:solidFill>
              <a:latin typeface="Arial"/>
              <a:ea typeface="Arial"/>
              <a:cs typeface="Arial"/>
              <a:sym typeface="Arial"/>
            </a:endParaRPr>
          </a:p>
        </p:txBody>
      </p:sp>
      <p:sp>
        <p:nvSpPr>
          <p:cNvPr id="680" name="Google Shape;680;p47"/>
          <p:cNvSpPr txBox="1"/>
          <p:nvPr/>
        </p:nvSpPr>
        <p:spPr>
          <a:xfrm>
            <a:off x="8302752" y="4114800"/>
            <a:ext cx="3154680" cy="96012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Comment comparer objectivement deux réglages et garder une trace des essais ?</a:t>
            </a:r>
            <a:endParaRPr b="0" i="0" spc="0" sz="1400" u="none" cap="none" strike="noStrike">
              <a:solidFill>
                <a:srgbClr val="000000"/>
              </a:solidFill>
              <a:latin typeface="Arial"/>
              <a:ea typeface="Arial"/>
              <a:cs typeface="Arial"/>
              <a:sym typeface="Arial"/>
            </a:endParaRPr>
          </a:p>
        </p:txBody>
      </p:sp>
      <p:sp>
        <p:nvSpPr>
          <p:cNvPr id="681" name="Google Shape;681;p47"/>
          <p:cNvSpPr txBox="1"/>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682" name="Google Shape;682;p47"/>
          <p:cNvSpPr txBox="1"/>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21</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687" name="Shape 687"/>
        <p:cNvGrpSpPr/>
        <p:nvPr/>
      </p:nvGrpSpPr>
      <p:grpSpPr>
        <a:xfrm>
          <a:off x="0" y="0"/>
          <a:ext cx="0" cy="0"/>
          <a:chOff x="0" y="0"/>
          <a:chExt cx="0" cy="0"/>
        </a:xfrm>
      </p:grpSpPr>
      <p:sp>
        <p:nvSpPr>
          <p:cNvPr id="688" name="Google Shape;688;p13"/>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PROMPTING</a:t>
            </a:r>
            <a:endParaRPr b="0" i="0" spc="0" sz="1200" u="none" cap="none" strike="noStrike">
              <a:solidFill>
                <a:schemeClr val="dk1"/>
              </a:solidFill>
              <a:latin typeface="Calibri"/>
              <a:ea typeface="Calibri"/>
              <a:cs typeface="Calibri"/>
              <a:sym typeface="Calibri"/>
            </a:endParaRPr>
          </a:p>
        </p:txBody>
      </p:sp>
      <p:sp>
        <p:nvSpPr>
          <p:cNvPr id="689" name="Google Shape;689;p13"/>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Anatomie d'un bon prompt : structure &amp; clarté</a:t>
            </a:r>
            <a:endParaRPr b="0" i="0" spc="0" sz="2900" u="none" cap="none" strike="noStrike">
              <a:solidFill>
                <a:schemeClr val="dk1"/>
              </a:solidFill>
              <a:latin typeface="Calibri"/>
              <a:ea typeface="Calibri"/>
              <a:cs typeface="Calibri"/>
              <a:sym typeface="Calibri"/>
            </a:endParaRPr>
          </a:p>
        </p:txBody>
      </p:sp>
      <p:sp>
        <p:nvSpPr>
          <p:cNvPr id="690" name="Google Shape;690;p13"/>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1" name="Google Shape;691;p13"/>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692" name="Google Shape;692;p13"/>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Réduire l'ambiguïté en fournissant un rôle, un contexte, une tâche et des contraintes claires.</a:t>
            </a:r>
            <a:endParaRPr b="0" i="0" spc="0" sz="1400" u="none" cap="none" strike="noStrike">
              <a:solidFill>
                <a:schemeClr val="dk1"/>
              </a:solidFill>
              <a:latin typeface="Calibri"/>
              <a:ea typeface="Calibri"/>
              <a:cs typeface="Calibri"/>
              <a:sym typeface="Calibri"/>
            </a:endParaRPr>
          </a:p>
        </p:txBody>
      </p:sp>
      <p:sp>
        <p:nvSpPr>
          <p:cNvPr id="693" name="Google Shape;693;p13"/>
          <p:cNvSpPr/>
          <p:nvPr/>
        </p:nvSpPr>
        <p:spPr>
          <a:xfrm>
            <a:off x="566928" y="2651760"/>
            <a:ext cx="539038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4" name="Google Shape;694;p13"/>
          <p:cNvSpPr/>
          <p:nvPr/>
        </p:nvSpPr>
        <p:spPr>
          <a:xfrm>
            <a:off x="822960" y="290779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5" name="Google Shape;695;p13"/>
          <p:cNvSpPr/>
          <p:nvPr/>
        </p:nvSpPr>
        <p:spPr>
          <a:xfrm>
            <a:off x="822960" y="2907792"/>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1</a:t>
            </a:r>
            <a:endParaRPr b="0" i="0" spc="0" sz="1600" u="none" cap="none" strike="noStrike">
              <a:solidFill>
                <a:schemeClr val="dk1"/>
              </a:solidFill>
              <a:latin typeface="Calibri"/>
              <a:ea typeface="Calibri"/>
              <a:cs typeface="Calibri"/>
              <a:sym typeface="Calibri"/>
            </a:endParaRPr>
          </a:p>
        </p:txBody>
      </p:sp>
      <p:sp>
        <p:nvSpPr>
          <p:cNvPr id="696" name="Google Shape;696;p13"/>
          <p:cNvSpPr/>
          <p:nvPr/>
        </p:nvSpPr>
        <p:spPr>
          <a:xfrm>
            <a:off x="1435608" y="2871216"/>
            <a:ext cx="433882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550"/>
              <a:buFont typeface="Cambria"/>
              <a:buNone/>
            </a:pPr>
            <a:r>
              <a:rPr b="1" i="0" lang="en-US" spc="0" sz="1550" u="none" cap="none" strike="noStrike">
                <a:solidFill>
                  <a:srgbClr val="F1EADF"/>
                </a:solidFill>
                <a:latin typeface="Cambria"/>
                <a:ea typeface="Cambria"/>
                <a:cs typeface="Cambria"/>
                <a:sym typeface="Cambria"/>
              </a:rPr>
              <a:t>System Prompt - Rôle</a:t>
            </a:r>
            <a:endParaRPr b="0" i="0" spc="0" sz="1550" u="none" cap="none" strike="noStrike">
              <a:solidFill>
                <a:schemeClr val="dk1"/>
              </a:solidFill>
              <a:latin typeface="Calibri"/>
              <a:ea typeface="Calibri"/>
              <a:cs typeface="Calibri"/>
              <a:sym typeface="Calibri"/>
            </a:endParaRPr>
          </a:p>
        </p:txBody>
      </p:sp>
      <p:sp>
        <p:nvSpPr>
          <p:cNvPr id="697" name="Google Shape;697;p13"/>
          <p:cNvSpPr/>
          <p:nvPr/>
        </p:nvSpPr>
        <p:spPr>
          <a:xfrm>
            <a:off x="1435608" y="3291840"/>
            <a:ext cx="4338828"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C77B4C"/>
              </a:buClr>
              <a:buSzPts val="1200"/>
              <a:buFont typeface="Courier New"/>
              <a:buNone/>
            </a:pPr>
            <a:r>
              <a:rPr b="0" i="0" lang="en-US" spc="0" sz="1200" u="none" cap="none" strike="noStrike">
                <a:solidFill>
                  <a:srgbClr val="C77B4C"/>
                </a:solidFill>
                <a:latin typeface="Courier New"/>
                <a:ea typeface="Courier New"/>
                <a:cs typeface="Courier New"/>
                <a:sym typeface="Courier New"/>
              </a:rPr>
              <a:t>« Tu es un expert en sécurité web… »</a:t>
            </a:r>
            <a:endParaRPr b="0" i="0" spc="0" sz="1200" u="none" cap="none" strike="noStrike">
              <a:solidFill>
                <a:schemeClr val="dk1"/>
              </a:solidFill>
              <a:latin typeface="Calibri"/>
              <a:ea typeface="Calibri"/>
              <a:cs typeface="Calibri"/>
              <a:sym typeface="Calibri"/>
            </a:endParaRPr>
          </a:p>
        </p:txBody>
      </p:sp>
      <p:sp>
        <p:nvSpPr>
          <p:cNvPr id="698" name="Google Shape;698;p13"/>
          <p:cNvSpPr/>
          <p:nvPr/>
        </p:nvSpPr>
        <p:spPr>
          <a:xfrm>
            <a:off x="6231636" y="2651760"/>
            <a:ext cx="539038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9" name="Google Shape;699;p13"/>
          <p:cNvSpPr/>
          <p:nvPr/>
        </p:nvSpPr>
        <p:spPr>
          <a:xfrm>
            <a:off x="6487668" y="290779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0" name="Google Shape;700;p13"/>
          <p:cNvSpPr/>
          <p:nvPr/>
        </p:nvSpPr>
        <p:spPr>
          <a:xfrm>
            <a:off x="6487668" y="2907792"/>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2</a:t>
            </a:r>
            <a:endParaRPr b="0" i="0" spc="0" sz="1600" u="none" cap="none" strike="noStrike">
              <a:solidFill>
                <a:schemeClr val="dk1"/>
              </a:solidFill>
              <a:latin typeface="Calibri"/>
              <a:ea typeface="Calibri"/>
              <a:cs typeface="Calibri"/>
              <a:sym typeface="Calibri"/>
            </a:endParaRPr>
          </a:p>
        </p:txBody>
      </p:sp>
      <p:sp>
        <p:nvSpPr>
          <p:cNvPr id="701" name="Google Shape;701;p13"/>
          <p:cNvSpPr/>
          <p:nvPr/>
        </p:nvSpPr>
        <p:spPr>
          <a:xfrm>
            <a:off x="7100316" y="2871216"/>
            <a:ext cx="433882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550"/>
              <a:buFont typeface="Cambria"/>
              <a:buNone/>
            </a:pPr>
            <a:r>
              <a:rPr b="1" i="0" lang="en-US" spc="0" sz="1550" u="none" cap="none" strike="noStrike">
                <a:solidFill>
                  <a:srgbClr val="F1EADF"/>
                </a:solidFill>
                <a:latin typeface="Cambria"/>
                <a:ea typeface="Cambria"/>
                <a:cs typeface="Cambria"/>
                <a:sym typeface="Cambria"/>
              </a:rPr>
              <a:t>Contexte</a:t>
            </a:r>
            <a:endParaRPr b="0" i="0" spc="0" sz="1550" u="none" cap="none" strike="noStrike">
              <a:solidFill>
                <a:schemeClr val="dk1"/>
              </a:solidFill>
              <a:latin typeface="Calibri"/>
              <a:ea typeface="Calibri"/>
              <a:cs typeface="Calibri"/>
              <a:sym typeface="Calibri"/>
            </a:endParaRPr>
          </a:p>
        </p:txBody>
      </p:sp>
      <p:sp>
        <p:nvSpPr>
          <p:cNvPr id="702" name="Google Shape;702;p13"/>
          <p:cNvSpPr/>
          <p:nvPr/>
        </p:nvSpPr>
        <p:spPr>
          <a:xfrm>
            <a:off x="7100316" y="3291840"/>
            <a:ext cx="4338828"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C77B4C"/>
              </a:buClr>
              <a:buSzPts val="1200"/>
              <a:buFont typeface="Courier New"/>
              <a:buNone/>
            </a:pPr>
            <a:r>
              <a:rPr b="0" i="0" lang="en-US" spc="0" sz="1200" u="none" cap="none" strike="noStrike">
                <a:solidFill>
                  <a:srgbClr val="C77B4C"/>
                </a:solidFill>
                <a:latin typeface="Courier New"/>
                <a:ea typeface="Courier New"/>
                <a:cs typeface="Courier New"/>
                <a:sym typeface="Courier New"/>
              </a:rPr>
              <a:t>« Voici le code du contrôleur… »</a:t>
            </a:r>
            <a:endParaRPr b="0" i="0" spc="0" sz="1200" u="none" cap="none" strike="noStrike">
              <a:solidFill>
                <a:schemeClr val="dk1"/>
              </a:solidFill>
              <a:latin typeface="Calibri"/>
              <a:ea typeface="Calibri"/>
              <a:cs typeface="Calibri"/>
              <a:sym typeface="Calibri"/>
            </a:endParaRPr>
          </a:p>
        </p:txBody>
      </p:sp>
      <p:sp>
        <p:nvSpPr>
          <p:cNvPr id="703" name="Google Shape;703;p13"/>
          <p:cNvSpPr/>
          <p:nvPr/>
        </p:nvSpPr>
        <p:spPr>
          <a:xfrm>
            <a:off x="566928" y="4160520"/>
            <a:ext cx="539038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4" name="Google Shape;704;p13"/>
          <p:cNvSpPr/>
          <p:nvPr/>
        </p:nvSpPr>
        <p:spPr>
          <a:xfrm>
            <a:off x="822960" y="441655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5" name="Google Shape;705;p13"/>
          <p:cNvSpPr/>
          <p:nvPr/>
        </p:nvSpPr>
        <p:spPr>
          <a:xfrm>
            <a:off x="822960" y="4416552"/>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3</a:t>
            </a:r>
            <a:endParaRPr b="0" i="0" spc="0" sz="1600" u="none" cap="none" strike="noStrike">
              <a:solidFill>
                <a:schemeClr val="dk1"/>
              </a:solidFill>
              <a:latin typeface="Calibri"/>
              <a:ea typeface="Calibri"/>
              <a:cs typeface="Calibri"/>
              <a:sym typeface="Calibri"/>
            </a:endParaRPr>
          </a:p>
        </p:txBody>
      </p:sp>
      <p:sp>
        <p:nvSpPr>
          <p:cNvPr id="706" name="Google Shape;706;p13"/>
          <p:cNvSpPr/>
          <p:nvPr/>
        </p:nvSpPr>
        <p:spPr>
          <a:xfrm>
            <a:off x="1435608" y="4379976"/>
            <a:ext cx="433882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550"/>
              <a:buFont typeface="Cambria"/>
              <a:buNone/>
            </a:pPr>
            <a:r>
              <a:rPr b="1" i="0" lang="en-US" spc="0" sz="1550" u="none" cap="none" strike="noStrike">
                <a:solidFill>
                  <a:srgbClr val="F1EADF"/>
                </a:solidFill>
                <a:latin typeface="Cambria"/>
                <a:ea typeface="Cambria"/>
                <a:cs typeface="Cambria"/>
                <a:sym typeface="Cambria"/>
              </a:rPr>
              <a:t>Tâche</a:t>
            </a:r>
            <a:endParaRPr b="0" i="0" spc="0" sz="1550" u="none" cap="none" strike="noStrike">
              <a:solidFill>
                <a:schemeClr val="dk1"/>
              </a:solidFill>
              <a:latin typeface="Calibri"/>
              <a:ea typeface="Calibri"/>
              <a:cs typeface="Calibri"/>
              <a:sym typeface="Calibri"/>
            </a:endParaRPr>
          </a:p>
        </p:txBody>
      </p:sp>
      <p:sp>
        <p:nvSpPr>
          <p:cNvPr id="707" name="Google Shape;707;p13"/>
          <p:cNvSpPr/>
          <p:nvPr/>
        </p:nvSpPr>
        <p:spPr>
          <a:xfrm>
            <a:off x="1435608" y="4800600"/>
            <a:ext cx="4338828"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C77B4C"/>
              </a:buClr>
              <a:buSzPts val="1200"/>
              <a:buFont typeface="Courier New"/>
              <a:buNone/>
            </a:pPr>
            <a:r>
              <a:rPr b="0" i="0" lang="en-US" spc="0" sz="1200" u="none" cap="none" strike="noStrike">
                <a:solidFill>
                  <a:srgbClr val="C77B4C"/>
                </a:solidFill>
                <a:latin typeface="Courier New"/>
                <a:ea typeface="Courier New"/>
                <a:cs typeface="Courier New"/>
                <a:sym typeface="Courier New"/>
              </a:rPr>
              <a:t>« Identifie les failles OWASP… »</a:t>
            </a:r>
            <a:endParaRPr b="0" i="0" spc="0" sz="1200" u="none" cap="none" strike="noStrike">
              <a:solidFill>
                <a:schemeClr val="dk1"/>
              </a:solidFill>
              <a:latin typeface="Calibri"/>
              <a:ea typeface="Calibri"/>
              <a:cs typeface="Calibri"/>
              <a:sym typeface="Calibri"/>
            </a:endParaRPr>
          </a:p>
        </p:txBody>
      </p:sp>
      <p:sp>
        <p:nvSpPr>
          <p:cNvPr id="708" name="Google Shape;708;p13"/>
          <p:cNvSpPr/>
          <p:nvPr/>
        </p:nvSpPr>
        <p:spPr>
          <a:xfrm>
            <a:off x="6231636" y="4160520"/>
            <a:ext cx="5390388" cy="1371600"/>
          </a:xfrm>
          <a:prstGeom prst="roundRect">
            <a:avLst>
              <a:gd fmla="val 5333"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p13"/>
          <p:cNvSpPr/>
          <p:nvPr/>
        </p:nvSpPr>
        <p:spPr>
          <a:xfrm>
            <a:off x="6487668" y="441655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0" name="Google Shape;710;p13"/>
          <p:cNvSpPr/>
          <p:nvPr/>
        </p:nvSpPr>
        <p:spPr>
          <a:xfrm>
            <a:off x="6487668" y="4416552"/>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600"/>
              <a:buFont typeface="Cambria"/>
              <a:buNone/>
            </a:pPr>
            <a:r>
              <a:rPr b="1" i="0" lang="en-US" spc="0" sz="1600" u="none" cap="none" strike="noStrike">
                <a:solidFill>
                  <a:srgbClr val="112536"/>
                </a:solidFill>
                <a:latin typeface="Cambria"/>
                <a:ea typeface="Cambria"/>
                <a:cs typeface="Cambria"/>
                <a:sym typeface="Cambria"/>
              </a:rPr>
              <a:t>4</a:t>
            </a:r>
            <a:endParaRPr b="0" i="0" spc="0" sz="1600" u="none" cap="none" strike="noStrike">
              <a:solidFill>
                <a:schemeClr val="dk1"/>
              </a:solidFill>
              <a:latin typeface="Calibri"/>
              <a:ea typeface="Calibri"/>
              <a:cs typeface="Calibri"/>
              <a:sym typeface="Calibri"/>
            </a:endParaRPr>
          </a:p>
        </p:txBody>
      </p:sp>
      <p:sp>
        <p:nvSpPr>
          <p:cNvPr id="711" name="Google Shape;711;p13"/>
          <p:cNvSpPr/>
          <p:nvPr/>
        </p:nvSpPr>
        <p:spPr>
          <a:xfrm>
            <a:off x="7100316" y="4379976"/>
            <a:ext cx="433882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550"/>
              <a:buFont typeface="Cambria"/>
              <a:buNone/>
            </a:pPr>
            <a:r>
              <a:rPr b="1" i="0" lang="en-US" spc="0" sz="1550" u="none" cap="none" strike="noStrike">
                <a:solidFill>
                  <a:srgbClr val="F1EADF"/>
                </a:solidFill>
                <a:latin typeface="Cambria"/>
                <a:ea typeface="Cambria"/>
                <a:cs typeface="Cambria"/>
                <a:sym typeface="Cambria"/>
              </a:rPr>
              <a:t>Format de sortie</a:t>
            </a:r>
            <a:endParaRPr b="0" i="0" spc="0" sz="1550" u="none" cap="none" strike="noStrike">
              <a:solidFill>
                <a:schemeClr val="dk1"/>
              </a:solidFill>
              <a:latin typeface="Calibri"/>
              <a:ea typeface="Calibri"/>
              <a:cs typeface="Calibri"/>
              <a:sym typeface="Calibri"/>
            </a:endParaRPr>
          </a:p>
        </p:txBody>
      </p:sp>
      <p:sp>
        <p:nvSpPr>
          <p:cNvPr id="712" name="Google Shape;712;p13"/>
          <p:cNvSpPr/>
          <p:nvPr/>
        </p:nvSpPr>
        <p:spPr>
          <a:xfrm>
            <a:off x="7100316" y="4800600"/>
            <a:ext cx="4338828"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C77B4C"/>
              </a:buClr>
              <a:buSzPts val="1200"/>
              <a:buFont typeface="Courier New"/>
              <a:buNone/>
            </a:pPr>
            <a:r>
              <a:rPr b="0" i="0" lang="en-US" spc="0" sz="1200" u="none" cap="none" strike="noStrike">
                <a:solidFill>
                  <a:srgbClr val="C77B4C"/>
                </a:solidFill>
                <a:latin typeface="Courier New"/>
                <a:ea typeface="Courier New"/>
                <a:cs typeface="Courier New"/>
                <a:sym typeface="Courier New"/>
              </a:rPr>
              <a:t>« JSON avec clés vulnerability et remediation »</a:t>
            </a:r>
            <a:endParaRPr b="0" i="0" spc="0" sz="1200" u="none" cap="none" strike="noStrike">
              <a:solidFill>
                <a:schemeClr val="dk1"/>
              </a:solidFill>
              <a:latin typeface="Calibri"/>
              <a:ea typeface="Calibri"/>
              <a:cs typeface="Calibri"/>
              <a:sym typeface="Calibri"/>
            </a:endParaRPr>
          </a:p>
        </p:txBody>
      </p:sp>
      <p:sp>
        <p:nvSpPr>
          <p:cNvPr id="713" name="Google Shape;713;p13"/>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714" name="Google Shape;714;p13"/>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22</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719" name="Shape 719"/>
        <p:cNvGrpSpPr/>
        <p:nvPr/>
      </p:nvGrpSpPr>
      <p:grpSpPr>
        <a:xfrm>
          <a:off x="0" y="0"/>
          <a:ext cx="0" cy="0"/>
          <a:chOff x="0" y="0"/>
          <a:chExt cx="0" cy="0"/>
        </a:xfrm>
      </p:grpSpPr>
      <p:sp>
        <p:nvSpPr>
          <p:cNvPr id="720" name="Google Shape;720;p14"/>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PROMPTING</a:t>
            </a:r>
            <a:endParaRPr b="0" i="0" spc="0" sz="1200" u="none" cap="none" strike="noStrike">
              <a:solidFill>
                <a:schemeClr val="dk1"/>
              </a:solidFill>
              <a:latin typeface="Calibri"/>
              <a:ea typeface="Calibri"/>
              <a:cs typeface="Calibri"/>
              <a:sym typeface="Calibri"/>
            </a:endParaRPr>
          </a:p>
        </p:txBody>
      </p:sp>
      <p:sp>
        <p:nvSpPr>
          <p:cNvPr id="721" name="Google Shape;721;p14"/>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Techniques avancées - Few-Shot &amp; Chain-of-Thought</a:t>
            </a:r>
            <a:endParaRPr b="0" i="0" spc="0" sz="2900" u="none" cap="none" strike="noStrike">
              <a:solidFill>
                <a:schemeClr val="dk1"/>
              </a:solidFill>
              <a:latin typeface="Calibri"/>
              <a:ea typeface="Calibri"/>
              <a:cs typeface="Calibri"/>
              <a:sym typeface="Calibri"/>
            </a:endParaRPr>
          </a:p>
        </p:txBody>
      </p:sp>
      <p:sp>
        <p:nvSpPr>
          <p:cNvPr id="722" name="Google Shape;722;p14"/>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3" name="Google Shape;723;p14"/>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724" name="Google Shape;724;p14"/>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Guider le modèle par l'exemple et par la décomposition logique du raisonnement.</a:t>
            </a:r>
            <a:endParaRPr b="0" i="0" spc="0" sz="1400" u="none" cap="none" strike="noStrike">
              <a:solidFill>
                <a:schemeClr val="dk1"/>
              </a:solidFill>
              <a:latin typeface="Calibri"/>
              <a:ea typeface="Calibri"/>
              <a:cs typeface="Calibri"/>
              <a:sym typeface="Calibri"/>
            </a:endParaRPr>
          </a:p>
        </p:txBody>
      </p:sp>
      <p:sp>
        <p:nvSpPr>
          <p:cNvPr id="725" name="Google Shape;725;p14"/>
          <p:cNvSpPr/>
          <p:nvPr/>
        </p:nvSpPr>
        <p:spPr>
          <a:xfrm>
            <a:off x="566928" y="2743200"/>
            <a:ext cx="5298948" cy="260604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6" name="Google Shape;726;p14"/>
          <p:cNvSpPr/>
          <p:nvPr/>
        </p:nvSpPr>
        <p:spPr>
          <a:xfrm>
            <a:off x="886968" y="3017520"/>
            <a:ext cx="465886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800"/>
              <a:buFont typeface="Cambria"/>
              <a:buNone/>
            </a:pPr>
            <a:r>
              <a:rPr b="1" i="0" lang="en-US" spc="0" sz="1800" u="none" cap="none" strike="noStrike">
                <a:solidFill>
                  <a:srgbClr val="C77B4C"/>
                </a:solidFill>
                <a:latin typeface="Cambria"/>
                <a:ea typeface="Cambria"/>
                <a:cs typeface="Cambria"/>
                <a:sym typeface="Cambria"/>
              </a:rPr>
              <a:t>Few-Shot Prompting</a:t>
            </a:r>
            <a:endParaRPr b="0" i="0" spc="0" sz="1800" u="none" cap="none" strike="noStrike">
              <a:solidFill>
                <a:schemeClr val="dk1"/>
              </a:solidFill>
              <a:latin typeface="Calibri"/>
              <a:ea typeface="Calibri"/>
              <a:cs typeface="Calibri"/>
              <a:sym typeface="Calibri"/>
            </a:endParaRPr>
          </a:p>
        </p:txBody>
      </p:sp>
      <p:sp>
        <p:nvSpPr>
          <p:cNvPr id="727" name="Google Shape;727;p14"/>
          <p:cNvSpPr/>
          <p:nvPr/>
        </p:nvSpPr>
        <p:spPr>
          <a:xfrm>
            <a:off x="886968" y="3611880"/>
            <a:ext cx="4658868" cy="155448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Fournir 1 à 3 exemples de paires (Entrée → Sortie)</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Directement dans le prompt</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Objectif : verrouiller le format de sortie</a:t>
            </a:r>
            <a:endParaRPr b="0" i="0" spc="0" sz="1400" u="none" cap="none" strike="noStrike">
              <a:solidFill>
                <a:schemeClr val="dk1"/>
              </a:solidFill>
              <a:latin typeface="Calibri"/>
              <a:ea typeface="Calibri"/>
              <a:cs typeface="Calibri"/>
              <a:sym typeface="Calibri"/>
            </a:endParaRPr>
          </a:p>
        </p:txBody>
      </p:sp>
      <p:sp>
        <p:nvSpPr>
          <p:cNvPr id="728" name="Google Shape;728;p14"/>
          <p:cNvSpPr/>
          <p:nvPr/>
        </p:nvSpPr>
        <p:spPr>
          <a:xfrm>
            <a:off x="6323076" y="2743200"/>
            <a:ext cx="5298948" cy="260604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9" name="Google Shape;729;p14"/>
          <p:cNvSpPr/>
          <p:nvPr/>
        </p:nvSpPr>
        <p:spPr>
          <a:xfrm>
            <a:off x="6643116" y="3017520"/>
            <a:ext cx="4658868" cy="4114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800"/>
              <a:buFont typeface="Cambria"/>
              <a:buNone/>
            </a:pPr>
            <a:r>
              <a:rPr b="1" i="0" lang="en-US" spc="0" sz="1800" u="none" cap="none" strike="noStrike">
                <a:solidFill>
                  <a:srgbClr val="C77B4C"/>
                </a:solidFill>
                <a:latin typeface="Cambria"/>
                <a:ea typeface="Cambria"/>
                <a:cs typeface="Cambria"/>
                <a:sym typeface="Cambria"/>
              </a:rPr>
              <a:t>Chain-of-Thought (CoT)</a:t>
            </a:r>
            <a:endParaRPr b="0" i="0" spc="0" sz="1800" u="none" cap="none" strike="noStrike">
              <a:solidFill>
                <a:schemeClr val="dk1"/>
              </a:solidFill>
              <a:latin typeface="Calibri"/>
              <a:ea typeface="Calibri"/>
              <a:cs typeface="Calibri"/>
              <a:sym typeface="Calibri"/>
            </a:endParaRPr>
          </a:p>
        </p:txBody>
      </p:sp>
      <p:sp>
        <p:nvSpPr>
          <p:cNvPr id="730" name="Google Shape;730;p14"/>
          <p:cNvSpPr/>
          <p:nvPr/>
        </p:nvSpPr>
        <p:spPr>
          <a:xfrm>
            <a:off x="6643116" y="3611880"/>
            <a:ext cx="4658868" cy="155448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Ajouter « Pense étape par étape »</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Force la génération de tokens de raisonnement</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…avant de produire la réponse finale</a:t>
            </a:r>
            <a:endParaRPr b="0" i="0" spc="0" sz="1400" u="none" cap="none" strike="noStrike">
              <a:solidFill>
                <a:schemeClr val="dk1"/>
              </a:solidFill>
              <a:latin typeface="Calibri"/>
              <a:ea typeface="Calibri"/>
              <a:cs typeface="Calibri"/>
              <a:sym typeface="Calibri"/>
            </a:endParaRPr>
          </a:p>
        </p:txBody>
      </p:sp>
      <p:sp>
        <p:nvSpPr>
          <p:cNvPr id="731" name="Google Shape;731;p14"/>
          <p:cNvSpPr/>
          <p:nvPr/>
        </p:nvSpPr>
        <p:spPr>
          <a:xfrm>
            <a:off x="566928" y="598932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Wei et al. (2022), Chain-of-Thought Prompting -  </a:t>
            </a:r>
            <a:r>
              <a:rPr b="0" i="1" lang="en-US" spc="0" sz="1050" u="sng" cap="none" strike="noStrike">
                <a:solidFill>
                  <a:schemeClr val="hlink"/>
                </a:solidFill>
                <a:latin typeface="Calibri"/>
                <a:ea typeface="Calibri"/>
                <a:cs typeface="Calibri"/>
                <a:sym typeface="Calibri"/>
                <a:hlinkClick r:id="rId3"/>
              </a:rPr>
              <a:t>https://arxiv.org/abs/2201.11903</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732" name="Google Shape;732;p14"/>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733" name="Google Shape;733;p14"/>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23</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738" name="Shape 738"/>
        <p:cNvGrpSpPr/>
        <p:nvPr/>
      </p:nvGrpSpPr>
      <p:grpSpPr>
        <a:xfrm>
          <a:off x="0" y="0"/>
          <a:ext cx="0" cy="0"/>
          <a:chOff x="0" y="0"/>
          <a:chExt cx="0" cy="0"/>
        </a:xfrm>
      </p:grpSpPr>
      <p:sp>
        <p:nvSpPr>
          <p:cNvPr id="739" name="Google Shape;739;p15"/>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LIMITES</a:t>
            </a:r>
            <a:endParaRPr b="0" i="0" spc="0" sz="1200" u="none" cap="none" strike="noStrike">
              <a:solidFill>
                <a:schemeClr val="dk1"/>
              </a:solidFill>
              <a:latin typeface="Calibri"/>
              <a:ea typeface="Calibri"/>
              <a:cs typeface="Calibri"/>
              <a:sym typeface="Calibri"/>
            </a:endParaRPr>
          </a:p>
        </p:txBody>
      </p:sp>
      <p:sp>
        <p:nvSpPr>
          <p:cNvPr id="740" name="Google Shape;740;p15"/>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Les limites intrinsèques - hallucinations &amp; obsolescence</a:t>
            </a:r>
            <a:endParaRPr b="0" i="0" spc="0" sz="2900" u="none" cap="none" strike="noStrike">
              <a:solidFill>
                <a:schemeClr val="dk1"/>
              </a:solidFill>
              <a:latin typeface="Calibri"/>
              <a:ea typeface="Calibri"/>
              <a:cs typeface="Calibri"/>
              <a:sym typeface="Calibri"/>
            </a:endParaRPr>
          </a:p>
        </p:txBody>
      </p:sp>
      <p:sp>
        <p:nvSpPr>
          <p:cNvPr id="741" name="Google Shape;741;p15"/>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2" name="Google Shape;742;p15"/>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743" name="Google Shape;743;p15"/>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Un LLM ne possède pas d'accès natif à la vérité factuelle ni aux données en temps réel.</a:t>
            </a:r>
            <a:endParaRPr b="0" i="0" spc="0" sz="1400" u="none" cap="none" strike="noStrike">
              <a:solidFill>
                <a:schemeClr val="dk1"/>
              </a:solidFill>
              <a:latin typeface="Calibri"/>
              <a:ea typeface="Calibri"/>
              <a:cs typeface="Calibri"/>
              <a:sym typeface="Calibri"/>
            </a:endParaRPr>
          </a:p>
        </p:txBody>
      </p:sp>
      <p:sp>
        <p:nvSpPr>
          <p:cNvPr id="744" name="Google Shape;744;p15"/>
          <p:cNvSpPr/>
          <p:nvPr/>
        </p:nvSpPr>
        <p:spPr>
          <a:xfrm>
            <a:off x="566928" y="2743200"/>
            <a:ext cx="5298948" cy="1874520"/>
          </a:xfrm>
          <a:prstGeom prst="roundRect">
            <a:avLst>
              <a:gd fmla="val 3902" name="adj"/>
            </a:avLst>
          </a:prstGeom>
          <a:solidFill>
            <a:srgbClr val="33231F"/>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p15"/>
          <p:cNvSpPr/>
          <p:nvPr/>
        </p:nvSpPr>
        <p:spPr>
          <a:xfrm>
            <a:off x="886968" y="2999232"/>
            <a:ext cx="46588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6C6C"/>
              </a:buClr>
              <a:buSzPts val="1700"/>
              <a:buFont typeface="Cambria"/>
              <a:buNone/>
            </a:pPr>
            <a:r>
              <a:rPr b="1" i="0" lang="en-US" spc="0" sz="1700" u="none" cap="none" strike="noStrike">
                <a:solidFill>
                  <a:srgbClr val="C56C6C"/>
                </a:solidFill>
                <a:latin typeface="Cambria"/>
                <a:ea typeface="Cambria"/>
                <a:cs typeface="Cambria"/>
                <a:sym typeface="Cambria"/>
              </a:rPr>
              <a:t>Hallucination</a:t>
            </a:r>
            <a:endParaRPr b="0" i="0" spc="0" sz="1700" u="none" cap="none" strike="noStrike">
              <a:solidFill>
                <a:schemeClr val="dk1"/>
              </a:solidFill>
              <a:latin typeface="Calibri"/>
              <a:ea typeface="Calibri"/>
              <a:cs typeface="Calibri"/>
              <a:sym typeface="Calibri"/>
            </a:endParaRPr>
          </a:p>
        </p:txBody>
      </p:sp>
      <p:sp>
        <p:nvSpPr>
          <p:cNvPr id="746" name="Google Shape;746;p15"/>
          <p:cNvSpPr/>
          <p:nvPr/>
        </p:nvSpPr>
        <p:spPr>
          <a:xfrm>
            <a:off x="886968" y="3493008"/>
            <a:ext cx="4658868"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Génération fluide de textes factuellement faux mais plausibles.</a:t>
            </a:r>
            <a:endParaRPr b="0" i="0" spc="0" sz="1350" u="none" cap="none" strike="noStrike">
              <a:solidFill>
                <a:schemeClr val="dk1"/>
              </a:solidFill>
              <a:latin typeface="Calibri"/>
              <a:ea typeface="Calibri"/>
              <a:cs typeface="Calibri"/>
              <a:sym typeface="Calibri"/>
            </a:endParaRPr>
          </a:p>
        </p:txBody>
      </p:sp>
      <p:sp>
        <p:nvSpPr>
          <p:cNvPr id="747" name="Google Shape;747;p15"/>
          <p:cNvSpPr/>
          <p:nvPr/>
        </p:nvSpPr>
        <p:spPr>
          <a:xfrm>
            <a:off x="6323076" y="2743200"/>
            <a:ext cx="5298948" cy="1874520"/>
          </a:xfrm>
          <a:prstGeom prst="roundRect">
            <a:avLst>
              <a:gd fmla="val 3902" name="adj"/>
            </a:avLst>
          </a:prstGeom>
          <a:solidFill>
            <a:srgbClr val="33231F"/>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8" name="Google Shape;748;p15"/>
          <p:cNvSpPr/>
          <p:nvPr/>
        </p:nvSpPr>
        <p:spPr>
          <a:xfrm>
            <a:off x="6643116" y="2999232"/>
            <a:ext cx="46588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6C6C"/>
              </a:buClr>
              <a:buSzPts val="1700"/>
              <a:buFont typeface="Cambria"/>
              <a:buNone/>
            </a:pPr>
            <a:r>
              <a:rPr b="1" i="0" lang="en-US" spc="0" sz="1700" u="none" cap="none" strike="noStrike">
                <a:solidFill>
                  <a:srgbClr val="C56C6C"/>
                </a:solidFill>
                <a:latin typeface="Cambria"/>
                <a:ea typeface="Cambria"/>
                <a:cs typeface="Cambria"/>
                <a:sym typeface="Cambria"/>
              </a:rPr>
              <a:t>Knowledge Cutoff</a:t>
            </a:r>
            <a:endParaRPr b="0" i="0" spc="0" sz="1700" u="none" cap="none" strike="noStrike">
              <a:solidFill>
                <a:schemeClr val="dk1"/>
              </a:solidFill>
              <a:latin typeface="Calibri"/>
              <a:ea typeface="Calibri"/>
              <a:cs typeface="Calibri"/>
              <a:sym typeface="Calibri"/>
            </a:endParaRPr>
          </a:p>
        </p:txBody>
      </p:sp>
      <p:sp>
        <p:nvSpPr>
          <p:cNvPr id="749" name="Google Shape;749;p15"/>
          <p:cNvSpPr/>
          <p:nvPr/>
        </p:nvSpPr>
        <p:spPr>
          <a:xfrm>
            <a:off x="6643116" y="3493008"/>
            <a:ext cx="4658868" cy="9144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La connaissance du modèle s'arrête à la fin de son pré-entraînement (figeage).</a:t>
            </a:r>
            <a:endParaRPr b="0" i="0" spc="0" sz="1350" u="none" cap="none" strike="noStrike">
              <a:solidFill>
                <a:schemeClr val="dk1"/>
              </a:solidFill>
              <a:latin typeface="Calibri"/>
              <a:ea typeface="Calibri"/>
              <a:cs typeface="Calibri"/>
              <a:sym typeface="Calibri"/>
            </a:endParaRPr>
          </a:p>
        </p:txBody>
      </p:sp>
      <p:sp>
        <p:nvSpPr>
          <p:cNvPr id="750" name="Google Shape;750;p15"/>
          <p:cNvSpPr/>
          <p:nvPr/>
        </p:nvSpPr>
        <p:spPr>
          <a:xfrm>
            <a:off x="566928" y="4846320"/>
            <a:ext cx="11055096" cy="960120"/>
          </a:xfrm>
          <a:prstGeom prst="roundRect">
            <a:avLst>
              <a:gd fmla="val 7619" name="adj"/>
            </a:avLst>
          </a:prstGeom>
          <a:solidFill>
            <a:srgbClr val="1E3A24"/>
          </a:solidFill>
          <a:ln cap="flat" cmpd="sng" w="12700">
            <a:solidFill>
              <a:srgbClr val="7FB0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1" name="Google Shape;751;p15"/>
          <p:cNvSpPr/>
          <p:nvPr/>
        </p:nvSpPr>
        <p:spPr>
          <a:xfrm>
            <a:off x="886968" y="4846320"/>
            <a:ext cx="10415016"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1500"/>
              <a:buFont typeface="Calibri"/>
              <a:buNone/>
            </a:pPr>
            <a:r>
              <a:rPr b="1" i="0" lang="en-US" spc="0" sz="1500" u="none" cap="none" strike="noStrike">
                <a:solidFill>
                  <a:srgbClr val="7FB08A"/>
                </a:solidFill>
                <a:latin typeface="Calibri"/>
                <a:ea typeface="Calibri"/>
                <a:cs typeface="Calibri"/>
                <a:sym typeface="Calibri"/>
              </a:rPr>
              <a:t>Solution   </a:t>
            </a:r>
            <a:r>
              <a:rPr b="0" i="0" lang="en-US" spc="0" sz="1500" u="none" cap="none" strike="noStrike">
                <a:solidFill>
                  <a:srgbClr val="F1EADF"/>
                </a:solidFill>
                <a:latin typeface="Calibri"/>
                <a:ea typeface="Calibri"/>
                <a:cs typeface="Calibri"/>
                <a:sym typeface="Calibri"/>
              </a:rPr>
              <a:t>Une architecture RAG pour injecter du contexte externe vérifiable et à jour.</a:t>
            </a:r>
            <a:endParaRPr b="0" i="0" spc="0" sz="1500" u="none" cap="none" strike="noStrike">
              <a:solidFill>
                <a:schemeClr val="dk1"/>
              </a:solidFill>
              <a:latin typeface="Calibri"/>
              <a:ea typeface="Calibri"/>
              <a:cs typeface="Calibri"/>
              <a:sym typeface="Calibri"/>
            </a:endParaRPr>
          </a:p>
        </p:txBody>
      </p:sp>
      <p:sp>
        <p:nvSpPr>
          <p:cNvPr id="752" name="Google Shape;752;p15"/>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753" name="Google Shape;753;p15"/>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24</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758" name="Shape 758"/>
        <p:cNvGrpSpPr/>
        <p:nvPr/>
      </p:nvGrpSpPr>
      <p:grpSpPr>
        <a:xfrm>
          <a:off x="0" y="0"/>
          <a:ext cx="0" cy="0"/>
          <a:chOff x="0" y="0"/>
          <a:chExt cx="0" cy="0"/>
        </a:xfrm>
      </p:grpSpPr>
      <p:sp>
        <p:nvSpPr>
          <p:cNvPr id="759" name="Google Shape;759;p16"/>
          <p:cNvSpPr/>
          <p:nvPr/>
        </p:nvSpPr>
        <p:spPr>
          <a:xfrm>
            <a:off x="566928" y="2286000"/>
            <a:ext cx="11055096"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500"/>
              <a:buFont typeface="Calibri"/>
              <a:buNone/>
            </a:pPr>
            <a:r>
              <a:rPr b="1" i="0" lang="en-US" spc="0" sz="1500" u="none" cap="none" strike="noStrike">
                <a:solidFill>
                  <a:srgbClr val="C77B4C"/>
                </a:solidFill>
                <a:latin typeface="Calibri"/>
                <a:ea typeface="Calibri"/>
                <a:cs typeface="Calibri"/>
                <a:sym typeface="Calibri"/>
              </a:rPr>
              <a:t>PARTIE 2</a:t>
            </a:r>
            <a:endParaRPr b="0" i="0" spc="0" sz="1500" u="none" cap="none" strike="noStrike">
              <a:solidFill>
                <a:schemeClr val="dk1"/>
              </a:solidFill>
              <a:latin typeface="Calibri"/>
              <a:ea typeface="Calibri"/>
              <a:cs typeface="Calibri"/>
              <a:sym typeface="Calibri"/>
            </a:endParaRPr>
          </a:p>
        </p:txBody>
      </p:sp>
      <p:sp>
        <p:nvSpPr>
          <p:cNvPr id="760" name="Google Shape;760;p16"/>
          <p:cNvSpPr/>
          <p:nvPr/>
        </p:nvSpPr>
        <p:spPr>
          <a:xfrm>
            <a:off x="566928" y="2697480"/>
            <a:ext cx="11055096" cy="10058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4200"/>
              <a:buFont typeface="Cambria"/>
              <a:buNone/>
            </a:pPr>
            <a:r>
              <a:rPr b="1" i="0" lang="en-US" spc="0" sz="4200" u="none" cap="none" strike="noStrike">
                <a:solidFill>
                  <a:srgbClr val="F1EADF"/>
                </a:solidFill>
                <a:latin typeface="Cambria"/>
                <a:ea typeface="Cambria"/>
                <a:cs typeface="Cambria"/>
                <a:sym typeface="Cambria"/>
              </a:rPr>
              <a:t>Architecture RAG</a:t>
            </a:r>
            <a:endParaRPr b="0" i="0" spc="0" sz="4200" u="none" cap="none" strike="noStrike">
              <a:solidFill>
                <a:schemeClr val="dk1"/>
              </a:solidFill>
              <a:latin typeface="Calibri"/>
              <a:ea typeface="Calibri"/>
              <a:cs typeface="Calibri"/>
              <a:sym typeface="Calibri"/>
            </a:endParaRPr>
          </a:p>
        </p:txBody>
      </p:sp>
      <p:sp>
        <p:nvSpPr>
          <p:cNvPr id="761" name="Google Shape;761;p16"/>
          <p:cNvSpPr/>
          <p:nvPr/>
        </p:nvSpPr>
        <p:spPr>
          <a:xfrm>
            <a:off x="566928" y="3794760"/>
            <a:ext cx="83118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DB0C2"/>
              </a:buClr>
              <a:buSzPts val="1500"/>
              <a:buFont typeface="Calibri"/>
              <a:buNone/>
            </a:pPr>
            <a:r>
              <a:rPr b="0" i="0" lang="en-US" spc="0" sz="1500" u="none" cap="none" strike="noStrike">
                <a:solidFill>
                  <a:srgbClr val="9DB0C2"/>
                </a:solidFill>
                <a:latin typeface="Calibri"/>
                <a:ea typeface="Calibri"/>
                <a:cs typeface="Calibri"/>
                <a:sym typeface="Calibri"/>
              </a:rPr>
              <a:t>Retrieval-Augmented Generation : ancrer le modèle dans une base de connaissances vérifiable.</a:t>
            </a:r>
            <a:endParaRPr b="0" i="0" spc="0" sz="1500" u="none" cap="none" strike="noStrike">
              <a:solidFill>
                <a:schemeClr val="dk1"/>
              </a:solidFill>
              <a:latin typeface="Calibri"/>
              <a:ea typeface="Calibri"/>
              <a:cs typeface="Calibri"/>
              <a:sym typeface="Calibri"/>
            </a:endParaRPr>
          </a:p>
        </p:txBody>
      </p:sp>
      <p:sp>
        <p:nvSpPr>
          <p:cNvPr id="762" name="Google Shape;762;p16"/>
          <p:cNvSpPr/>
          <p:nvPr/>
        </p:nvSpPr>
        <p:spPr>
          <a:xfrm>
            <a:off x="9326880" y="2331720"/>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3" name="Google Shape;763;p16"/>
          <p:cNvSpPr/>
          <p:nvPr/>
        </p:nvSpPr>
        <p:spPr>
          <a:xfrm>
            <a:off x="9710928" y="2331720"/>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4" name="Google Shape;764;p16"/>
          <p:cNvSpPr/>
          <p:nvPr/>
        </p:nvSpPr>
        <p:spPr>
          <a:xfrm>
            <a:off x="10094976" y="2331720"/>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5" name="Google Shape;765;p16"/>
          <p:cNvSpPr/>
          <p:nvPr/>
        </p:nvSpPr>
        <p:spPr>
          <a:xfrm>
            <a:off x="10479024" y="2331720"/>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6" name="Google Shape;766;p16"/>
          <p:cNvSpPr/>
          <p:nvPr/>
        </p:nvSpPr>
        <p:spPr>
          <a:xfrm>
            <a:off x="9326880" y="2715768"/>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7" name="Google Shape;767;p16"/>
          <p:cNvSpPr/>
          <p:nvPr/>
        </p:nvSpPr>
        <p:spPr>
          <a:xfrm>
            <a:off x="9710928" y="2715768"/>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8" name="Google Shape;768;p16"/>
          <p:cNvSpPr/>
          <p:nvPr/>
        </p:nvSpPr>
        <p:spPr>
          <a:xfrm>
            <a:off x="10094976" y="2715768"/>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9" name="Google Shape;769;p16"/>
          <p:cNvSpPr/>
          <p:nvPr/>
        </p:nvSpPr>
        <p:spPr>
          <a:xfrm>
            <a:off x="10479024" y="2715768"/>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0" name="Google Shape;770;p16"/>
          <p:cNvSpPr/>
          <p:nvPr/>
        </p:nvSpPr>
        <p:spPr>
          <a:xfrm>
            <a:off x="9326880" y="3099816"/>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1" name="Google Shape;771;p16"/>
          <p:cNvSpPr/>
          <p:nvPr/>
        </p:nvSpPr>
        <p:spPr>
          <a:xfrm>
            <a:off x="9710928" y="3099816"/>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2" name="Google Shape;772;p16"/>
          <p:cNvSpPr/>
          <p:nvPr/>
        </p:nvSpPr>
        <p:spPr>
          <a:xfrm>
            <a:off x="10094976" y="3099816"/>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3" name="Google Shape;773;p16"/>
          <p:cNvSpPr/>
          <p:nvPr/>
        </p:nvSpPr>
        <p:spPr>
          <a:xfrm>
            <a:off x="10479024" y="3099816"/>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4" name="Google Shape;774;p16"/>
          <p:cNvSpPr/>
          <p:nvPr/>
        </p:nvSpPr>
        <p:spPr>
          <a:xfrm>
            <a:off x="9326880" y="3483864"/>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5" name="Google Shape;775;p16"/>
          <p:cNvSpPr/>
          <p:nvPr/>
        </p:nvSpPr>
        <p:spPr>
          <a:xfrm>
            <a:off x="9710928" y="3483864"/>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6" name="Google Shape;776;p16"/>
          <p:cNvSpPr/>
          <p:nvPr/>
        </p:nvSpPr>
        <p:spPr>
          <a:xfrm>
            <a:off x="10094976" y="3483864"/>
            <a:ext cx="118872" cy="118872"/>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7" name="Google Shape;777;p16"/>
          <p:cNvSpPr/>
          <p:nvPr/>
        </p:nvSpPr>
        <p:spPr>
          <a:xfrm>
            <a:off x="10479024" y="3483864"/>
            <a:ext cx="118872" cy="118872"/>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8" name="Google Shape;778;p16"/>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779" name="Google Shape;779;p16"/>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25</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784" name="Shape 784"/>
        <p:cNvGrpSpPr/>
        <p:nvPr/>
      </p:nvGrpSpPr>
      <p:grpSpPr>
        <a:xfrm>
          <a:off x="0" y="0"/>
          <a:ext cx="0" cy="0"/>
          <a:chOff x="0" y="0"/>
          <a:chExt cx="0" cy="0"/>
        </a:xfrm>
      </p:grpSpPr>
      <p:sp>
        <p:nvSpPr>
          <p:cNvPr id="785" name="Google Shape;785;p17"/>
          <p:cNvSpPr/>
          <p:nvPr/>
        </p:nvSpPr>
        <p:spPr>
          <a:xfrm>
            <a:off x="566928" y="384048"/>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RAG</a:t>
            </a:r>
            <a:endParaRPr b="0" i="0" spc="0" sz="1200" u="none" cap="none" strike="noStrike">
              <a:solidFill>
                <a:schemeClr val="dk1"/>
              </a:solidFill>
              <a:latin typeface="Calibri"/>
              <a:ea typeface="Calibri"/>
              <a:cs typeface="Calibri"/>
              <a:sym typeface="Calibri"/>
            </a:endParaRPr>
          </a:p>
        </p:txBody>
      </p:sp>
      <p:sp>
        <p:nvSpPr>
          <p:cNvPr id="786" name="Google Shape;786;p17"/>
          <p:cNvSpPr/>
          <p:nvPr/>
        </p:nvSpPr>
        <p:spPr>
          <a:xfrm>
            <a:off x="566928" y="676656"/>
            <a:ext cx="11055096" cy="73152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Introduction à l'architecture RAG</a:t>
            </a:r>
            <a:endParaRPr b="0" i="0" spc="0" sz="2900" u="none" cap="none" strike="noStrike">
              <a:solidFill>
                <a:schemeClr val="dk1"/>
              </a:solidFill>
              <a:latin typeface="Calibri"/>
              <a:ea typeface="Calibri"/>
              <a:cs typeface="Calibri"/>
              <a:sym typeface="Calibri"/>
            </a:endParaRPr>
          </a:p>
        </p:txBody>
      </p:sp>
      <p:sp>
        <p:nvSpPr>
          <p:cNvPr id="787" name="Google Shape;787;p17"/>
          <p:cNvSpPr/>
          <p:nvPr/>
        </p:nvSpPr>
        <p:spPr>
          <a:xfrm>
            <a:off x="566928" y="1554480"/>
            <a:ext cx="11055096" cy="77724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8" name="Google Shape;788;p17"/>
          <p:cNvSpPr/>
          <p:nvPr/>
        </p:nvSpPr>
        <p:spPr>
          <a:xfrm>
            <a:off x="822960" y="1673352"/>
            <a:ext cx="182880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789" name="Google Shape;789;p17"/>
          <p:cNvSpPr/>
          <p:nvPr/>
        </p:nvSpPr>
        <p:spPr>
          <a:xfrm>
            <a:off x="822960" y="1920240"/>
            <a:ext cx="10543032" cy="32004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Séparer la capacité de raisonnement (le LLM) de sa base de connaissances (les documents de l'entreprise).</a:t>
            </a:r>
            <a:endParaRPr b="0" i="0" spc="0" sz="1400" u="none" cap="none" strike="noStrike">
              <a:solidFill>
                <a:schemeClr val="dk1"/>
              </a:solidFill>
              <a:latin typeface="Calibri"/>
              <a:ea typeface="Calibri"/>
              <a:cs typeface="Calibri"/>
              <a:sym typeface="Calibri"/>
            </a:endParaRPr>
          </a:p>
        </p:txBody>
      </p:sp>
      <p:sp>
        <p:nvSpPr>
          <p:cNvPr id="790" name="Google Shape;790;p17"/>
          <p:cNvSpPr/>
          <p:nvPr/>
        </p:nvSpPr>
        <p:spPr>
          <a:xfrm>
            <a:off x="566928" y="2743200"/>
            <a:ext cx="2487168"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1" name="Google Shape;791;p17"/>
          <p:cNvSpPr/>
          <p:nvPr/>
        </p:nvSpPr>
        <p:spPr>
          <a:xfrm>
            <a:off x="704088" y="2743200"/>
            <a:ext cx="2212848"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Question</a:t>
            </a:r>
            <a:endParaRPr b="0" i="0" spc="0" sz="1450" u="none" cap="none" strike="noStrike">
              <a:solidFill>
                <a:schemeClr val="dk1"/>
              </a:solidFill>
              <a:latin typeface="Calibri"/>
              <a:ea typeface="Calibri"/>
              <a:cs typeface="Calibri"/>
              <a:sym typeface="Calibri"/>
            </a:endParaRPr>
          </a:p>
        </p:txBody>
      </p:sp>
      <p:sp>
        <p:nvSpPr>
          <p:cNvPr id="792" name="Google Shape;792;p17"/>
          <p:cNvSpPr/>
          <p:nvPr/>
        </p:nvSpPr>
        <p:spPr>
          <a:xfrm>
            <a:off x="3026664" y="2743200"/>
            <a:ext cx="320040"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200"/>
              <a:buFont typeface="Calibri"/>
              <a:buNone/>
            </a:pPr>
            <a:r>
              <a:rPr b="1" i="0" lang="en-US" spc="0" sz="2200" u="none" cap="none" strike="noStrike">
                <a:solidFill>
                  <a:srgbClr val="C77B4C"/>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793" name="Google Shape;793;p17"/>
          <p:cNvSpPr/>
          <p:nvPr/>
        </p:nvSpPr>
        <p:spPr>
          <a:xfrm>
            <a:off x="3374136" y="2743200"/>
            <a:ext cx="2487168"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4" name="Google Shape;794;p17"/>
          <p:cNvSpPr/>
          <p:nvPr/>
        </p:nvSpPr>
        <p:spPr>
          <a:xfrm>
            <a:off x="3511296" y="2743200"/>
            <a:ext cx="2212848"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Recherche des</a:t>
            </a:r>
            <a:endParaRPr b="0" i="0" spc="0" sz="1450" u="none" cap="none" strike="noStrike">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documents</a:t>
            </a:r>
            <a:endParaRPr b="0" i="0" spc="0" sz="1450" u="none" cap="none" strike="noStrike">
              <a:solidFill>
                <a:schemeClr val="dk1"/>
              </a:solidFill>
              <a:latin typeface="Calibri"/>
              <a:ea typeface="Calibri"/>
              <a:cs typeface="Calibri"/>
              <a:sym typeface="Calibri"/>
            </a:endParaRPr>
          </a:p>
        </p:txBody>
      </p:sp>
      <p:sp>
        <p:nvSpPr>
          <p:cNvPr id="795" name="Google Shape;795;p17"/>
          <p:cNvSpPr/>
          <p:nvPr/>
        </p:nvSpPr>
        <p:spPr>
          <a:xfrm>
            <a:off x="5833872" y="2743200"/>
            <a:ext cx="320040"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200"/>
              <a:buFont typeface="Calibri"/>
              <a:buNone/>
            </a:pPr>
            <a:r>
              <a:rPr b="1" i="0" lang="en-US" spc="0" sz="2200" u="none" cap="none" strike="noStrike">
                <a:solidFill>
                  <a:srgbClr val="C77B4C"/>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796" name="Google Shape;796;p17"/>
          <p:cNvSpPr/>
          <p:nvPr/>
        </p:nvSpPr>
        <p:spPr>
          <a:xfrm>
            <a:off x="6181344" y="2743200"/>
            <a:ext cx="2487168" cy="1051560"/>
          </a:xfrm>
          <a:prstGeom prst="roundRect">
            <a:avLst>
              <a:gd fmla="val 6957"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7" name="Google Shape;797;p17"/>
          <p:cNvSpPr/>
          <p:nvPr/>
        </p:nvSpPr>
        <p:spPr>
          <a:xfrm>
            <a:off x="6318504" y="2743200"/>
            <a:ext cx="2212848"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Injection</a:t>
            </a:r>
            <a:endParaRPr b="0" i="0" spc="0" sz="1450" u="none" cap="none" strike="noStrike">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dans le prompt</a:t>
            </a:r>
            <a:endParaRPr b="0" i="0" spc="0" sz="1450" u="none" cap="none" strike="noStrike">
              <a:solidFill>
                <a:schemeClr val="dk1"/>
              </a:solidFill>
              <a:latin typeface="Calibri"/>
              <a:ea typeface="Calibri"/>
              <a:cs typeface="Calibri"/>
              <a:sym typeface="Calibri"/>
            </a:endParaRPr>
          </a:p>
        </p:txBody>
      </p:sp>
      <p:sp>
        <p:nvSpPr>
          <p:cNvPr id="798" name="Google Shape;798;p17"/>
          <p:cNvSpPr/>
          <p:nvPr/>
        </p:nvSpPr>
        <p:spPr>
          <a:xfrm>
            <a:off x="8641080" y="2743200"/>
            <a:ext cx="320040"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2200"/>
              <a:buFont typeface="Calibri"/>
              <a:buNone/>
            </a:pPr>
            <a:r>
              <a:rPr b="1" i="0" lang="en-US" spc="0" sz="2200" u="none" cap="none" strike="noStrike">
                <a:solidFill>
                  <a:srgbClr val="C77B4C"/>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799" name="Google Shape;799;p17"/>
          <p:cNvSpPr/>
          <p:nvPr/>
        </p:nvSpPr>
        <p:spPr>
          <a:xfrm>
            <a:off x="8988552" y="2743200"/>
            <a:ext cx="2487168" cy="1051560"/>
          </a:xfrm>
          <a:prstGeom prst="roundRect">
            <a:avLst>
              <a:gd fmla="val 695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0" name="Google Shape;800;p17"/>
          <p:cNvSpPr/>
          <p:nvPr/>
        </p:nvSpPr>
        <p:spPr>
          <a:xfrm>
            <a:off x="9125712" y="2743200"/>
            <a:ext cx="2212848" cy="1051560"/>
          </a:xfrm>
          <a:prstGeom prst="rect">
            <a:avLst/>
          </a:prstGeom>
          <a:noFill/>
          <a:ln>
            <a:noFill/>
          </a:ln>
        </p:spPr>
        <p:txBody>
          <a:bodyPr anchorCtr="0" anchor="ctr" bIns="45700" lIns="91425" spcFirstLastPara="1" rIns="91425" wrap="square" tIns="45700">
            <a:noAutofit/>
          </a:bodyPr>
          <a:lstStyle/>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Génération</a:t>
            </a:r>
            <a:endParaRPr b="0" i="0" spc="0" sz="1450" u="none" cap="none" strike="noStrike">
              <a:solidFill>
                <a:schemeClr val="dk1"/>
              </a:solidFill>
              <a:latin typeface="Calibri"/>
              <a:ea typeface="Calibri"/>
              <a:cs typeface="Calibri"/>
              <a:sym typeface="Calibri"/>
            </a:endParaRPr>
          </a:p>
          <a:p>
            <a:pPr indent="0" lvl="0" marL="0" marR="0" rtl="0" algn="ctr">
              <a:lnSpc>
                <a:spcPct val="95000"/>
              </a:lnSpc>
              <a:spcBef>
                <a:spcPts val="0"/>
              </a:spcBef>
              <a:spcAft>
                <a:spcPts val="0"/>
              </a:spcAft>
              <a:buClr>
                <a:srgbClr val="F1EADF"/>
              </a:buClr>
              <a:buSzPts val="1450"/>
              <a:buFont typeface="Cambria"/>
              <a:buNone/>
            </a:pPr>
            <a:r>
              <a:rPr b="1" i="0" lang="en-US" spc="0" sz="1450" u="none" cap="none" strike="noStrike">
                <a:solidFill>
                  <a:srgbClr val="F1EADF"/>
                </a:solidFill>
                <a:latin typeface="Cambria"/>
                <a:ea typeface="Cambria"/>
                <a:cs typeface="Cambria"/>
                <a:sym typeface="Cambria"/>
              </a:rPr>
              <a:t>ancrée</a:t>
            </a:r>
            <a:endParaRPr b="0" i="0" spc="0" sz="1450" u="none" cap="none" strike="noStrike">
              <a:solidFill>
                <a:schemeClr val="dk1"/>
              </a:solidFill>
              <a:latin typeface="Calibri"/>
              <a:ea typeface="Calibri"/>
              <a:cs typeface="Calibri"/>
              <a:sym typeface="Calibri"/>
            </a:endParaRPr>
          </a:p>
        </p:txBody>
      </p:sp>
      <p:sp>
        <p:nvSpPr>
          <p:cNvPr id="801" name="Google Shape;801;p17"/>
          <p:cNvSpPr/>
          <p:nvPr/>
        </p:nvSpPr>
        <p:spPr>
          <a:xfrm>
            <a:off x="566928" y="4206240"/>
            <a:ext cx="3471672" cy="960120"/>
          </a:xfrm>
          <a:prstGeom prst="roundRect">
            <a:avLst>
              <a:gd fmla="val 761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2" name="Google Shape;802;p17"/>
          <p:cNvSpPr/>
          <p:nvPr/>
        </p:nvSpPr>
        <p:spPr>
          <a:xfrm>
            <a:off x="795528" y="4206240"/>
            <a:ext cx="4572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2200"/>
              <a:buFont typeface="Calibri"/>
              <a:buNone/>
            </a:pPr>
            <a:r>
              <a:rPr b="1" i="0" lang="en-US" spc="0" sz="2200" u="none" cap="none" strike="noStrike">
                <a:solidFill>
                  <a:srgbClr val="7FB08A"/>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803" name="Google Shape;803;p17"/>
          <p:cNvSpPr/>
          <p:nvPr/>
        </p:nvSpPr>
        <p:spPr>
          <a:xfrm>
            <a:off x="1344168" y="4206240"/>
            <a:ext cx="2557272"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300"/>
              <a:buFont typeface="Calibri"/>
              <a:buNone/>
            </a:pPr>
            <a:r>
              <a:rPr b="1" i="0" lang="en-US" spc="0" sz="1300" u="none" cap="none" strike="noStrike">
                <a:solidFill>
                  <a:srgbClr val="F1EADF"/>
                </a:solidFill>
                <a:latin typeface="Calibri"/>
                <a:ea typeface="Calibri"/>
                <a:cs typeface="Calibri"/>
                <a:sym typeface="Calibri"/>
              </a:rPr>
              <a:t>Pas de réentraînement </a:t>
            </a:r>
            <a:r>
              <a:rPr b="0" i="0" lang="en-US" spc="0" sz="1300" u="none" cap="none" strike="noStrike">
                <a:solidFill>
                  <a:srgbClr val="9DB0C2"/>
                </a:solidFill>
                <a:latin typeface="Calibri"/>
                <a:ea typeface="Calibri"/>
                <a:cs typeface="Calibri"/>
                <a:sym typeface="Calibri"/>
              </a:rPr>
              <a:t>coûteux</a:t>
            </a:r>
            <a:endParaRPr b="0" i="0" spc="0" sz="1300" u="none" cap="none" strike="noStrike">
              <a:solidFill>
                <a:schemeClr val="dk1"/>
              </a:solidFill>
              <a:latin typeface="Calibri"/>
              <a:ea typeface="Calibri"/>
              <a:cs typeface="Calibri"/>
              <a:sym typeface="Calibri"/>
            </a:endParaRPr>
          </a:p>
        </p:txBody>
      </p:sp>
      <p:sp>
        <p:nvSpPr>
          <p:cNvPr id="804" name="Google Shape;804;p17"/>
          <p:cNvSpPr/>
          <p:nvPr/>
        </p:nvSpPr>
        <p:spPr>
          <a:xfrm>
            <a:off x="4358640" y="4206240"/>
            <a:ext cx="3471672" cy="960120"/>
          </a:xfrm>
          <a:prstGeom prst="roundRect">
            <a:avLst>
              <a:gd fmla="val 761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5" name="Google Shape;805;p17"/>
          <p:cNvSpPr/>
          <p:nvPr/>
        </p:nvSpPr>
        <p:spPr>
          <a:xfrm>
            <a:off x="4587240" y="4206240"/>
            <a:ext cx="4572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2200"/>
              <a:buFont typeface="Calibri"/>
              <a:buNone/>
            </a:pPr>
            <a:r>
              <a:rPr b="1" i="0" lang="en-US" spc="0" sz="2200" u="none" cap="none" strike="noStrike">
                <a:solidFill>
                  <a:srgbClr val="7FB08A"/>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806" name="Google Shape;806;p17"/>
          <p:cNvSpPr/>
          <p:nvPr/>
        </p:nvSpPr>
        <p:spPr>
          <a:xfrm>
            <a:off x="5135880" y="4206240"/>
            <a:ext cx="2557272"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300"/>
              <a:buFont typeface="Calibri"/>
              <a:buNone/>
            </a:pPr>
            <a:r>
              <a:rPr b="1" i="0" lang="en-US" spc="0" sz="1300" u="none" cap="none" strike="noStrike">
                <a:solidFill>
                  <a:srgbClr val="F1EADF"/>
                </a:solidFill>
                <a:latin typeface="Calibri"/>
                <a:ea typeface="Calibri"/>
                <a:cs typeface="Calibri"/>
                <a:sym typeface="Calibri"/>
              </a:rPr>
              <a:t>Réduction </a:t>
            </a:r>
            <a:r>
              <a:rPr b="0" i="0" lang="en-US" spc="0" sz="1300" u="none" cap="none" strike="noStrike">
                <a:solidFill>
                  <a:srgbClr val="9DB0C2"/>
                </a:solidFill>
                <a:latin typeface="Calibri"/>
                <a:ea typeface="Calibri"/>
                <a:cs typeface="Calibri"/>
                <a:sym typeface="Calibri"/>
              </a:rPr>
              <a:t>des hallucinations</a:t>
            </a:r>
            <a:endParaRPr b="0" i="0" spc="0" sz="1300" u="none" cap="none" strike="noStrike">
              <a:solidFill>
                <a:schemeClr val="dk1"/>
              </a:solidFill>
              <a:latin typeface="Calibri"/>
              <a:ea typeface="Calibri"/>
              <a:cs typeface="Calibri"/>
              <a:sym typeface="Calibri"/>
            </a:endParaRPr>
          </a:p>
        </p:txBody>
      </p:sp>
      <p:sp>
        <p:nvSpPr>
          <p:cNvPr id="807" name="Google Shape;807;p17"/>
          <p:cNvSpPr/>
          <p:nvPr/>
        </p:nvSpPr>
        <p:spPr>
          <a:xfrm>
            <a:off x="8150352" y="4206240"/>
            <a:ext cx="3471672" cy="960120"/>
          </a:xfrm>
          <a:prstGeom prst="roundRect">
            <a:avLst>
              <a:gd fmla="val 761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8" name="Google Shape;808;p17"/>
          <p:cNvSpPr/>
          <p:nvPr/>
        </p:nvSpPr>
        <p:spPr>
          <a:xfrm>
            <a:off x="8378952" y="4206240"/>
            <a:ext cx="457200"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FB08A"/>
              </a:buClr>
              <a:buSzPts val="2200"/>
              <a:buFont typeface="Calibri"/>
              <a:buNone/>
            </a:pPr>
            <a:r>
              <a:rPr b="1" i="0" lang="en-US" spc="0" sz="2200" u="none" cap="none" strike="noStrike">
                <a:solidFill>
                  <a:srgbClr val="7FB08A"/>
                </a:solidFill>
                <a:latin typeface="Calibri"/>
                <a:ea typeface="Calibri"/>
                <a:cs typeface="Calibri"/>
                <a:sym typeface="Calibri"/>
              </a:rPr>
              <a:t>✓</a:t>
            </a:r>
            <a:endParaRPr b="0" i="0" spc="0" sz="2200" u="none" cap="none" strike="noStrike">
              <a:solidFill>
                <a:schemeClr val="dk1"/>
              </a:solidFill>
              <a:latin typeface="Calibri"/>
              <a:ea typeface="Calibri"/>
              <a:cs typeface="Calibri"/>
              <a:sym typeface="Calibri"/>
            </a:endParaRPr>
          </a:p>
        </p:txBody>
      </p:sp>
      <p:sp>
        <p:nvSpPr>
          <p:cNvPr id="809" name="Google Shape;809;p17"/>
          <p:cNvSpPr/>
          <p:nvPr/>
        </p:nvSpPr>
        <p:spPr>
          <a:xfrm>
            <a:off x="8927592" y="4206240"/>
            <a:ext cx="2557272" cy="9601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300"/>
              <a:buFont typeface="Calibri"/>
              <a:buNone/>
            </a:pPr>
            <a:r>
              <a:rPr b="1" i="0" lang="en-US" spc="0" sz="1300" u="none" cap="none" strike="noStrike">
                <a:solidFill>
                  <a:srgbClr val="F1EADF"/>
                </a:solidFill>
                <a:latin typeface="Calibri"/>
                <a:ea typeface="Calibri"/>
                <a:cs typeface="Calibri"/>
                <a:sym typeface="Calibri"/>
              </a:rPr>
              <a:t>Citations </a:t>
            </a:r>
            <a:r>
              <a:rPr b="0" i="0" lang="en-US" spc="0" sz="1300" u="none" cap="none" strike="noStrike">
                <a:solidFill>
                  <a:srgbClr val="9DB0C2"/>
                </a:solidFill>
                <a:latin typeface="Calibri"/>
                <a:ea typeface="Calibri"/>
                <a:cs typeface="Calibri"/>
                <a:sym typeface="Calibri"/>
              </a:rPr>
              <a:t>claires des sources</a:t>
            </a:r>
            <a:endParaRPr b="0" i="0" spc="0" sz="1300" u="none" cap="none" strike="noStrike">
              <a:solidFill>
                <a:schemeClr val="dk1"/>
              </a:solidFill>
              <a:latin typeface="Calibri"/>
              <a:ea typeface="Calibri"/>
              <a:cs typeface="Calibri"/>
              <a:sym typeface="Calibri"/>
            </a:endParaRPr>
          </a:p>
        </p:txBody>
      </p:sp>
      <p:sp>
        <p:nvSpPr>
          <p:cNvPr id="810" name="Google Shape;810;p17"/>
          <p:cNvSpPr/>
          <p:nvPr/>
        </p:nvSpPr>
        <p:spPr>
          <a:xfrm>
            <a:off x="566928" y="5943600"/>
            <a:ext cx="11055096"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Lewis et al. (2020), Retrieval-Augmented Generation for Knowledge-Intensive NLP - </a:t>
            </a:r>
            <a:r>
              <a:rPr b="0" i="1" lang="en-US" spc="0" sz="1050" u="sng" cap="none" strike="noStrike">
                <a:solidFill>
                  <a:schemeClr val="hlink"/>
                </a:solidFill>
                <a:latin typeface="Calibri"/>
                <a:ea typeface="Calibri"/>
                <a:cs typeface="Calibri"/>
                <a:sym typeface="Calibri"/>
                <a:hlinkClick r:id="rId3"/>
              </a:rPr>
              <a:t>https://arxiv.org/abs/2005.11401</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811" name="Google Shape;811;p17"/>
          <p:cNvSpPr/>
          <p:nvPr/>
        </p:nvSpPr>
        <p:spPr>
          <a:xfrm>
            <a:off x="566928" y="6455664"/>
            <a:ext cx="82296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812" name="Google Shape;812;p17"/>
          <p:cNvSpPr/>
          <p:nvPr/>
        </p:nvSpPr>
        <p:spPr>
          <a:xfrm>
            <a:off x="11292840" y="6455664"/>
            <a:ext cx="50292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26</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17" name="Shape 817"/>
        <p:cNvGrpSpPr/>
        <p:nvPr/>
      </p:nvGrpSpPr>
      <p:grpSpPr>
        <a:xfrm>
          <a:off x="0" y="0"/>
          <a:ext cx="0" cy="0"/>
          <a:chOff x="0" y="0"/>
          <a:chExt cx="0" cy="0"/>
        </a:xfrm>
      </p:grpSpPr>
      <p:sp>
        <p:nvSpPr>
          <p:cNvPr id="818" name="Google Shape;818;p18"/>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819" name="Google Shape;819;p18"/>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Ingestion &amp; Parsing</a:t>
            </a:r>
            <a:endParaRPr b="0" i="0" spc="0" sz="2900" u="none" cap="none" strike="noStrike">
              <a:solidFill>
                <a:schemeClr val="dk1"/>
              </a:solidFill>
              <a:latin typeface="Calibri"/>
              <a:ea typeface="Calibri"/>
              <a:cs typeface="Calibri"/>
              <a:sym typeface="Calibri"/>
            </a:endParaRPr>
          </a:p>
        </p:txBody>
      </p:sp>
      <p:sp>
        <p:nvSpPr>
          <p:cNvPr id="820" name="Google Shape;820;p18"/>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18"/>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1 / 6</a:t>
            </a:r>
            <a:endParaRPr b="0" i="0" spc="0" sz="1300" u="none" cap="none" strike="noStrike">
              <a:solidFill>
                <a:schemeClr val="dk1"/>
              </a:solidFill>
              <a:latin typeface="Calibri"/>
              <a:ea typeface="Calibri"/>
              <a:cs typeface="Calibri"/>
              <a:sym typeface="Calibri"/>
            </a:endParaRPr>
          </a:p>
        </p:txBody>
      </p:sp>
      <p:sp>
        <p:nvSpPr>
          <p:cNvPr id="822" name="Google Shape;822;p18"/>
          <p:cNvSpPr/>
          <p:nvPr/>
        </p:nvSpPr>
        <p:spPr>
          <a:xfrm>
            <a:off x="566928" y="2194560"/>
            <a:ext cx="11055000" cy="868800"/>
          </a:xfrm>
          <a:prstGeom prst="roundRect">
            <a:avLst>
              <a:gd fmla="val 8421"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3" name="Google Shape;823;p18"/>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824" name="Google Shape;824;p18"/>
          <p:cNvSpPr/>
          <p:nvPr/>
        </p:nvSpPr>
        <p:spPr>
          <a:xfrm>
            <a:off x="822960" y="2560320"/>
            <a:ext cx="10542900" cy="4116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Transformer des fichiers hétérogènes (PDF, HTML, DOCX, Markdown) en texte propre.</a:t>
            </a:r>
            <a:endParaRPr b="0" i="0" spc="0" sz="1400" u="none" cap="none" strike="noStrike">
              <a:solidFill>
                <a:schemeClr val="dk1"/>
              </a:solidFill>
              <a:latin typeface="Calibri"/>
              <a:ea typeface="Calibri"/>
              <a:cs typeface="Calibri"/>
              <a:sym typeface="Calibri"/>
            </a:endParaRPr>
          </a:p>
        </p:txBody>
      </p:sp>
      <p:sp>
        <p:nvSpPr>
          <p:cNvPr id="825" name="Google Shape;825;p18"/>
          <p:cNvSpPr/>
          <p:nvPr/>
        </p:nvSpPr>
        <p:spPr>
          <a:xfrm>
            <a:off x="658368" y="3337560"/>
            <a:ext cx="10872300" cy="21945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C77B4C"/>
              </a:buClr>
              <a:buSzPts val="1450"/>
              <a:buFont typeface="Calibri"/>
              <a:buChar char="•"/>
            </a:pPr>
            <a:r>
              <a:rPr b="1" i="0" lang="en-US" spc="0" sz="1450" u="none" cap="none" strike="noStrike">
                <a:solidFill>
                  <a:srgbClr val="C77B4C"/>
                </a:solidFill>
                <a:latin typeface="Calibri"/>
                <a:ea typeface="Calibri"/>
                <a:cs typeface="Calibri"/>
                <a:sym typeface="Calibri"/>
              </a:rPr>
              <a:t>Défis techniques :</a:t>
            </a:r>
            <a:endParaRPr b="0" i="0" spc="0" sz="1450" u="none" cap="none" strike="noStrike">
              <a:solidFill>
                <a:schemeClr val="dk1"/>
              </a:solidFill>
              <a:latin typeface="Calibri"/>
              <a:ea typeface="Calibri"/>
              <a:cs typeface="Calibri"/>
              <a:sym typeface="Calibri"/>
            </a:endParaRPr>
          </a:p>
          <a:p>
            <a:pPr indent="-177800" lvl="0" marL="177800" marR="0" rtl="0" algn="l">
              <a:lnSpc>
                <a:spcPct val="102000"/>
              </a:lnSpc>
              <a:spcBef>
                <a:spcPts val="1000"/>
              </a:spcBef>
              <a:spcAft>
                <a:spcPts val="0"/>
              </a:spcAft>
              <a:buClr>
                <a:srgbClr val="F1EADF"/>
              </a:buClr>
              <a:buSzPts val="1450"/>
              <a:buFont typeface="Calibri"/>
              <a:buChar char="•"/>
            </a:pPr>
            <a:r>
              <a:rPr b="0" i="0" lang="en-US" spc="0" sz="1450" u="none" cap="none" strike="noStrike">
                <a:solidFill>
                  <a:srgbClr val="F1EADF"/>
                </a:solidFill>
                <a:latin typeface="Calibri"/>
                <a:ea typeface="Calibri"/>
                <a:cs typeface="Calibri"/>
                <a:sym typeface="Calibri"/>
              </a:rPr>
              <a:t>Gestion des tableaux, en-têtes et bas de page</a:t>
            </a:r>
            <a:endParaRPr b="0" i="0" spc="0" sz="14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50"/>
              <a:buFont typeface="Calibri"/>
              <a:buChar char="•"/>
            </a:pPr>
            <a:r>
              <a:rPr b="0" i="0" lang="en-US" spc="0" sz="1450" u="none" cap="none" strike="noStrike">
                <a:solidFill>
                  <a:srgbClr val="F1EADF"/>
                </a:solidFill>
                <a:latin typeface="Calibri"/>
                <a:ea typeface="Calibri"/>
                <a:cs typeface="Calibri"/>
                <a:sym typeface="Calibri"/>
              </a:rPr>
              <a:t>Extraction des métadonnées (auteur, date, titre)</a:t>
            </a:r>
            <a:endParaRPr b="0" i="0" spc="0" sz="14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50"/>
              <a:buFont typeface="Calibri"/>
              <a:buChar char="•"/>
            </a:pPr>
            <a:r>
              <a:rPr b="0" i="0" lang="en-US" spc="0" sz="1450" u="none" cap="none" strike="noStrike">
                <a:solidFill>
                  <a:srgbClr val="F1EADF"/>
                </a:solidFill>
                <a:latin typeface="Calibri"/>
                <a:ea typeface="Calibri"/>
                <a:cs typeface="Calibri"/>
                <a:sym typeface="Calibri"/>
              </a:rPr>
              <a:t>Nettoyage du bruit HTML et du formatage</a:t>
            </a:r>
            <a:endParaRPr b="0" i="0" spc="0" sz="1450" u="none" cap="none" strike="noStrike">
              <a:solidFill>
                <a:schemeClr val="dk1"/>
              </a:solidFill>
              <a:latin typeface="Calibri"/>
              <a:ea typeface="Calibri"/>
              <a:cs typeface="Calibri"/>
              <a:sym typeface="Calibri"/>
            </a:endParaRPr>
          </a:p>
        </p:txBody>
      </p:sp>
      <p:sp>
        <p:nvSpPr>
          <p:cNvPr id="826" name="Google Shape;826;p18"/>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827" name="Google Shape;827;p18"/>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27</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32" name="Shape 832"/>
        <p:cNvGrpSpPr/>
        <p:nvPr/>
      </p:nvGrpSpPr>
      <p:grpSpPr>
        <a:xfrm>
          <a:off x="0" y="0"/>
          <a:ext cx="0" cy="0"/>
          <a:chOff x="0" y="0"/>
          <a:chExt cx="0" cy="0"/>
        </a:xfrm>
      </p:grpSpPr>
      <p:sp>
        <p:nvSpPr>
          <p:cNvPr id="833" name="Google Shape;833;p19"/>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834" name="Google Shape;834;p19"/>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Stratégies de Chunking</a:t>
            </a:r>
            <a:endParaRPr b="0" i="0" spc="0" sz="2900" u="none" cap="none" strike="noStrike">
              <a:solidFill>
                <a:schemeClr val="dk1"/>
              </a:solidFill>
              <a:latin typeface="Calibri"/>
              <a:ea typeface="Calibri"/>
              <a:cs typeface="Calibri"/>
              <a:sym typeface="Calibri"/>
            </a:endParaRPr>
          </a:p>
        </p:txBody>
      </p:sp>
      <p:sp>
        <p:nvSpPr>
          <p:cNvPr id="835" name="Google Shape;835;p19"/>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6" name="Google Shape;836;p19"/>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2 / 6</a:t>
            </a:r>
            <a:endParaRPr b="0" i="0" spc="0" sz="1300" u="none" cap="none" strike="noStrike">
              <a:solidFill>
                <a:schemeClr val="dk1"/>
              </a:solidFill>
              <a:latin typeface="Calibri"/>
              <a:ea typeface="Calibri"/>
              <a:cs typeface="Calibri"/>
              <a:sym typeface="Calibri"/>
            </a:endParaRPr>
          </a:p>
        </p:txBody>
      </p:sp>
      <p:sp>
        <p:nvSpPr>
          <p:cNvPr id="837" name="Google Shape;837;p19"/>
          <p:cNvSpPr/>
          <p:nvPr/>
        </p:nvSpPr>
        <p:spPr>
          <a:xfrm>
            <a:off x="566928" y="219456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8" name="Google Shape;838;p19"/>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839" name="Google Shape;839;p19"/>
          <p:cNvSpPr/>
          <p:nvPr/>
        </p:nvSpPr>
        <p:spPr>
          <a:xfrm>
            <a:off x="822960" y="2560320"/>
            <a:ext cx="105429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Découper les documents en fragments (chunks) dimensionnés pour la recherche vectorielle.</a:t>
            </a:r>
            <a:endParaRPr b="0" i="0" spc="0" sz="1400" u="none" cap="none" strike="noStrike">
              <a:solidFill>
                <a:schemeClr val="dk1"/>
              </a:solidFill>
              <a:latin typeface="Calibri"/>
              <a:ea typeface="Calibri"/>
              <a:cs typeface="Calibri"/>
              <a:sym typeface="Calibri"/>
            </a:endParaRPr>
          </a:p>
        </p:txBody>
      </p:sp>
      <p:sp>
        <p:nvSpPr>
          <p:cNvPr id="840" name="Google Shape;840;p19"/>
          <p:cNvSpPr/>
          <p:nvPr/>
        </p:nvSpPr>
        <p:spPr>
          <a:xfrm>
            <a:off x="566928" y="3246120"/>
            <a:ext cx="5298900" cy="1188600"/>
          </a:xfrm>
          <a:prstGeom prst="roundRect">
            <a:avLst>
              <a:gd fmla="val 6154" name="adj"/>
            </a:avLst>
          </a:prstGeom>
          <a:solidFill>
            <a:srgbClr val="33231F"/>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1" name="Google Shape;841;p19"/>
          <p:cNvSpPr/>
          <p:nvPr/>
        </p:nvSpPr>
        <p:spPr>
          <a:xfrm>
            <a:off x="841248"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6C6C"/>
              </a:buClr>
              <a:buSzPts val="1500"/>
              <a:buFont typeface="Cambria"/>
              <a:buNone/>
            </a:pPr>
            <a:r>
              <a:rPr b="1" i="0" lang="en-US" spc="0" sz="1500" u="none" cap="none" strike="noStrike">
                <a:solidFill>
                  <a:srgbClr val="C56C6C"/>
                </a:solidFill>
                <a:latin typeface="Cambria"/>
                <a:ea typeface="Cambria"/>
                <a:cs typeface="Cambria"/>
                <a:sym typeface="Cambria"/>
              </a:rPr>
              <a:t>Chunks trop petits</a:t>
            </a:r>
            <a:endParaRPr b="0" i="0" spc="0" sz="1500" u="none" cap="none" strike="noStrike">
              <a:solidFill>
                <a:schemeClr val="dk1"/>
              </a:solidFill>
              <a:latin typeface="Calibri"/>
              <a:ea typeface="Calibri"/>
              <a:cs typeface="Calibri"/>
              <a:sym typeface="Calibri"/>
            </a:endParaRPr>
          </a:p>
        </p:txBody>
      </p:sp>
      <p:sp>
        <p:nvSpPr>
          <p:cNvPr id="842" name="Google Shape;842;p19"/>
          <p:cNvSpPr/>
          <p:nvPr/>
        </p:nvSpPr>
        <p:spPr>
          <a:xfrm>
            <a:off x="841248" y="3813048"/>
            <a:ext cx="4750200" cy="54870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1EADF"/>
              </a:buClr>
              <a:buSzPts val="1250"/>
              <a:buFont typeface="Calibri"/>
              <a:buNone/>
            </a:pPr>
            <a:r>
              <a:rPr b="0" i="0" lang="en-US" spc="0" sz="1250" u="none" cap="none" strike="noStrike">
                <a:solidFill>
                  <a:srgbClr val="F1EADF"/>
                </a:solidFill>
                <a:latin typeface="Calibri"/>
                <a:ea typeface="Calibri"/>
                <a:cs typeface="Calibri"/>
                <a:sym typeface="Calibri"/>
              </a:rPr>
              <a:t>Perte du contexte global de la phrase ou du paragraphe.</a:t>
            </a:r>
            <a:endParaRPr b="0" i="0" spc="0" sz="1250" u="none" cap="none" strike="noStrike">
              <a:solidFill>
                <a:schemeClr val="dk1"/>
              </a:solidFill>
              <a:latin typeface="Calibri"/>
              <a:ea typeface="Calibri"/>
              <a:cs typeface="Calibri"/>
              <a:sym typeface="Calibri"/>
            </a:endParaRPr>
          </a:p>
        </p:txBody>
      </p:sp>
      <p:sp>
        <p:nvSpPr>
          <p:cNvPr id="843" name="Google Shape;843;p19"/>
          <p:cNvSpPr/>
          <p:nvPr/>
        </p:nvSpPr>
        <p:spPr>
          <a:xfrm>
            <a:off x="6323076" y="3246120"/>
            <a:ext cx="5298900" cy="1188600"/>
          </a:xfrm>
          <a:prstGeom prst="roundRect">
            <a:avLst>
              <a:gd fmla="val 6154" name="adj"/>
            </a:avLst>
          </a:prstGeom>
          <a:solidFill>
            <a:srgbClr val="33231F"/>
          </a:solidFill>
          <a:ln cap="flat" cmpd="sng" w="12700">
            <a:solidFill>
              <a:srgbClr val="C56C6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4" name="Google Shape;844;p19"/>
          <p:cNvSpPr/>
          <p:nvPr/>
        </p:nvSpPr>
        <p:spPr>
          <a:xfrm>
            <a:off x="6597396"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56C6C"/>
              </a:buClr>
              <a:buSzPts val="1500"/>
              <a:buFont typeface="Cambria"/>
              <a:buNone/>
            </a:pPr>
            <a:r>
              <a:rPr b="1" i="0" lang="en-US" spc="0" sz="1500" u="none" cap="none" strike="noStrike">
                <a:solidFill>
                  <a:srgbClr val="C56C6C"/>
                </a:solidFill>
                <a:latin typeface="Cambria"/>
                <a:ea typeface="Cambria"/>
                <a:cs typeface="Cambria"/>
                <a:sym typeface="Cambria"/>
              </a:rPr>
              <a:t>Chunks trop grands</a:t>
            </a:r>
            <a:endParaRPr b="0" i="0" spc="0" sz="1500" u="none" cap="none" strike="noStrike">
              <a:solidFill>
                <a:schemeClr val="dk1"/>
              </a:solidFill>
              <a:latin typeface="Calibri"/>
              <a:ea typeface="Calibri"/>
              <a:cs typeface="Calibri"/>
              <a:sym typeface="Calibri"/>
            </a:endParaRPr>
          </a:p>
        </p:txBody>
      </p:sp>
      <p:sp>
        <p:nvSpPr>
          <p:cNvPr id="845" name="Google Shape;845;p19"/>
          <p:cNvSpPr/>
          <p:nvPr/>
        </p:nvSpPr>
        <p:spPr>
          <a:xfrm>
            <a:off x="6597396" y="3813048"/>
            <a:ext cx="4750200" cy="54870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1EADF"/>
              </a:buClr>
              <a:buSzPts val="1250"/>
              <a:buFont typeface="Calibri"/>
              <a:buNone/>
            </a:pPr>
            <a:r>
              <a:rPr b="0" i="0" lang="en-US" spc="0" sz="1250" u="none" cap="none" strike="noStrike">
                <a:solidFill>
                  <a:srgbClr val="F1EADF"/>
                </a:solidFill>
                <a:latin typeface="Calibri"/>
                <a:ea typeface="Calibri"/>
                <a:cs typeface="Calibri"/>
                <a:sym typeface="Calibri"/>
              </a:rPr>
              <a:t>Dilution du signal sémantique et coût élevé en tokens.</a:t>
            </a:r>
            <a:endParaRPr b="0" i="0" spc="0" sz="1250" u="none" cap="none" strike="noStrike">
              <a:solidFill>
                <a:schemeClr val="dk1"/>
              </a:solidFill>
              <a:latin typeface="Calibri"/>
              <a:ea typeface="Calibri"/>
              <a:cs typeface="Calibri"/>
              <a:sym typeface="Calibri"/>
            </a:endParaRPr>
          </a:p>
        </p:txBody>
      </p:sp>
      <p:sp>
        <p:nvSpPr>
          <p:cNvPr id="846" name="Google Shape;846;p19"/>
          <p:cNvSpPr/>
          <p:nvPr/>
        </p:nvSpPr>
        <p:spPr>
          <a:xfrm>
            <a:off x="566928" y="4617720"/>
            <a:ext cx="11055000" cy="1143000"/>
          </a:xfrm>
          <a:prstGeom prst="roundRect">
            <a:avLst>
              <a:gd fmla="val 6400"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7" name="Google Shape;847;p19"/>
          <p:cNvSpPr/>
          <p:nvPr/>
        </p:nvSpPr>
        <p:spPr>
          <a:xfrm>
            <a:off x="841248" y="4718304"/>
            <a:ext cx="27432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TECHNIQUES</a:t>
            </a:r>
            <a:endParaRPr b="0" i="0" spc="0" sz="1100" u="none" cap="none" strike="noStrike">
              <a:solidFill>
                <a:schemeClr val="dk1"/>
              </a:solidFill>
              <a:latin typeface="Calibri"/>
              <a:ea typeface="Calibri"/>
              <a:cs typeface="Calibri"/>
              <a:sym typeface="Calibri"/>
            </a:endParaRPr>
          </a:p>
        </p:txBody>
      </p:sp>
      <p:sp>
        <p:nvSpPr>
          <p:cNvPr id="848" name="Google Shape;848;p19"/>
          <p:cNvSpPr/>
          <p:nvPr/>
        </p:nvSpPr>
        <p:spPr>
          <a:xfrm>
            <a:off x="841248" y="4983480"/>
            <a:ext cx="105066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50"/>
              <a:buFont typeface="Calibri"/>
              <a:buNone/>
            </a:pPr>
            <a:r>
              <a:rPr b="0" i="0" lang="en-US" spc="0" sz="1350" u="none" cap="none" strike="noStrike">
                <a:solidFill>
                  <a:srgbClr val="F1EADF"/>
                </a:solidFill>
                <a:latin typeface="Calibri"/>
                <a:ea typeface="Calibri"/>
                <a:cs typeface="Calibri"/>
                <a:sym typeface="Calibri"/>
              </a:rPr>
              <a:t>Chunking fixe (avec chevauchement / overlap)  ·  chunking basé sur la structure Markdown/HTML  ·  chunking sémantique.</a:t>
            </a:r>
            <a:endParaRPr b="0" i="0" spc="0" sz="1350" u="none" cap="none" strike="noStrike">
              <a:solidFill>
                <a:schemeClr val="dk1"/>
              </a:solidFill>
              <a:latin typeface="Calibri"/>
              <a:ea typeface="Calibri"/>
              <a:cs typeface="Calibri"/>
              <a:sym typeface="Calibri"/>
            </a:endParaRPr>
          </a:p>
        </p:txBody>
      </p:sp>
      <p:sp>
        <p:nvSpPr>
          <p:cNvPr id="849" name="Google Shape;849;p19"/>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850" name="Google Shape;850;p19"/>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28</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55" name="Shape 855"/>
        <p:cNvGrpSpPr/>
        <p:nvPr/>
      </p:nvGrpSpPr>
      <p:grpSpPr>
        <a:xfrm>
          <a:off x="0" y="0"/>
          <a:ext cx="0" cy="0"/>
          <a:chOff x="0" y="0"/>
          <a:chExt cx="0" cy="0"/>
        </a:xfrm>
      </p:grpSpPr>
      <p:sp>
        <p:nvSpPr>
          <p:cNvPr id="856" name="Google Shape;856;p20"/>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857" name="Google Shape;857;p20"/>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Vectorisation &amp; Embeddings locaux</a:t>
            </a:r>
            <a:endParaRPr b="0" i="0" spc="0" sz="2900" u="none" cap="none" strike="noStrike">
              <a:solidFill>
                <a:schemeClr val="dk1"/>
              </a:solidFill>
              <a:latin typeface="Calibri"/>
              <a:ea typeface="Calibri"/>
              <a:cs typeface="Calibri"/>
              <a:sym typeface="Calibri"/>
            </a:endParaRPr>
          </a:p>
        </p:txBody>
      </p:sp>
      <p:sp>
        <p:nvSpPr>
          <p:cNvPr id="858" name="Google Shape;858;p20"/>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9" name="Google Shape;859;p20"/>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3 / 6</a:t>
            </a:r>
            <a:endParaRPr b="0" i="0" spc="0" sz="1300" u="none" cap="none" strike="noStrike">
              <a:solidFill>
                <a:schemeClr val="dk1"/>
              </a:solidFill>
              <a:latin typeface="Calibri"/>
              <a:ea typeface="Calibri"/>
              <a:cs typeface="Calibri"/>
              <a:sym typeface="Calibri"/>
            </a:endParaRPr>
          </a:p>
        </p:txBody>
      </p:sp>
      <p:sp>
        <p:nvSpPr>
          <p:cNvPr id="860" name="Google Shape;860;p20"/>
          <p:cNvSpPr/>
          <p:nvPr/>
        </p:nvSpPr>
        <p:spPr>
          <a:xfrm>
            <a:off x="566928" y="219456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1" name="Google Shape;861;p20"/>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862" name="Google Shape;862;p20"/>
          <p:cNvSpPr/>
          <p:nvPr/>
        </p:nvSpPr>
        <p:spPr>
          <a:xfrm>
            <a:off x="822960" y="2560320"/>
            <a:ext cx="105429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Convertir chaque chunk en vecteur grâce à un modèle d'embedding dédié (ex. Sentence-Transformers).</a:t>
            </a:r>
            <a:endParaRPr b="0" i="0" spc="0" sz="1400" u="none" cap="none" strike="noStrike">
              <a:solidFill>
                <a:schemeClr val="dk1"/>
              </a:solidFill>
              <a:latin typeface="Calibri"/>
              <a:ea typeface="Calibri"/>
              <a:cs typeface="Calibri"/>
              <a:sym typeface="Calibri"/>
            </a:endParaRPr>
          </a:p>
        </p:txBody>
      </p:sp>
      <p:sp>
        <p:nvSpPr>
          <p:cNvPr id="863" name="Google Shape;863;p20"/>
          <p:cNvSpPr/>
          <p:nvPr/>
        </p:nvSpPr>
        <p:spPr>
          <a:xfrm>
            <a:off x="566928" y="3246120"/>
            <a:ext cx="3471600" cy="822900"/>
          </a:xfrm>
          <a:prstGeom prst="roundRect">
            <a:avLst>
              <a:gd fmla="val 888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4" name="Google Shape;864;p20"/>
          <p:cNvSpPr/>
          <p:nvPr/>
        </p:nvSpPr>
        <p:spPr>
          <a:xfrm>
            <a:off x="704088" y="3246120"/>
            <a:ext cx="3197400" cy="82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1400"/>
              <a:buFont typeface="Courier New"/>
              <a:buNone/>
            </a:pPr>
            <a:r>
              <a:rPr b="1" i="0" lang="en-US" spc="0" sz="1400" u="none" cap="none" strike="noStrike">
                <a:solidFill>
                  <a:srgbClr val="C77B4C"/>
                </a:solidFill>
                <a:latin typeface="Courier New"/>
                <a:ea typeface="Courier New"/>
                <a:cs typeface="Courier New"/>
                <a:sym typeface="Courier New"/>
              </a:rPr>
              <a:t>all-MiniLM-L6-v2</a:t>
            </a:r>
            <a:endParaRPr b="0" i="0" spc="0" sz="1400" u="none" cap="none" strike="noStrike">
              <a:solidFill>
                <a:schemeClr val="dk1"/>
              </a:solidFill>
              <a:latin typeface="Calibri"/>
              <a:ea typeface="Calibri"/>
              <a:cs typeface="Calibri"/>
              <a:sym typeface="Calibri"/>
            </a:endParaRPr>
          </a:p>
        </p:txBody>
      </p:sp>
      <p:sp>
        <p:nvSpPr>
          <p:cNvPr id="865" name="Google Shape;865;p20"/>
          <p:cNvSpPr/>
          <p:nvPr/>
        </p:nvSpPr>
        <p:spPr>
          <a:xfrm>
            <a:off x="4358640" y="3246120"/>
            <a:ext cx="3471600" cy="822900"/>
          </a:xfrm>
          <a:prstGeom prst="roundRect">
            <a:avLst>
              <a:gd fmla="val 888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6" name="Google Shape;866;p20"/>
          <p:cNvSpPr/>
          <p:nvPr/>
        </p:nvSpPr>
        <p:spPr>
          <a:xfrm>
            <a:off x="4495800" y="3246120"/>
            <a:ext cx="3197400" cy="82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1400"/>
              <a:buFont typeface="Courier New"/>
              <a:buNone/>
            </a:pPr>
            <a:r>
              <a:rPr b="1" i="0" lang="en-US" spc="0" sz="1400" u="none" cap="none" strike="noStrike">
                <a:solidFill>
                  <a:srgbClr val="C77B4C"/>
                </a:solidFill>
                <a:latin typeface="Courier New"/>
                <a:ea typeface="Courier New"/>
                <a:cs typeface="Courier New"/>
                <a:sym typeface="Courier New"/>
              </a:rPr>
              <a:t>bge-m3</a:t>
            </a:r>
            <a:endParaRPr b="0" i="0" spc="0" sz="1400" u="none" cap="none" strike="noStrike">
              <a:solidFill>
                <a:schemeClr val="dk1"/>
              </a:solidFill>
              <a:latin typeface="Calibri"/>
              <a:ea typeface="Calibri"/>
              <a:cs typeface="Calibri"/>
              <a:sym typeface="Calibri"/>
            </a:endParaRPr>
          </a:p>
        </p:txBody>
      </p:sp>
      <p:sp>
        <p:nvSpPr>
          <p:cNvPr id="867" name="Google Shape;867;p20"/>
          <p:cNvSpPr/>
          <p:nvPr/>
        </p:nvSpPr>
        <p:spPr>
          <a:xfrm>
            <a:off x="8150352" y="3246120"/>
            <a:ext cx="3471600" cy="822900"/>
          </a:xfrm>
          <a:prstGeom prst="roundRect">
            <a:avLst>
              <a:gd fmla="val 8889"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8" name="Google Shape;868;p20"/>
          <p:cNvSpPr/>
          <p:nvPr/>
        </p:nvSpPr>
        <p:spPr>
          <a:xfrm>
            <a:off x="8287512" y="3246120"/>
            <a:ext cx="3197400" cy="8229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77B4C"/>
              </a:buClr>
              <a:buSzPts val="1400"/>
              <a:buFont typeface="Courier New"/>
              <a:buNone/>
            </a:pPr>
            <a:r>
              <a:rPr b="1" i="0" lang="en-US" spc="0" sz="1400" u="none" cap="none" strike="noStrike">
                <a:solidFill>
                  <a:srgbClr val="C77B4C"/>
                </a:solidFill>
                <a:latin typeface="Courier New"/>
                <a:ea typeface="Courier New"/>
                <a:cs typeface="Courier New"/>
                <a:sym typeface="Courier New"/>
              </a:rPr>
              <a:t>e5-mistral</a:t>
            </a:r>
            <a:endParaRPr b="0" i="0" spc="0" sz="1400" u="none" cap="none" strike="noStrike">
              <a:solidFill>
                <a:schemeClr val="dk1"/>
              </a:solidFill>
              <a:latin typeface="Calibri"/>
              <a:ea typeface="Calibri"/>
              <a:cs typeface="Calibri"/>
              <a:sym typeface="Calibri"/>
            </a:endParaRPr>
          </a:p>
        </p:txBody>
      </p:sp>
      <p:sp>
        <p:nvSpPr>
          <p:cNvPr id="869" name="Google Shape;869;p20"/>
          <p:cNvSpPr/>
          <p:nvPr/>
        </p:nvSpPr>
        <p:spPr>
          <a:xfrm>
            <a:off x="566928" y="4343400"/>
            <a:ext cx="11055000" cy="1051500"/>
          </a:xfrm>
          <a:prstGeom prst="roundRect">
            <a:avLst>
              <a:gd fmla="val 695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0" name="Google Shape;870;p20"/>
          <p:cNvSpPr/>
          <p:nvPr/>
        </p:nvSpPr>
        <p:spPr>
          <a:xfrm>
            <a:off x="841248" y="4343400"/>
            <a:ext cx="10506600" cy="105150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C77B4C"/>
              </a:buClr>
              <a:buSzPts val="1400"/>
              <a:buFont typeface="Calibri"/>
              <a:buNone/>
            </a:pPr>
            <a:r>
              <a:rPr b="1" i="0" lang="en-US" spc="0" sz="1400" u="none" cap="none" strike="noStrike">
                <a:solidFill>
                  <a:srgbClr val="C77B4C"/>
                </a:solidFill>
                <a:latin typeface="Calibri"/>
                <a:ea typeface="Calibri"/>
                <a:cs typeface="Calibri"/>
                <a:sym typeface="Calibri"/>
              </a:rPr>
              <a:t>⚠  Nuance critique   </a:t>
            </a:r>
            <a:r>
              <a:rPr b="0" i="0" lang="en-US" spc="0" sz="1400" u="none" cap="none" strike="noStrike">
                <a:solidFill>
                  <a:srgbClr val="F1EADF"/>
                </a:solidFill>
                <a:latin typeface="Calibri"/>
                <a:ea typeface="Calibri"/>
                <a:cs typeface="Calibri"/>
                <a:sym typeface="Calibri"/>
              </a:rPr>
              <a:t>Le modèle d'embedding utilisé pour l'indexation doit impérativement être le même que celui utilisé lors de la requête utilisateur.</a:t>
            </a:r>
            <a:endParaRPr b="0" i="0" spc="0" sz="1400" u="none" cap="none" strike="noStrike">
              <a:solidFill>
                <a:schemeClr val="dk1"/>
              </a:solidFill>
              <a:latin typeface="Calibri"/>
              <a:ea typeface="Calibri"/>
              <a:cs typeface="Calibri"/>
              <a:sym typeface="Calibri"/>
            </a:endParaRPr>
          </a:p>
        </p:txBody>
      </p:sp>
      <p:sp>
        <p:nvSpPr>
          <p:cNvPr id="871" name="Google Shape;871;p20"/>
          <p:cNvSpPr/>
          <p:nvPr/>
        </p:nvSpPr>
        <p:spPr>
          <a:xfrm>
            <a:off x="566928" y="5989320"/>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050"/>
              <a:buFont typeface="Calibri"/>
              <a:buNone/>
            </a:pPr>
            <a:r>
              <a:rPr b="1" i="1" lang="en-US" spc="0" sz="1050" u="none" cap="none" strike="noStrike">
                <a:solidFill>
                  <a:srgbClr val="C77B4C"/>
                </a:solidFill>
                <a:latin typeface="Calibri"/>
                <a:ea typeface="Calibri"/>
                <a:cs typeface="Calibri"/>
                <a:sym typeface="Calibri"/>
              </a:rPr>
              <a:t>Source : </a:t>
            </a:r>
            <a:r>
              <a:rPr b="0" i="1" lang="en-US" spc="0" sz="1050" u="none" cap="none" strike="noStrike">
                <a:solidFill>
                  <a:srgbClr val="9DB0C2"/>
                </a:solidFill>
                <a:latin typeface="Calibri"/>
                <a:ea typeface="Calibri"/>
                <a:cs typeface="Calibri"/>
                <a:sym typeface="Calibri"/>
              </a:rPr>
              <a:t>MTEB Leaderboard  -  Massive Text Embedding Benchmark (Hugging Face) </a:t>
            </a:r>
            <a:r>
              <a:rPr b="0" i="1" lang="en-US" spc="0" sz="1050" u="sng" cap="none" strike="noStrike">
                <a:solidFill>
                  <a:schemeClr val="hlink"/>
                </a:solidFill>
                <a:latin typeface="Calibri"/>
                <a:ea typeface="Calibri"/>
                <a:cs typeface="Calibri"/>
                <a:sym typeface="Calibri"/>
                <a:hlinkClick r:id="rId3"/>
              </a:rPr>
              <a:t>https://huggingface.co/spaces/mteb/leaderboard</a:t>
            </a:r>
            <a:r>
              <a:rPr b="0" i="1" lang="en-US" spc="0" sz="1050" u="none" cap="none" strike="noStrike">
                <a:solidFill>
                  <a:srgbClr val="9DB0C2"/>
                </a:solidFill>
                <a:latin typeface="Calibri"/>
                <a:ea typeface="Calibri"/>
                <a:cs typeface="Calibri"/>
                <a:sym typeface="Calibri"/>
              </a:rPr>
              <a:t> </a:t>
            </a:r>
            <a:endParaRPr b="0" i="0" spc="0" sz="1050" u="none" cap="none" strike="noStrike">
              <a:solidFill>
                <a:schemeClr val="dk1"/>
              </a:solidFill>
              <a:latin typeface="Calibri"/>
              <a:ea typeface="Calibri"/>
              <a:cs typeface="Calibri"/>
              <a:sym typeface="Calibri"/>
            </a:endParaRPr>
          </a:p>
        </p:txBody>
      </p:sp>
      <p:sp>
        <p:nvSpPr>
          <p:cNvPr id="872" name="Google Shape;872;p20"/>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873" name="Google Shape;873;p20"/>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29</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78" name="Shape 878"/>
        <p:cNvGrpSpPr/>
        <p:nvPr/>
      </p:nvGrpSpPr>
      <p:grpSpPr>
        <a:xfrm>
          <a:off x="0" y="0"/>
          <a:ext cx="0" cy="0"/>
          <a:chOff x="0" y="0"/>
          <a:chExt cx="0" cy="0"/>
        </a:xfrm>
      </p:grpSpPr>
      <p:sp>
        <p:nvSpPr>
          <p:cNvPr id="879" name="Google Shape;879;p21"/>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880" name="Google Shape;880;p21"/>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Stockage dans une base vectorielle</a:t>
            </a:r>
            <a:endParaRPr b="0" i="0" spc="0" sz="2900" u="none" cap="none" strike="noStrike">
              <a:solidFill>
                <a:schemeClr val="dk1"/>
              </a:solidFill>
              <a:latin typeface="Calibri"/>
              <a:ea typeface="Calibri"/>
              <a:cs typeface="Calibri"/>
              <a:sym typeface="Calibri"/>
            </a:endParaRPr>
          </a:p>
        </p:txBody>
      </p:sp>
      <p:sp>
        <p:nvSpPr>
          <p:cNvPr id="881" name="Google Shape;881;p21"/>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2" name="Google Shape;882;p21"/>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4 / 6</a:t>
            </a:r>
            <a:endParaRPr b="0" i="0" spc="0" sz="1300" u="none" cap="none" strike="noStrike">
              <a:solidFill>
                <a:schemeClr val="dk1"/>
              </a:solidFill>
              <a:latin typeface="Calibri"/>
              <a:ea typeface="Calibri"/>
              <a:cs typeface="Calibri"/>
              <a:sym typeface="Calibri"/>
            </a:endParaRPr>
          </a:p>
        </p:txBody>
      </p:sp>
      <p:sp>
        <p:nvSpPr>
          <p:cNvPr id="883" name="Google Shape;883;p21"/>
          <p:cNvSpPr/>
          <p:nvPr/>
        </p:nvSpPr>
        <p:spPr>
          <a:xfrm>
            <a:off x="566928" y="219456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4" name="Google Shape;884;p21"/>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885" name="Google Shape;885;p21"/>
          <p:cNvSpPr/>
          <p:nvPr/>
        </p:nvSpPr>
        <p:spPr>
          <a:xfrm>
            <a:off x="822960" y="2560320"/>
            <a:ext cx="105429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Indexer les vecteurs pour permettre une recherche de similarité à très grande échelle.</a:t>
            </a:r>
            <a:endParaRPr b="0" i="0" spc="0" sz="1400" u="none" cap="none" strike="noStrike">
              <a:solidFill>
                <a:schemeClr val="dk1"/>
              </a:solidFill>
              <a:latin typeface="Calibri"/>
              <a:ea typeface="Calibri"/>
              <a:cs typeface="Calibri"/>
              <a:sym typeface="Calibri"/>
            </a:endParaRPr>
          </a:p>
        </p:txBody>
      </p:sp>
      <p:sp>
        <p:nvSpPr>
          <p:cNvPr id="886" name="Google Shape;886;p21"/>
          <p:cNvSpPr/>
          <p:nvPr/>
        </p:nvSpPr>
        <p:spPr>
          <a:xfrm>
            <a:off x="566928" y="3246120"/>
            <a:ext cx="5298900" cy="1417200"/>
          </a:xfrm>
          <a:prstGeom prst="roundRect">
            <a:avLst>
              <a:gd fmla="val 5161"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7" name="Google Shape;887;p21"/>
          <p:cNvSpPr/>
          <p:nvPr/>
        </p:nvSpPr>
        <p:spPr>
          <a:xfrm>
            <a:off x="841248"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700"/>
              <a:buFont typeface="Cambria"/>
              <a:buNone/>
            </a:pPr>
            <a:r>
              <a:rPr b="1" i="0" lang="en-US" spc="0" sz="1700" u="none" cap="none" strike="noStrike">
                <a:solidFill>
                  <a:srgbClr val="C77B4C"/>
                </a:solidFill>
                <a:latin typeface="Cambria"/>
                <a:ea typeface="Cambria"/>
                <a:cs typeface="Cambria"/>
                <a:sym typeface="Cambria"/>
              </a:rPr>
              <a:t>ChromaDB</a:t>
            </a:r>
            <a:endParaRPr b="0" i="0" spc="0" sz="1700" u="none" cap="none" strike="noStrike">
              <a:solidFill>
                <a:schemeClr val="dk1"/>
              </a:solidFill>
              <a:latin typeface="Calibri"/>
              <a:ea typeface="Calibri"/>
              <a:cs typeface="Calibri"/>
              <a:sym typeface="Calibri"/>
            </a:endParaRPr>
          </a:p>
        </p:txBody>
      </p:sp>
      <p:sp>
        <p:nvSpPr>
          <p:cNvPr id="888" name="Google Shape;888;p21"/>
          <p:cNvSpPr/>
          <p:nvPr/>
        </p:nvSpPr>
        <p:spPr>
          <a:xfrm>
            <a:off x="841248" y="3867912"/>
            <a:ext cx="47502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00"/>
              <a:buFont typeface="Calibri"/>
              <a:buNone/>
            </a:pPr>
            <a:r>
              <a:rPr b="0" i="0" lang="en-US" spc="0" sz="1300" u="none" cap="none" strike="noStrike">
                <a:solidFill>
                  <a:srgbClr val="F1EADF"/>
                </a:solidFill>
                <a:latin typeface="Calibri"/>
                <a:ea typeface="Calibri"/>
                <a:cs typeface="Calibri"/>
                <a:sym typeface="Calibri"/>
              </a:rPr>
              <a:t>Légère, idéale pour le prototypage local (Python native).</a:t>
            </a:r>
            <a:endParaRPr b="0" i="0" spc="0" sz="1300" u="none" cap="none" strike="noStrike">
              <a:solidFill>
                <a:schemeClr val="dk1"/>
              </a:solidFill>
              <a:latin typeface="Calibri"/>
              <a:ea typeface="Calibri"/>
              <a:cs typeface="Calibri"/>
              <a:sym typeface="Calibri"/>
            </a:endParaRPr>
          </a:p>
        </p:txBody>
      </p:sp>
      <p:sp>
        <p:nvSpPr>
          <p:cNvPr id="889" name="Google Shape;889;p21"/>
          <p:cNvSpPr/>
          <p:nvPr/>
        </p:nvSpPr>
        <p:spPr>
          <a:xfrm>
            <a:off x="6323076" y="3246120"/>
            <a:ext cx="5298900" cy="1417200"/>
          </a:xfrm>
          <a:prstGeom prst="roundRect">
            <a:avLst>
              <a:gd fmla="val 5161"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0" name="Google Shape;890;p21"/>
          <p:cNvSpPr/>
          <p:nvPr/>
        </p:nvSpPr>
        <p:spPr>
          <a:xfrm>
            <a:off x="6597396"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700"/>
              <a:buFont typeface="Cambria"/>
              <a:buNone/>
            </a:pPr>
            <a:r>
              <a:rPr b="1" i="0" lang="en-US" spc="0" sz="1700" u="none" cap="none" strike="noStrike">
                <a:solidFill>
                  <a:srgbClr val="C77B4C"/>
                </a:solidFill>
                <a:latin typeface="Cambria"/>
                <a:ea typeface="Cambria"/>
                <a:cs typeface="Cambria"/>
                <a:sym typeface="Cambria"/>
              </a:rPr>
              <a:t>Qdrant · Milvus · FAISS</a:t>
            </a:r>
            <a:endParaRPr b="0" i="0" spc="0" sz="1700" u="none" cap="none" strike="noStrike">
              <a:solidFill>
                <a:schemeClr val="dk1"/>
              </a:solidFill>
              <a:latin typeface="Calibri"/>
              <a:ea typeface="Calibri"/>
              <a:cs typeface="Calibri"/>
              <a:sym typeface="Calibri"/>
            </a:endParaRPr>
          </a:p>
        </p:txBody>
      </p:sp>
      <p:sp>
        <p:nvSpPr>
          <p:cNvPr id="891" name="Google Shape;891;p21"/>
          <p:cNvSpPr/>
          <p:nvPr/>
        </p:nvSpPr>
        <p:spPr>
          <a:xfrm>
            <a:off x="6597396" y="3867912"/>
            <a:ext cx="47502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1EADF"/>
              </a:buClr>
              <a:buSzPts val="1300"/>
              <a:buFont typeface="Calibri"/>
              <a:buNone/>
            </a:pPr>
            <a:r>
              <a:rPr b="0" i="0" lang="en-US" spc="0" sz="1300" u="none" cap="none" strike="noStrike">
                <a:solidFill>
                  <a:srgbClr val="F1EADF"/>
                </a:solidFill>
                <a:latin typeface="Calibri"/>
                <a:ea typeface="Calibri"/>
                <a:cs typeface="Calibri"/>
                <a:sym typeface="Calibri"/>
              </a:rPr>
              <a:t>Volumes massifs et production, avec filtrage par métadonnées.</a:t>
            </a:r>
            <a:endParaRPr b="0" i="0" spc="0" sz="1300" u="none" cap="none" strike="noStrike">
              <a:solidFill>
                <a:schemeClr val="dk1"/>
              </a:solidFill>
              <a:latin typeface="Calibri"/>
              <a:ea typeface="Calibri"/>
              <a:cs typeface="Calibri"/>
              <a:sym typeface="Calibri"/>
            </a:endParaRPr>
          </a:p>
        </p:txBody>
      </p:sp>
      <p:sp>
        <p:nvSpPr>
          <p:cNvPr id="892" name="Google Shape;892;p21"/>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893" name="Google Shape;893;p21"/>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30</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898" name="Shape 898"/>
        <p:cNvGrpSpPr/>
        <p:nvPr/>
      </p:nvGrpSpPr>
      <p:grpSpPr>
        <a:xfrm>
          <a:off x="0" y="0"/>
          <a:ext cx="0" cy="0"/>
          <a:chOff x="0" y="0"/>
          <a:chExt cx="0" cy="0"/>
        </a:xfrm>
      </p:grpSpPr>
      <p:sp>
        <p:nvSpPr>
          <p:cNvPr id="899" name="Google Shape;899;p22"/>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900" name="Google Shape;900;p22"/>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Récupération &amp; distance cosinus</a:t>
            </a:r>
            <a:endParaRPr b="0" i="0" spc="0" sz="2900" u="none" cap="none" strike="noStrike">
              <a:solidFill>
                <a:schemeClr val="dk1"/>
              </a:solidFill>
              <a:latin typeface="Calibri"/>
              <a:ea typeface="Calibri"/>
              <a:cs typeface="Calibri"/>
              <a:sym typeface="Calibri"/>
            </a:endParaRPr>
          </a:p>
        </p:txBody>
      </p:sp>
      <p:sp>
        <p:nvSpPr>
          <p:cNvPr id="901" name="Google Shape;901;p22"/>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2" name="Google Shape;902;p22"/>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5 / 6</a:t>
            </a:r>
            <a:endParaRPr b="0" i="0" spc="0" sz="1300" u="none" cap="none" strike="noStrike">
              <a:solidFill>
                <a:schemeClr val="dk1"/>
              </a:solidFill>
              <a:latin typeface="Calibri"/>
              <a:ea typeface="Calibri"/>
              <a:cs typeface="Calibri"/>
              <a:sym typeface="Calibri"/>
            </a:endParaRPr>
          </a:p>
        </p:txBody>
      </p:sp>
      <p:sp>
        <p:nvSpPr>
          <p:cNvPr id="903" name="Google Shape;903;p22"/>
          <p:cNvSpPr/>
          <p:nvPr/>
        </p:nvSpPr>
        <p:spPr>
          <a:xfrm>
            <a:off x="566928" y="219456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4" name="Google Shape;904;p22"/>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905" name="Google Shape;905;p22"/>
          <p:cNvSpPr/>
          <p:nvPr/>
        </p:nvSpPr>
        <p:spPr>
          <a:xfrm>
            <a:off x="822960" y="2560320"/>
            <a:ext cx="105429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Retrouver les k chunks les plus proches de la question de l'utilisateur.</a:t>
            </a:r>
            <a:endParaRPr b="0" i="0" spc="0" sz="1400" u="none" cap="none" strike="noStrike">
              <a:solidFill>
                <a:schemeClr val="dk1"/>
              </a:solidFill>
              <a:latin typeface="Calibri"/>
              <a:ea typeface="Calibri"/>
              <a:cs typeface="Calibri"/>
              <a:sym typeface="Calibri"/>
            </a:endParaRPr>
          </a:p>
        </p:txBody>
      </p:sp>
      <p:sp>
        <p:nvSpPr>
          <p:cNvPr id="906" name="Google Shape;906;p22"/>
          <p:cNvSpPr/>
          <p:nvPr/>
        </p:nvSpPr>
        <p:spPr>
          <a:xfrm>
            <a:off x="566928" y="3246120"/>
            <a:ext cx="5298900" cy="2148900"/>
          </a:xfrm>
          <a:prstGeom prst="roundRect">
            <a:avLst>
              <a:gd fmla="val 3404" name="adj"/>
            </a:avLst>
          </a:prstGeom>
          <a:solidFill>
            <a:srgbClr val="1A344B"/>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7" name="Google Shape;907;p22"/>
          <p:cNvSpPr/>
          <p:nvPr/>
        </p:nvSpPr>
        <p:spPr>
          <a:xfrm>
            <a:off x="841248"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600"/>
              <a:buFont typeface="Cambria"/>
              <a:buNone/>
            </a:pPr>
            <a:r>
              <a:rPr b="1" i="0" lang="en-US" spc="0" sz="1600" u="none" cap="none" strike="noStrike">
                <a:solidFill>
                  <a:srgbClr val="C77B4C"/>
                </a:solidFill>
                <a:latin typeface="Cambria"/>
                <a:ea typeface="Cambria"/>
                <a:cs typeface="Cambria"/>
                <a:sym typeface="Cambria"/>
              </a:rPr>
              <a:t>Mesures de distance</a:t>
            </a:r>
            <a:endParaRPr b="0" i="0" spc="0" sz="1600" u="none" cap="none" strike="noStrike">
              <a:solidFill>
                <a:schemeClr val="dk1"/>
              </a:solidFill>
              <a:latin typeface="Calibri"/>
              <a:ea typeface="Calibri"/>
              <a:cs typeface="Calibri"/>
              <a:sym typeface="Calibri"/>
            </a:endParaRPr>
          </a:p>
        </p:txBody>
      </p:sp>
      <p:sp>
        <p:nvSpPr>
          <p:cNvPr id="908" name="Google Shape;908;p22"/>
          <p:cNvSpPr/>
          <p:nvPr/>
        </p:nvSpPr>
        <p:spPr>
          <a:xfrm>
            <a:off x="841248" y="3931920"/>
            <a:ext cx="4750200" cy="13716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350"/>
              <a:buFont typeface="Calibri"/>
              <a:buChar char="•"/>
            </a:pPr>
            <a:r>
              <a:rPr b="1" i="0" lang="en-US" spc="0" sz="1350" u="none" cap="none" strike="noStrike">
                <a:solidFill>
                  <a:srgbClr val="F1EADF"/>
                </a:solidFill>
                <a:latin typeface="Calibri"/>
                <a:ea typeface="Calibri"/>
                <a:cs typeface="Calibri"/>
                <a:sym typeface="Calibri"/>
              </a:rPr>
              <a:t>Similarité cosinus</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0" i="0" lang="en-US" spc="0" sz="1350" u="none" cap="none" strike="noStrike">
                <a:solidFill>
                  <a:srgbClr val="F1EADF"/>
                </a:solidFill>
                <a:latin typeface="Calibri"/>
                <a:ea typeface="Calibri"/>
                <a:cs typeface="Calibri"/>
                <a:sym typeface="Calibri"/>
              </a:rPr>
              <a:t>Mesure l'angle entre deux vecteurs (indépendante de la norme)</a:t>
            </a:r>
            <a:endParaRPr b="0" i="0" spc="0" sz="135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350"/>
              <a:buFont typeface="Calibri"/>
              <a:buChar char="•"/>
            </a:pPr>
            <a:r>
              <a:rPr b="1" i="0" lang="en-US" spc="0" sz="1350" u="none" cap="none" strike="noStrike">
                <a:solidFill>
                  <a:srgbClr val="F1EADF"/>
                </a:solidFill>
                <a:latin typeface="Calibri"/>
                <a:ea typeface="Calibri"/>
                <a:cs typeface="Calibri"/>
                <a:sym typeface="Calibri"/>
              </a:rPr>
              <a:t>Produit scalaire · distance euclidienne</a:t>
            </a:r>
            <a:endParaRPr b="0" i="0" spc="0" sz="1350" u="none" cap="none" strike="noStrike">
              <a:solidFill>
                <a:schemeClr val="dk1"/>
              </a:solidFill>
              <a:latin typeface="Calibri"/>
              <a:ea typeface="Calibri"/>
              <a:cs typeface="Calibri"/>
              <a:sym typeface="Calibri"/>
            </a:endParaRPr>
          </a:p>
        </p:txBody>
      </p:sp>
      <p:sp>
        <p:nvSpPr>
          <p:cNvPr id="909" name="Google Shape;909;p22"/>
          <p:cNvSpPr/>
          <p:nvPr/>
        </p:nvSpPr>
        <p:spPr>
          <a:xfrm>
            <a:off x="6323076" y="3246120"/>
            <a:ext cx="5298900" cy="2148900"/>
          </a:xfrm>
          <a:prstGeom prst="roundRect">
            <a:avLst>
              <a:gd fmla="val 3404"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0" name="Google Shape;910;p22"/>
          <p:cNvSpPr/>
          <p:nvPr/>
        </p:nvSpPr>
        <p:spPr>
          <a:xfrm>
            <a:off x="6597396" y="3429000"/>
            <a:ext cx="47502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600"/>
              <a:buFont typeface="Cambria"/>
              <a:buNone/>
            </a:pPr>
            <a:r>
              <a:rPr b="1" i="0" lang="en-US" spc="0" sz="1600" u="none" cap="none" strike="noStrike">
                <a:solidFill>
                  <a:srgbClr val="C77B4C"/>
                </a:solidFill>
                <a:latin typeface="Cambria"/>
                <a:ea typeface="Cambria"/>
                <a:cs typeface="Cambria"/>
                <a:sym typeface="Cambria"/>
              </a:rPr>
              <a:t>Indexation</a:t>
            </a:r>
            <a:endParaRPr b="0" i="0" spc="0" sz="1600" u="none" cap="none" strike="noStrike">
              <a:solidFill>
                <a:schemeClr val="dk1"/>
              </a:solidFill>
              <a:latin typeface="Calibri"/>
              <a:ea typeface="Calibri"/>
              <a:cs typeface="Calibri"/>
              <a:sym typeface="Calibri"/>
            </a:endParaRPr>
          </a:p>
        </p:txBody>
      </p:sp>
      <p:sp>
        <p:nvSpPr>
          <p:cNvPr id="911" name="Google Shape;911;p22"/>
          <p:cNvSpPr/>
          <p:nvPr/>
        </p:nvSpPr>
        <p:spPr>
          <a:xfrm>
            <a:off x="6597396" y="3904488"/>
            <a:ext cx="4750200" cy="411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2200"/>
              <a:buFont typeface="Cambria"/>
              <a:buNone/>
            </a:pPr>
            <a:r>
              <a:rPr b="1" i="0" lang="en-US" spc="0" sz="2200" u="none" cap="none" strike="noStrike">
                <a:solidFill>
                  <a:srgbClr val="F1EADF"/>
                </a:solidFill>
                <a:latin typeface="Cambria"/>
                <a:ea typeface="Cambria"/>
                <a:cs typeface="Cambria"/>
                <a:sym typeface="Cambria"/>
              </a:rPr>
              <a:t>HNSW</a:t>
            </a:r>
            <a:endParaRPr b="0" i="0" spc="0" sz="2200" u="none" cap="none" strike="noStrike">
              <a:solidFill>
                <a:schemeClr val="dk1"/>
              </a:solidFill>
              <a:latin typeface="Calibri"/>
              <a:ea typeface="Calibri"/>
              <a:cs typeface="Calibri"/>
              <a:sym typeface="Calibri"/>
            </a:endParaRPr>
          </a:p>
        </p:txBody>
      </p:sp>
      <p:sp>
        <p:nvSpPr>
          <p:cNvPr id="912" name="Google Shape;912;p22"/>
          <p:cNvSpPr/>
          <p:nvPr/>
        </p:nvSpPr>
        <p:spPr>
          <a:xfrm>
            <a:off x="6597396" y="4389120"/>
            <a:ext cx="4750200" cy="868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9DB0C2"/>
              </a:buClr>
              <a:buSzPts val="1300"/>
              <a:buFont typeface="Calibri"/>
              <a:buNone/>
            </a:pPr>
            <a:r>
              <a:rPr b="0" i="0" lang="en-US" spc="0" sz="1300" u="none" cap="none" strike="noStrike">
                <a:solidFill>
                  <a:srgbClr val="9DB0C2"/>
                </a:solidFill>
                <a:latin typeface="Calibri"/>
                <a:ea typeface="Calibri"/>
                <a:cs typeface="Calibri"/>
                <a:sym typeface="Calibri"/>
              </a:rPr>
              <a:t>Hierarchical Navigable Small World — recherche approximative ultra-rapide (ANN).</a:t>
            </a:r>
            <a:endParaRPr b="0" i="0" spc="0" sz="1300" u="none" cap="none" strike="noStrike">
              <a:solidFill>
                <a:schemeClr val="dk1"/>
              </a:solidFill>
              <a:latin typeface="Calibri"/>
              <a:ea typeface="Calibri"/>
              <a:cs typeface="Calibri"/>
              <a:sym typeface="Calibri"/>
            </a:endParaRPr>
          </a:p>
        </p:txBody>
      </p:sp>
      <p:sp>
        <p:nvSpPr>
          <p:cNvPr id="913" name="Google Shape;913;p22"/>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914" name="Google Shape;914;p22"/>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31</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919" name="Shape 919"/>
        <p:cNvGrpSpPr/>
        <p:nvPr/>
      </p:nvGrpSpPr>
      <p:grpSpPr>
        <a:xfrm>
          <a:off x="0" y="0"/>
          <a:ext cx="0" cy="0"/>
          <a:chOff x="0" y="0"/>
          <a:chExt cx="0" cy="0"/>
        </a:xfrm>
      </p:grpSpPr>
      <p:sp>
        <p:nvSpPr>
          <p:cNvPr id="920" name="Google Shape;920;p23"/>
          <p:cNvSpPr/>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PIPELINE RAG</a:t>
            </a:r>
            <a:endParaRPr b="0" i="0" spc="0" sz="1200" u="none" cap="none" strike="noStrike">
              <a:solidFill>
                <a:schemeClr val="dk1"/>
              </a:solidFill>
              <a:latin typeface="Calibri"/>
              <a:ea typeface="Calibri"/>
              <a:cs typeface="Calibri"/>
              <a:sym typeface="Calibri"/>
            </a:endParaRPr>
          </a:p>
        </p:txBody>
      </p:sp>
      <p:sp>
        <p:nvSpPr>
          <p:cNvPr id="921" name="Google Shape;921;p23"/>
          <p:cNvSpPr/>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F1EADF"/>
              </a:buClr>
              <a:buSzPts val="2900"/>
              <a:buFont typeface="Cambria"/>
              <a:buNone/>
            </a:pPr>
            <a:r>
              <a:rPr b="1" i="0" lang="en-US" spc="0" sz="2900" u="none" cap="none" strike="noStrike">
                <a:solidFill>
                  <a:srgbClr val="F1EADF"/>
                </a:solidFill>
                <a:latin typeface="Cambria"/>
                <a:ea typeface="Cambria"/>
                <a:cs typeface="Cambria"/>
                <a:sym typeface="Cambria"/>
              </a:rPr>
              <a:t>Le pipeline RAG : Synthèse &amp; génération ancrée</a:t>
            </a:r>
            <a:endParaRPr b="0" i="0" spc="0" sz="2900" u="none" cap="none" strike="noStrike">
              <a:solidFill>
                <a:schemeClr val="dk1"/>
              </a:solidFill>
              <a:latin typeface="Calibri"/>
              <a:ea typeface="Calibri"/>
              <a:cs typeface="Calibri"/>
              <a:sym typeface="Calibri"/>
            </a:endParaRPr>
          </a:p>
        </p:txBody>
      </p:sp>
      <p:sp>
        <p:nvSpPr>
          <p:cNvPr id="922" name="Google Shape;922;p23"/>
          <p:cNvSpPr/>
          <p:nvPr/>
        </p:nvSpPr>
        <p:spPr>
          <a:xfrm>
            <a:off x="566928" y="1536192"/>
            <a:ext cx="2469000" cy="502800"/>
          </a:xfrm>
          <a:prstGeom prst="roundRect">
            <a:avLst>
              <a:gd fmla="val 14545" name="adj"/>
            </a:avLst>
          </a:prstGeom>
          <a:solidFill>
            <a:srgbClr val="C77B4C"/>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3" name="Google Shape;923;p23"/>
          <p:cNvSpPr/>
          <p:nvPr/>
        </p:nvSpPr>
        <p:spPr>
          <a:xfrm>
            <a:off x="566928" y="1536192"/>
            <a:ext cx="2469000" cy="502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300"/>
              <a:buFont typeface="Calibri"/>
              <a:buNone/>
            </a:pPr>
            <a:r>
              <a:rPr b="1" i="0" lang="en-US" spc="0" sz="1300" u="none" cap="none" strike="noStrike">
                <a:solidFill>
                  <a:srgbClr val="112536"/>
                </a:solidFill>
                <a:latin typeface="Calibri"/>
                <a:ea typeface="Calibri"/>
                <a:cs typeface="Calibri"/>
                <a:sym typeface="Calibri"/>
              </a:rPr>
              <a:t>ÉTAPE 6 / 6</a:t>
            </a:r>
            <a:endParaRPr b="0" i="0" spc="0" sz="1300" u="none" cap="none" strike="noStrike">
              <a:solidFill>
                <a:schemeClr val="dk1"/>
              </a:solidFill>
              <a:latin typeface="Calibri"/>
              <a:ea typeface="Calibri"/>
              <a:cs typeface="Calibri"/>
              <a:sym typeface="Calibri"/>
            </a:endParaRPr>
          </a:p>
        </p:txBody>
      </p:sp>
      <p:sp>
        <p:nvSpPr>
          <p:cNvPr id="924" name="Google Shape;924;p23"/>
          <p:cNvSpPr/>
          <p:nvPr/>
        </p:nvSpPr>
        <p:spPr>
          <a:xfrm>
            <a:off x="566928" y="2194560"/>
            <a:ext cx="6126600" cy="1051500"/>
          </a:xfrm>
          <a:prstGeom prst="roundRect">
            <a:avLst>
              <a:gd fmla="val 695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5" name="Google Shape;925;p23"/>
          <p:cNvSpPr/>
          <p:nvPr/>
        </p:nvSpPr>
        <p:spPr>
          <a:xfrm>
            <a:off x="822960" y="2313432"/>
            <a:ext cx="18288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IDÉE CLÉ</a:t>
            </a:r>
            <a:endParaRPr b="0" i="0" spc="0" sz="1100" u="none" cap="none" strike="noStrike">
              <a:solidFill>
                <a:schemeClr val="dk1"/>
              </a:solidFill>
              <a:latin typeface="Calibri"/>
              <a:ea typeface="Calibri"/>
              <a:cs typeface="Calibri"/>
              <a:sym typeface="Calibri"/>
            </a:endParaRPr>
          </a:p>
        </p:txBody>
      </p:sp>
      <p:sp>
        <p:nvSpPr>
          <p:cNvPr id="926" name="Google Shape;926;p23"/>
          <p:cNvSpPr/>
          <p:nvPr/>
        </p:nvSpPr>
        <p:spPr>
          <a:xfrm>
            <a:off x="822960" y="2560320"/>
            <a:ext cx="56145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Composer le prompt final assemblant le contexte extrait et la question de l'utilisateur.</a:t>
            </a:r>
            <a:endParaRPr b="0" i="0" spc="0" sz="1400" u="none" cap="none" strike="noStrike">
              <a:solidFill>
                <a:schemeClr val="dk1"/>
              </a:solidFill>
              <a:latin typeface="Calibri"/>
              <a:ea typeface="Calibri"/>
              <a:cs typeface="Calibri"/>
              <a:sym typeface="Calibri"/>
            </a:endParaRPr>
          </a:p>
        </p:txBody>
      </p:sp>
      <p:sp>
        <p:nvSpPr>
          <p:cNvPr id="927" name="Google Shape;927;p23"/>
          <p:cNvSpPr/>
          <p:nvPr/>
        </p:nvSpPr>
        <p:spPr>
          <a:xfrm>
            <a:off x="566928" y="3429000"/>
            <a:ext cx="6126600" cy="1965900"/>
          </a:xfrm>
          <a:prstGeom prst="roundRect">
            <a:avLst>
              <a:gd fmla="val 3721" name="adj"/>
            </a:avLst>
          </a:prstGeom>
          <a:solidFill>
            <a:srgbClr val="1E3A24"/>
          </a:solidFill>
          <a:ln cap="flat" cmpd="sng" w="12700">
            <a:solidFill>
              <a:srgbClr val="7FB08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8" name="Google Shape;928;p23"/>
          <p:cNvSpPr/>
          <p:nvPr/>
        </p:nvSpPr>
        <p:spPr>
          <a:xfrm>
            <a:off x="841248" y="3429000"/>
            <a:ext cx="5577900" cy="196590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7FB08A"/>
              </a:buClr>
              <a:buSzPts val="1450"/>
              <a:buFont typeface="Calibri"/>
              <a:buNone/>
            </a:pPr>
            <a:r>
              <a:rPr b="1" i="0" lang="en-US" spc="0" sz="1450" u="none" cap="none" strike="noStrike">
                <a:solidFill>
                  <a:srgbClr val="7FB08A"/>
                </a:solidFill>
                <a:latin typeface="Calibri"/>
                <a:ea typeface="Calibri"/>
                <a:cs typeface="Calibri"/>
                <a:sym typeface="Calibri"/>
              </a:rPr>
              <a:t>Règle d'or   </a:t>
            </a:r>
            <a:r>
              <a:rPr b="0" i="0" lang="en-US" spc="0" sz="1450" u="none" cap="none" strike="noStrike">
                <a:solidFill>
                  <a:srgbClr val="F1EADF"/>
                </a:solidFill>
                <a:latin typeface="Calibri"/>
                <a:ea typeface="Calibri"/>
                <a:cs typeface="Calibri"/>
                <a:sym typeface="Calibri"/>
              </a:rPr>
              <a:t>si le contexte ne contient pas la réponse, le modèle doit explicitement répondre : « Je ne sais pas d'après les documents fournis ».</a:t>
            </a:r>
            <a:endParaRPr b="0" i="0" spc="0" sz="1450" u="none" cap="none" strike="noStrike">
              <a:solidFill>
                <a:schemeClr val="dk1"/>
              </a:solidFill>
              <a:latin typeface="Calibri"/>
              <a:ea typeface="Calibri"/>
              <a:cs typeface="Calibri"/>
              <a:sym typeface="Calibri"/>
            </a:endParaRPr>
          </a:p>
        </p:txBody>
      </p:sp>
      <p:sp>
        <p:nvSpPr>
          <p:cNvPr id="929" name="Google Shape;929;p23"/>
          <p:cNvSpPr/>
          <p:nvPr/>
        </p:nvSpPr>
        <p:spPr>
          <a:xfrm>
            <a:off x="7013448" y="2194560"/>
            <a:ext cx="4608600" cy="3200400"/>
          </a:xfrm>
          <a:prstGeom prst="roundRect">
            <a:avLst>
              <a:gd fmla="val 2286" name="adj"/>
            </a:avLst>
          </a:prstGeom>
          <a:solidFill>
            <a:srgbClr val="0C1B29"/>
          </a:solidFill>
          <a:ln cap="flat" cmpd="sng" w="12700">
            <a:solidFill>
              <a:srgbClr val="2C4A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0" name="Google Shape;930;p23"/>
          <p:cNvSpPr/>
          <p:nvPr/>
        </p:nvSpPr>
        <p:spPr>
          <a:xfrm>
            <a:off x="7242048" y="2304288"/>
            <a:ext cx="41514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100"/>
              <a:buFont typeface="Calibri"/>
              <a:buNone/>
            </a:pPr>
            <a:r>
              <a:rPr b="1" i="0" lang="en-US" spc="0" sz="1100" u="none" cap="none" strike="noStrike">
                <a:solidFill>
                  <a:srgbClr val="C77B4C"/>
                </a:solidFill>
                <a:latin typeface="Calibri"/>
                <a:ea typeface="Calibri"/>
                <a:cs typeface="Calibri"/>
                <a:sym typeface="Calibri"/>
              </a:rPr>
              <a:t>Modèle de prompt RAG</a:t>
            </a:r>
            <a:endParaRPr b="0" i="0" spc="0" sz="1100" u="none" cap="none" strike="noStrike">
              <a:solidFill>
                <a:schemeClr val="dk1"/>
              </a:solidFill>
              <a:latin typeface="Calibri"/>
              <a:ea typeface="Calibri"/>
              <a:cs typeface="Calibri"/>
              <a:sym typeface="Calibri"/>
            </a:endParaRPr>
          </a:p>
        </p:txBody>
      </p:sp>
      <p:sp>
        <p:nvSpPr>
          <p:cNvPr id="931" name="Google Shape;931;p23"/>
          <p:cNvSpPr/>
          <p:nvPr/>
        </p:nvSpPr>
        <p:spPr>
          <a:xfrm>
            <a:off x="7242048" y="2651760"/>
            <a:ext cx="4151400" cy="2606100"/>
          </a:xfrm>
          <a:prstGeom prst="rect">
            <a:avLst/>
          </a:prstGeom>
          <a:noFill/>
          <a:ln>
            <a:noFill/>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Tu es un assistant basé</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uniquement sur le contexte</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ci-dessous.</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200"/>
              <a:buFont typeface="Calibri"/>
              <a:buNone/>
            </a:pPr>
            <a:r>
              <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CONTEXTE : {chunks_recuperes}</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200"/>
              <a:buFont typeface="Calibri"/>
              <a:buNone/>
            </a:pPr>
            <a:r>
              <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QUESTION : {question_user}</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chemeClr val="dk1"/>
              </a:buClr>
              <a:buSzPts val="1200"/>
              <a:buFont typeface="Calibri"/>
              <a:buNone/>
            </a:pPr>
            <a:r>
              <a:t/>
            </a:r>
            <a:endParaRPr b="0" i="0" spc="0" sz="12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1EADF"/>
              </a:buClr>
              <a:buSzPts val="1200"/>
              <a:buFont typeface="Courier New"/>
              <a:buNone/>
            </a:pPr>
            <a:r>
              <a:rPr b="0" i="0" lang="en-US" spc="0" sz="1200" u="none" cap="none" strike="noStrike">
                <a:solidFill>
                  <a:srgbClr val="F1EADF"/>
                </a:solidFill>
                <a:latin typeface="Courier New"/>
                <a:ea typeface="Courier New"/>
                <a:cs typeface="Courier New"/>
                <a:sym typeface="Courier New"/>
              </a:rPr>
              <a:t>RÉPONSE (cite les sources) :</a:t>
            </a:r>
            <a:endParaRPr b="0" i="0" spc="0" sz="1200" u="none" cap="none" strike="noStrike">
              <a:solidFill>
                <a:schemeClr val="dk1"/>
              </a:solidFill>
              <a:latin typeface="Calibri"/>
              <a:ea typeface="Calibri"/>
              <a:cs typeface="Calibri"/>
              <a:sym typeface="Calibri"/>
            </a:endParaRPr>
          </a:p>
        </p:txBody>
      </p:sp>
      <p:sp>
        <p:nvSpPr>
          <p:cNvPr id="932" name="Google Shape;932;p23"/>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933" name="Google Shape;933;p23"/>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32</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938" name="Shape 938"/>
        <p:cNvGrpSpPr/>
        <p:nvPr/>
      </p:nvGrpSpPr>
      <p:grpSpPr>
        <a:xfrm>
          <a:off x="0" y="0"/>
          <a:ext cx="0" cy="0"/>
          <a:chOff x="0" y="0"/>
          <a:chExt cx="0" cy="0"/>
        </a:xfrm>
      </p:grpSpPr>
      <p:sp>
        <p:nvSpPr>
          <p:cNvPr id="939" name="Google Shape;939;p48"/>
          <p:cNvSpPr txBox="1"/>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EXERCICE 5 · À VOUS DE JOUER</a:t>
            </a:r>
            <a:endParaRPr b="0" i="0" spc="0" sz="1400" u="none" cap="none" strike="noStrike">
              <a:solidFill>
                <a:srgbClr val="000000"/>
              </a:solidFill>
              <a:latin typeface="Arial"/>
              <a:ea typeface="Arial"/>
              <a:cs typeface="Arial"/>
              <a:sym typeface="Arial"/>
            </a:endParaRPr>
          </a:p>
        </p:txBody>
      </p:sp>
      <p:sp>
        <p:nvSpPr>
          <p:cNvPr id="940" name="Google Shape;940;p48"/>
          <p:cNvSpPr txBox="1"/>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Déploiement : un assistant en production</a:t>
            </a:r>
            <a:endParaRPr b="0" i="0" spc="0" sz="1400" u="none" cap="none" strike="noStrike">
              <a:solidFill>
                <a:srgbClr val="000000"/>
              </a:solidFill>
              <a:latin typeface="Arial"/>
              <a:ea typeface="Arial"/>
              <a:cs typeface="Arial"/>
              <a:sym typeface="Arial"/>
            </a:endParaRPr>
          </a:p>
        </p:txBody>
      </p:sp>
      <p:sp>
        <p:nvSpPr>
          <p:cNvPr id="941" name="Google Shape;941;p48"/>
          <p:cNvSpPr/>
          <p:nvPr/>
        </p:nvSpPr>
        <p:spPr>
          <a:xfrm>
            <a:off x="566928" y="1554480"/>
            <a:ext cx="8458200" cy="12345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2" name="Google Shape;942;p48"/>
          <p:cNvSpPr txBox="1"/>
          <p:nvPr/>
        </p:nvSpPr>
        <p:spPr>
          <a:xfrm>
            <a:off x="822960" y="1645920"/>
            <a:ext cx="27432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QUESTION</a:t>
            </a:r>
            <a:endParaRPr b="0" i="0" spc="0" sz="1400" u="none" cap="none" strike="noStrike">
              <a:solidFill>
                <a:srgbClr val="000000"/>
              </a:solidFill>
              <a:latin typeface="Arial"/>
              <a:ea typeface="Arial"/>
              <a:cs typeface="Arial"/>
              <a:sym typeface="Arial"/>
            </a:endParaRPr>
          </a:p>
        </p:txBody>
      </p:sp>
      <p:sp>
        <p:nvSpPr>
          <p:cNvPr id="943" name="Google Shape;943;p48"/>
          <p:cNvSpPr txBox="1"/>
          <p:nvPr/>
        </p:nvSpPr>
        <p:spPr>
          <a:xfrm>
            <a:off x="822960" y="1901952"/>
            <a:ext cx="8001000" cy="8229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550"/>
              <a:buFont typeface="Arial"/>
              <a:buNone/>
            </a:pPr>
            <a:r>
              <a:rPr b="0" i="0" lang="en-US" spc="0" sz="1550" u="none" cap="none" strike="noStrike">
                <a:solidFill>
                  <a:srgbClr val="F1EADF"/>
                </a:solidFill>
                <a:latin typeface="Calibri"/>
                <a:ea typeface="Calibri"/>
                <a:cs typeface="Calibri"/>
                <a:sym typeface="Calibri"/>
              </a:rPr>
              <a:t>Votre chatbot RAG passe en production pour 5 000 collaborateurs. Quels sont les principaux défis à anticiper, et quelles bonnes pratiques mettre en place ?</a:t>
            </a:r>
            <a:endParaRPr b="0" i="0" spc="0" sz="1400" u="none" cap="none" strike="noStrike">
              <a:solidFill>
                <a:srgbClr val="000000"/>
              </a:solidFill>
              <a:latin typeface="Arial"/>
              <a:ea typeface="Arial"/>
              <a:cs typeface="Arial"/>
              <a:sym typeface="Arial"/>
            </a:endParaRPr>
          </a:p>
        </p:txBody>
      </p:sp>
      <p:sp>
        <p:nvSpPr>
          <p:cNvPr id="944" name="Google Shape;944;p48"/>
          <p:cNvSpPr/>
          <p:nvPr/>
        </p:nvSpPr>
        <p:spPr>
          <a:xfrm>
            <a:off x="9253728" y="1554480"/>
            <a:ext cx="2368200" cy="1234500"/>
          </a:xfrm>
          <a:prstGeom prst="roundRect">
            <a:avLst>
              <a:gd fmla="val 9412" name="adj"/>
            </a:avLst>
          </a:prstGeom>
          <a:solidFill>
            <a:srgbClr val="1A344B"/>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5" name="Google Shape;945;p48"/>
          <p:cNvSpPr txBox="1"/>
          <p:nvPr/>
        </p:nvSpPr>
        <p:spPr>
          <a:xfrm>
            <a:off x="9253728" y="1627632"/>
            <a:ext cx="2368200" cy="5943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pc="0" sz="3000" u="none" cap="none" strike="noStrike">
                <a:solidFill>
                  <a:srgbClr val="C77B4C"/>
                </a:solidFill>
                <a:latin typeface="Cambria"/>
                <a:ea typeface="Cambria"/>
                <a:cs typeface="Cambria"/>
                <a:sym typeface="Cambria"/>
              </a:rPr>
              <a:t>5 min</a:t>
            </a:r>
            <a:endParaRPr b="0" i="0" spc="0" sz="1400" u="none" cap="none" strike="noStrike">
              <a:solidFill>
                <a:srgbClr val="000000"/>
              </a:solidFill>
              <a:latin typeface="Arial"/>
              <a:ea typeface="Arial"/>
              <a:cs typeface="Arial"/>
              <a:sym typeface="Arial"/>
            </a:endParaRPr>
          </a:p>
        </p:txBody>
      </p:sp>
      <p:sp>
        <p:nvSpPr>
          <p:cNvPr id="946" name="Google Shape;946;p48"/>
          <p:cNvSpPr txBox="1"/>
          <p:nvPr/>
        </p:nvSpPr>
        <p:spPr>
          <a:xfrm>
            <a:off x="9253728" y="2212848"/>
            <a:ext cx="23682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1" lang="en-US" spc="0" sz="1100" u="none" cap="none" strike="noStrike">
                <a:solidFill>
                  <a:srgbClr val="9DB0C2"/>
                </a:solidFill>
                <a:latin typeface="Calibri"/>
                <a:ea typeface="Calibri"/>
                <a:cs typeface="Calibri"/>
                <a:sym typeface="Calibri"/>
              </a:rPr>
              <a:t>réflexion, puis mise en commun</a:t>
            </a:r>
            <a:endParaRPr b="0" i="0" spc="0" sz="1400" u="none" cap="none" strike="noStrike">
              <a:solidFill>
                <a:srgbClr val="000000"/>
              </a:solidFill>
              <a:latin typeface="Arial"/>
              <a:ea typeface="Arial"/>
              <a:cs typeface="Arial"/>
              <a:sym typeface="Arial"/>
            </a:endParaRPr>
          </a:p>
        </p:txBody>
      </p:sp>
      <p:sp>
        <p:nvSpPr>
          <p:cNvPr id="947" name="Google Shape;947;p48"/>
          <p:cNvSpPr txBox="1"/>
          <p:nvPr/>
        </p:nvSpPr>
        <p:spPr>
          <a:xfrm>
            <a:off x="566928" y="3017520"/>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PISTES DE RÉFLEXION</a:t>
            </a:r>
            <a:endParaRPr b="0" i="0" spc="0" sz="1400" u="none" cap="none" strike="noStrike">
              <a:solidFill>
                <a:srgbClr val="000000"/>
              </a:solidFill>
              <a:latin typeface="Arial"/>
              <a:ea typeface="Arial"/>
              <a:cs typeface="Arial"/>
              <a:sym typeface="Arial"/>
            </a:endParaRPr>
          </a:p>
        </p:txBody>
      </p:sp>
      <p:sp>
        <p:nvSpPr>
          <p:cNvPr id="948" name="Google Shape;948;p48"/>
          <p:cNvSpPr/>
          <p:nvPr/>
        </p:nvSpPr>
        <p:spPr>
          <a:xfrm>
            <a:off x="566928" y="3383280"/>
            <a:ext cx="3502200"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9" name="Google Shape;949;p48"/>
          <p:cNvSpPr/>
          <p:nvPr/>
        </p:nvSpPr>
        <p:spPr>
          <a:xfrm>
            <a:off x="768096"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0" name="Google Shape;950;p48"/>
          <p:cNvSpPr txBox="1"/>
          <p:nvPr/>
        </p:nvSpPr>
        <p:spPr>
          <a:xfrm>
            <a:off x="768096"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951" name="Google Shape;951;p48"/>
          <p:cNvSpPr txBox="1"/>
          <p:nvPr/>
        </p:nvSpPr>
        <p:spPr>
          <a:xfrm>
            <a:off x="1344168" y="3547872"/>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Performance</a:t>
            </a:r>
            <a:endParaRPr b="0" i="0" spc="0" sz="1400" u="none" cap="none" strike="noStrike">
              <a:solidFill>
                <a:srgbClr val="000000"/>
              </a:solidFill>
              <a:latin typeface="Arial"/>
              <a:ea typeface="Arial"/>
              <a:cs typeface="Arial"/>
              <a:sym typeface="Arial"/>
            </a:endParaRPr>
          </a:p>
        </p:txBody>
      </p:sp>
      <p:sp>
        <p:nvSpPr>
          <p:cNvPr id="952" name="Google Shape;952;p48"/>
          <p:cNvSpPr txBox="1"/>
          <p:nvPr/>
        </p:nvSpPr>
        <p:spPr>
          <a:xfrm>
            <a:off x="749808" y="4114800"/>
            <a:ext cx="3154800" cy="9600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Latence de la recherche et de l'inférence, coût au token : comment les maîtriser ?</a:t>
            </a:r>
            <a:endParaRPr b="0" i="0" spc="0" sz="1400" u="none" cap="none" strike="noStrike">
              <a:solidFill>
                <a:srgbClr val="000000"/>
              </a:solidFill>
              <a:latin typeface="Arial"/>
              <a:ea typeface="Arial"/>
              <a:cs typeface="Arial"/>
              <a:sym typeface="Arial"/>
            </a:endParaRPr>
          </a:p>
        </p:txBody>
      </p:sp>
      <p:sp>
        <p:nvSpPr>
          <p:cNvPr id="953" name="Google Shape;953;p48"/>
          <p:cNvSpPr/>
          <p:nvPr/>
        </p:nvSpPr>
        <p:spPr>
          <a:xfrm>
            <a:off x="4343400" y="3383280"/>
            <a:ext cx="3502200"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4" name="Google Shape;954;p48"/>
          <p:cNvSpPr/>
          <p:nvPr/>
        </p:nvSpPr>
        <p:spPr>
          <a:xfrm>
            <a:off x="4544568"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5" name="Google Shape;955;p48"/>
          <p:cNvSpPr txBox="1"/>
          <p:nvPr/>
        </p:nvSpPr>
        <p:spPr>
          <a:xfrm>
            <a:off x="4544568"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956" name="Google Shape;956;p48"/>
          <p:cNvSpPr txBox="1"/>
          <p:nvPr/>
        </p:nvSpPr>
        <p:spPr>
          <a:xfrm>
            <a:off x="5120640" y="3547872"/>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Fiabilité &amp; sécurité</a:t>
            </a:r>
            <a:endParaRPr b="0" i="0" spc="0" sz="1400" u="none" cap="none" strike="noStrike">
              <a:solidFill>
                <a:srgbClr val="000000"/>
              </a:solidFill>
              <a:latin typeface="Arial"/>
              <a:ea typeface="Arial"/>
              <a:cs typeface="Arial"/>
              <a:sym typeface="Arial"/>
            </a:endParaRPr>
          </a:p>
        </p:txBody>
      </p:sp>
      <p:sp>
        <p:nvSpPr>
          <p:cNvPr id="957" name="Google Shape;957;p48"/>
          <p:cNvSpPr txBox="1"/>
          <p:nvPr/>
        </p:nvSpPr>
        <p:spPr>
          <a:xfrm>
            <a:off x="4526280" y="4114800"/>
            <a:ext cx="3154800" cy="9600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Hallucinations, prompt injection, fuite de données : quels garde-fous ?</a:t>
            </a:r>
            <a:endParaRPr b="0" i="0" spc="0" sz="1400" u="none" cap="none" strike="noStrike">
              <a:solidFill>
                <a:srgbClr val="000000"/>
              </a:solidFill>
              <a:latin typeface="Arial"/>
              <a:ea typeface="Arial"/>
              <a:cs typeface="Arial"/>
              <a:sym typeface="Arial"/>
            </a:endParaRPr>
          </a:p>
        </p:txBody>
      </p:sp>
      <p:sp>
        <p:nvSpPr>
          <p:cNvPr id="958" name="Google Shape;958;p48"/>
          <p:cNvSpPr/>
          <p:nvPr/>
        </p:nvSpPr>
        <p:spPr>
          <a:xfrm>
            <a:off x="8119872" y="3383280"/>
            <a:ext cx="3502200" cy="16002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59" name="Google Shape;959;p48"/>
          <p:cNvSpPr/>
          <p:nvPr/>
        </p:nvSpPr>
        <p:spPr>
          <a:xfrm>
            <a:off x="8321040" y="354787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60" name="Google Shape;960;p48"/>
          <p:cNvSpPr txBox="1"/>
          <p:nvPr/>
        </p:nvSpPr>
        <p:spPr>
          <a:xfrm>
            <a:off x="8321040" y="354787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961" name="Google Shape;961;p48"/>
          <p:cNvSpPr txBox="1"/>
          <p:nvPr/>
        </p:nvSpPr>
        <p:spPr>
          <a:xfrm>
            <a:off x="8897112" y="3547872"/>
            <a:ext cx="26061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Suivi dans le temps</a:t>
            </a:r>
            <a:endParaRPr b="0" i="0" spc="0" sz="1400" u="none" cap="none" strike="noStrike">
              <a:solidFill>
                <a:srgbClr val="000000"/>
              </a:solidFill>
              <a:latin typeface="Arial"/>
              <a:ea typeface="Arial"/>
              <a:cs typeface="Arial"/>
              <a:sym typeface="Arial"/>
            </a:endParaRPr>
          </a:p>
        </p:txBody>
      </p:sp>
      <p:sp>
        <p:nvSpPr>
          <p:cNvPr id="962" name="Google Shape;962;p48"/>
          <p:cNvSpPr txBox="1"/>
          <p:nvPr/>
        </p:nvSpPr>
        <p:spPr>
          <a:xfrm>
            <a:off x="8302752" y="4114800"/>
            <a:ext cx="3154800" cy="9600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000000"/>
              </a:buClr>
              <a:buSzPts val="1350"/>
              <a:buFont typeface="Arial"/>
              <a:buNone/>
            </a:pPr>
            <a:r>
              <a:rPr b="0" i="0" lang="en-US" spc="0" sz="1350" u="none" cap="none" strike="noStrike">
                <a:solidFill>
                  <a:srgbClr val="9DB0C2"/>
                </a:solidFill>
                <a:latin typeface="Calibri"/>
                <a:ea typeface="Calibri"/>
                <a:cs typeface="Calibri"/>
                <a:sym typeface="Calibri"/>
              </a:rPr>
              <a:t>Que faut-il tracer, évaluer et versionner une fois le système en ligne ?</a:t>
            </a:r>
            <a:endParaRPr b="0" i="0" spc="0" sz="1400" u="none" cap="none" strike="noStrike">
              <a:solidFill>
                <a:srgbClr val="000000"/>
              </a:solidFill>
              <a:latin typeface="Arial"/>
              <a:ea typeface="Arial"/>
              <a:cs typeface="Arial"/>
              <a:sym typeface="Arial"/>
            </a:endParaRPr>
          </a:p>
        </p:txBody>
      </p:sp>
      <p:sp>
        <p:nvSpPr>
          <p:cNvPr id="963" name="Google Shape;963;p48"/>
          <p:cNvSpPr txBox="1"/>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964" name="Google Shape;964;p48"/>
          <p:cNvSpPr txBox="1"/>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46</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968" name="Shape 968"/>
        <p:cNvGrpSpPr/>
        <p:nvPr/>
      </p:nvGrpSpPr>
      <p:grpSpPr>
        <a:xfrm>
          <a:off x="0" y="0"/>
          <a:ext cx="0" cy="0"/>
          <a:chOff x="0" y="0"/>
          <a:chExt cx="0" cy="0"/>
        </a:xfrm>
      </p:grpSpPr>
      <p:sp>
        <p:nvSpPr>
          <p:cNvPr id="969" name="Google Shape;969;p49"/>
          <p:cNvSpPr txBox="1"/>
          <p:nvPr/>
        </p:nvSpPr>
        <p:spPr>
          <a:xfrm>
            <a:off x="566928" y="384048"/>
            <a:ext cx="11055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C77B4C"/>
                </a:solidFill>
                <a:latin typeface="Calibri"/>
                <a:ea typeface="Calibri"/>
                <a:cs typeface="Calibri"/>
                <a:sym typeface="Calibri"/>
              </a:rPr>
              <a:t>ÉVALUATION DU MODULE</a:t>
            </a:r>
            <a:endParaRPr b="0" i="0" spc="0" sz="1400" u="none" cap="none" strike="noStrike">
              <a:solidFill>
                <a:srgbClr val="000000"/>
              </a:solidFill>
              <a:latin typeface="Arial"/>
              <a:ea typeface="Arial"/>
              <a:cs typeface="Arial"/>
              <a:sym typeface="Arial"/>
            </a:endParaRPr>
          </a:p>
        </p:txBody>
      </p:sp>
      <p:sp>
        <p:nvSpPr>
          <p:cNvPr id="970" name="Google Shape;970;p49"/>
          <p:cNvSpPr txBox="1"/>
          <p:nvPr/>
        </p:nvSpPr>
        <p:spPr>
          <a:xfrm>
            <a:off x="566928" y="676656"/>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95000"/>
              </a:lnSpc>
              <a:spcBef>
                <a:spcPts val="0"/>
              </a:spcBef>
              <a:spcAft>
                <a:spcPts val="0"/>
              </a:spcAft>
              <a:buClr>
                <a:srgbClr val="000000"/>
              </a:buClr>
              <a:buSzPts val="2900"/>
              <a:buFont typeface="Arial"/>
              <a:buNone/>
            </a:pPr>
            <a:r>
              <a:rPr b="1" i="0" lang="en-US" spc="0" sz="2900" u="none" cap="none" strike="noStrike">
                <a:solidFill>
                  <a:srgbClr val="F1EADF"/>
                </a:solidFill>
                <a:latin typeface="Cambria"/>
                <a:ea typeface="Cambria"/>
                <a:cs typeface="Cambria"/>
                <a:sym typeface="Cambria"/>
              </a:rPr>
              <a:t>Modalités d'évaluation &amp; bibliographie</a:t>
            </a:r>
            <a:endParaRPr b="0" i="0" spc="0" sz="1400" u="none" cap="none" strike="noStrike">
              <a:solidFill>
                <a:srgbClr val="000000"/>
              </a:solidFill>
              <a:latin typeface="Arial"/>
              <a:ea typeface="Arial"/>
              <a:cs typeface="Arial"/>
              <a:sym typeface="Arial"/>
            </a:endParaRPr>
          </a:p>
        </p:txBody>
      </p:sp>
      <p:sp>
        <p:nvSpPr>
          <p:cNvPr id="971" name="Google Shape;971;p49"/>
          <p:cNvSpPr/>
          <p:nvPr/>
        </p:nvSpPr>
        <p:spPr>
          <a:xfrm>
            <a:off x="566928" y="155448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2" name="Google Shape;972;p49"/>
          <p:cNvSpPr txBox="1"/>
          <p:nvPr/>
        </p:nvSpPr>
        <p:spPr>
          <a:xfrm>
            <a:off x="822960" y="1673352"/>
            <a:ext cx="23775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C77B4C"/>
                </a:solidFill>
                <a:latin typeface="Calibri"/>
                <a:ea typeface="Calibri"/>
                <a:cs typeface="Calibri"/>
                <a:sym typeface="Calibri"/>
              </a:rPr>
              <a:t>ÉVALUATION</a:t>
            </a:r>
            <a:endParaRPr b="0" i="0" spc="0" sz="1400" u="none" cap="none" strike="noStrike">
              <a:solidFill>
                <a:srgbClr val="000000"/>
              </a:solidFill>
              <a:latin typeface="Arial"/>
              <a:ea typeface="Arial"/>
              <a:cs typeface="Arial"/>
              <a:sym typeface="Arial"/>
            </a:endParaRPr>
          </a:p>
        </p:txBody>
      </p:sp>
      <p:sp>
        <p:nvSpPr>
          <p:cNvPr id="973" name="Google Shape;973;p49"/>
          <p:cNvSpPr txBox="1"/>
          <p:nvPr/>
        </p:nvSpPr>
        <p:spPr>
          <a:xfrm>
            <a:off x="822960" y="1920240"/>
            <a:ext cx="10542900" cy="365700"/>
          </a:xfrm>
          <a:prstGeom prst="rect">
            <a:avLst/>
          </a:prstGeom>
          <a:noFill/>
          <a:ln>
            <a:noFill/>
          </a:ln>
        </p:spPr>
        <p:txBody>
          <a:bodyPr anchorCtr="0" anchor="t" bIns="45700" lIns="91425" spcFirstLastPara="1" rIns="91425" wrap="square" tIns="45700">
            <a:noAutofit/>
          </a:bodyPr>
          <a:lstStyle/>
          <a:p>
            <a:pPr indent="0" lvl="0" marL="0" marR="0" rtl="0" algn="l">
              <a:lnSpc>
                <a:spcPct val="102000"/>
              </a:lnSpc>
              <a:spcBef>
                <a:spcPts val="0"/>
              </a:spcBef>
              <a:spcAft>
                <a:spcPts val="0"/>
              </a:spcAft>
              <a:buClr>
                <a:srgbClr val="000000"/>
              </a:buClr>
              <a:buSzPts val="1400"/>
              <a:buFont typeface="Arial"/>
              <a:buNone/>
            </a:pPr>
            <a:r>
              <a:rPr b="0" i="0" lang="en-US" spc="0" sz="1400" u="none" cap="none" strike="noStrike">
                <a:solidFill>
                  <a:srgbClr val="F1EADF"/>
                </a:solidFill>
                <a:latin typeface="Calibri"/>
                <a:ea typeface="Calibri"/>
                <a:cs typeface="Calibri"/>
                <a:sym typeface="Calibri"/>
              </a:rPr>
              <a:t>Concevoir un cas d'usage d'IA générative de bout en bout et porter un regard critique sur ses résultats.</a:t>
            </a:r>
            <a:endParaRPr b="0" i="0" spc="0" sz="1400" u="none" cap="none" strike="noStrike">
              <a:solidFill>
                <a:srgbClr val="000000"/>
              </a:solidFill>
              <a:latin typeface="Arial"/>
              <a:ea typeface="Arial"/>
              <a:cs typeface="Arial"/>
              <a:sym typeface="Arial"/>
            </a:endParaRPr>
          </a:p>
        </p:txBody>
      </p:sp>
      <p:sp>
        <p:nvSpPr>
          <p:cNvPr id="974" name="Google Shape;974;p49"/>
          <p:cNvSpPr/>
          <p:nvPr/>
        </p:nvSpPr>
        <p:spPr>
          <a:xfrm>
            <a:off x="566928" y="2560320"/>
            <a:ext cx="24873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5" name="Google Shape;975;p49"/>
          <p:cNvSpPr/>
          <p:nvPr/>
        </p:nvSpPr>
        <p:spPr>
          <a:xfrm>
            <a:off x="768096"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6" name="Google Shape;976;p49"/>
          <p:cNvSpPr txBox="1"/>
          <p:nvPr/>
        </p:nvSpPr>
        <p:spPr>
          <a:xfrm>
            <a:off x="768096"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1</a:t>
            </a:r>
            <a:endParaRPr b="0" i="0" spc="0" sz="1400" u="none" cap="none" strike="noStrike">
              <a:solidFill>
                <a:srgbClr val="000000"/>
              </a:solidFill>
              <a:latin typeface="Arial"/>
              <a:ea typeface="Arial"/>
              <a:cs typeface="Arial"/>
              <a:sym typeface="Arial"/>
            </a:endParaRPr>
          </a:p>
        </p:txBody>
      </p:sp>
      <p:sp>
        <p:nvSpPr>
          <p:cNvPr id="977" name="Google Shape;977;p49"/>
          <p:cNvSpPr txBox="1"/>
          <p:nvPr/>
        </p:nvSpPr>
        <p:spPr>
          <a:xfrm>
            <a:off x="1344168" y="2724912"/>
            <a:ext cx="1645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Prompt</a:t>
            </a:r>
            <a:endParaRPr b="0" i="0" spc="0" sz="1400" u="none" cap="none" strike="noStrike">
              <a:solidFill>
                <a:srgbClr val="000000"/>
              </a:solidFill>
              <a:latin typeface="Arial"/>
              <a:ea typeface="Arial"/>
              <a:cs typeface="Arial"/>
              <a:sym typeface="Arial"/>
            </a:endParaRPr>
          </a:p>
        </p:txBody>
      </p:sp>
      <p:sp>
        <p:nvSpPr>
          <p:cNvPr id="978" name="Google Shape;978;p49"/>
          <p:cNvSpPr txBox="1"/>
          <p:nvPr/>
        </p:nvSpPr>
        <p:spPr>
          <a:xfrm>
            <a:off x="749808" y="3246120"/>
            <a:ext cx="21579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Conception et itérations du prompt, justifiées.</a:t>
            </a:r>
            <a:endParaRPr b="0" i="0" spc="0" sz="1400" u="none" cap="none" strike="noStrike">
              <a:solidFill>
                <a:srgbClr val="000000"/>
              </a:solidFill>
              <a:latin typeface="Arial"/>
              <a:ea typeface="Arial"/>
              <a:cs typeface="Arial"/>
              <a:sym typeface="Arial"/>
            </a:endParaRPr>
          </a:p>
        </p:txBody>
      </p:sp>
      <p:sp>
        <p:nvSpPr>
          <p:cNvPr id="979" name="Google Shape;979;p49"/>
          <p:cNvSpPr txBox="1"/>
          <p:nvPr/>
        </p:nvSpPr>
        <p:spPr>
          <a:xfrm>
            <a:off x="3054096" y="2560320"/>
            <a:ext cx="292500" cy="132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980" name="Google Shape;980;p49"/>
          <p:cNvSpPr/>
          <p:nvPr/>
        </p:nvSpPr>
        <p:spPr>
          <a:xfrm>
            <a:off x="3346704" y="2560320"/>
            <a:ext cx="24873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1" name="Google Shape;981;p49"/>
          <p:cNvSpPr/>
          <p:nvPr/>
        </p:nvSpPr>
        <p:spPr>
          <a:xfrm>
            <a:off x="3547872"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2" name="Google Shape;982;p49"/>
          <p:cNvSpPr txBox="1"/>
          <p:nvPr/>
        </p:nvSpPr>
        <p:spPr>
          <a:xfrm>
            <a:off x="3547872"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2</a:t>
            </a:r>
            <a:endParaRPr b="0" i="0" spc="0" sz="1400" u="none" cap="none" strike="noStrike">
              <a:solidFill>
                <a:srgbClr val="000000"/>
              </a:solidFill>
              <a:latin typeface="Arial"/>
              <a:ea typeface="Arial"/>
              <a:cs typeface="Arial"/>
              <a:sym typeface="Arial"/>
            </a:endParaRPr>
          </a:p>
        </p:txBody>
      </p:sp>
      <p:sp>
        <p:nvSpPr>
          <p:cNvPr id="983" name="Google Shape;983;p49"/>
          <p:cNvSpPr txBox="1"/>
          <p:nvPr/>
        </p:nvSpPr>
        <p:spPr>
          <a:xfrm>
            <a:off x="4123944" y="2724912"/>
            <a:ext cx="1645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Scénario métier</a:t>
            </a:r>
            <a:endParaRPr b="0" i="0" spc="0" sz="1400" u="none" cap="none" strike="noStrike">
              <a:solidFill>
                <a:srgbClr val="000000"/>
              </a:solidFill>
              <a:latin typeface="Arial"/>
              <a:ea typeface="Arial"/>
              <a:cs typeface="Arial"/>
              <a:sym typeface="Arial"/>
            </a:endParaRPr>
          </a:p>
        </p:txBody>
      </p:sp>
      <p:sp>
        <p:nvSpPr>
          <p:cNvPr id="984" name="Google Shape;984;p49"/>
          <p:cNvSpPr txBox="1"/>
          <p:nvPr/>
        </p:nvSpPr>
        <p:spPr>
          <a:xfrm>
            <a:off x="3529584" y="3246120"/>
            <a:ext cx="21579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Besoin réel, utilisateurs cibles, valeur attendue.</a:t>
            </a:r>
            <a:endParaRPr b="0" i="0" spc="0" sz="1400" u="none" cap="none" strike="noStrike">
              <a:solidFill>
                <a:srgbClr val="000000"/>
              </a:solidFill>
              <a:latin typeface="Arial"/>
              <a:ea typeface="Arial"/>
              <a:cs typeface="Arial"/>
              <a:sym typeface="Arial"/>
            </a:endParaRPr>
          </a:p>
        </p:txBody>
      </p:sp>
      <p:sp>
        <p:nvSpPr>
          <p:cNvPr id="985" name="Google Shape;985;p49"/>
          <p:cNvSpPr txBox="1"/>
          <p:nvPr/>
        </p:nvSpPr>
        <p:spPr>
          <a:xfrm>
            <a:off x="5833872" y="2560320"/>
            <a:ext cx="292500" cy="132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986" name="Google Shape;986;p49"/>
          <p:cNvSpPr/>
          <p:nvPr/>
        </p:nvSpPr>
        <p:spPr>
          <a:xfrm>
            <a:off x="6126480" y="2560320"/>
            <a:ext cx="24873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7" name="Google Shape;987;p49"/>
          <p:cNvSpPr/>
          <p:nvPr/>
        </p:nvSpPr>
        <p:spPr>
          <a:xfrm>
            <a:off x="6327648" y="2724912"/>
            <a:ext cx="457200" cy="4572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8" name="Google Shape;988;p49"/>
          <p:cNvSpPr txBox="1"/>
          <p:nvPr/>
        </p:nvSpPr>
        <p:spPr>
          <a:xfrm>
            <a:off x="6327648"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3</a:t>
            </a:r>
            <a:endParaRPr b="0" i="0" spc="0" sz="1400" u="none" cap="none" strike="noStrike">
              <a:solidFill>
                <a:srgbClr val="000000"/>
              </a:solidFill>
              <a:latin typeface="Arial"/>
              <a:ea typeface="Arial"/>
              <a:cs typeface="Arial"/>
              <a:sym typeface="Arial"/>
            </a:endParaRPr>
          </a:p>
        </p:txBody>
      </p:sp>
      <p:sp>
        <p:nvSpPr>
          <p:cNvPr id="989" name="Google Shape;989;p49"/>
          <p:cNvSpPr txBox="1"/>
          <p:nvPr/>
        </p:nvSpPr>
        <p:spPr>
          <a:xfrm>
            <a:off x="6903720" y="2724912"/>
            <a:ext cx="1645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Résultats obtenus</a:t>
            </a:r>
            <a:endParaRPr b="0" i="0" spc="0" sz="1400" u="none" cap="none" strike="noStrike">
              <a:solidFill>
                <a:srgbClr val="000000"/>
              </a:solidFill>
              <a:latin typeface="Arial"/>
              <a:ea typeface="Arial"/>
              <a:cs typeface="Arial"/>
              <a:sym typeface="Arial"/>
            </a:endParaRPr>
          </a:p>
        </p:txBody>
      </p:sp>
      <p:sp>
        <p:nvSpPr>
          <p:cNvPr id="990" name="Google Shape;990;p49"/>
          <p:cNvSpPr txBox="1"/>
          <p:nvPr/>
        </p:nvSpPr>
        <p:spPr>
          <a:xfrm>
            <a:off x="6309360" y="3246120"/>
            <a:ext cx="21579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Sorties produites, mesurées et commentées.</a:t>
            </a:r>
            <a:endParaRPr b="0" i="0" spc="0" sz="1400" u="none" cap="none" strike="noStrike">
              <a:solidFill>
                <a:srgbClr val="000000"/>
              </a:solidFill>
              <a:latin typeface="Arial"/>
              <a:ea typeface="Arial"/>
              <a:cs typeface="Arial"/>
              <a:sym typeface="Arial"/>
            </a:endParaRPr>
          </a:p>
        </p:txBody>
      </p:sp>
      <p:sp>
        <p:nvSpPr>
          <p:cNvPr id="991" name="Google Shape;991;p49"/>
          <p:cNvSpPr txBox="1"/>
          <p:nvPr/>
        </p:nvSpPr>
        <p:spPr>
          <a:xfrm>
            <a:off x="8613648" y="2560320"/>
            <a:ext cx="292500" cy="132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pc="0" sz="2000" u="none" cap="none" strike="noStrike">
                <a:solidFill>
                  <a:srgbClr val="C77B4C"/>
                </a:solidFill>
                <a:latin typeface="Calibri"/>
                <a:ea typeface="Calibri"/>
                <a:cs typeface="Calibri"/>
                <a:sym typeface="Calibri"/>
              </a:rPr>
              <a:t>→</a:t>
            </a:r>
            <a:endParaRPr b="0" i="0" spc="0" sz="1400" u="none" cap="none" strike="noStrike">
              <a:solidFill>
                <a:srgbClr val="000000"/>
              </a:solidFill>
              <a:latin typeface="Arial"/>
              <a:ea typeface="Arial"/>
              <a:cs typeface="Arial"/>
              <a:sym typeface="Arial"/>
            </a:endParaRPr>
          </a:p>
        </p:txBody>
      </p:sp>
      <p:sp>
        <p:nvSpPr>
          <p:cNvPr id="992" name="Google Shape;992;p49"/>
          <p:cNvSpPr/>
          <p:nvPr/>
        </p:nvSpPr>
        <p:spPr>
          <a:xfrm>
            <a:off x="8906256" y="2560320"/>
            <a:ext cx="2487300" cy="1326000"/>
          </a:xfrm>
          <a:prstGeom prst="roundRect">
            <a:avLst>
              <a:gd fmla="val 2807" name="adj"/>
            </a:avLst>
          </a:prstGeom>
          <a:solidFill>
            <a:srgbClr val="244766"/>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3" name="Google Shape;993;p49"/>
          <p:cNvSpPr/>
          <p:nvPr/>
        </p:nvSpPr>
        <p:spPr>
          <a:xfrm>
            <a:off x="9107424" y="2724912"/>
            <a:ext cx="457200" cy="457200"/>
          </a:xfrm>
          <a:prstGeom prst="ellipse">
            <a:avLst/>
          </a:prstGeom>
          <a:solidFill>
            <a:srgbClr val="C77B4C"/>
          </a:solidFill>
          <a:ln cap="flat" cmpd="sng" w="12700">
            <a:solidFill>
              <a:srgbClr val="C77B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4" name="Google Shape;994;p49"/>
          <p:cNvSpPr txBox="1"/>
          <p:nvPr/>
        </p:nvSpPr>
        <p:spPr>
          <a:xfrm>
            <a:off x="9107424" y="2724912"/>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pc="0" sz="1600" u="none" cap="none" strike="noStrike">
                <a:solidFill>
                  <a:srgbClr val="112536"/>
                </a:solidFill>
                <a:latin typeface="Cambria"/>
                <a:ea typeface="Cambria"/>
                <a:cs typeface="Cambria"/>
                <a:sym typeface="Cambria"/>
              </a:rPr>
              <a:t>4</a:t>
            </a:r>
            <a:endParaRPr b="0" i="0" spc="0" sz="1400" u="none" cap="none" strike="noStrike">
              <a:solidFill>
                <a:srgbClr val="000000"/>
              </a:solidFill>
              <a:latin typeface="Arial"/>
              <a:ea typeface="Arial"/>
              <a:cs typeface="Arial"/>
              <a:sym typeface="Arial"/>
            </a:endParaRPr>
          </a:p>
        </p:txBody>
      </p:sp>
      <p:sp>
        <p:nvSpPr>
          <p:cNvPr id="995" name="Google Shape;995;p49"/>
          <p:cNvSpPr txBox="1"/>
          <p:nvPr/>
        </p:nvSpPr>
        <p:spPr>
          <a:xfrm>
            <a:off x="9683496" y="2724912"/>
            <a:ext cx="1645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50"/>
              <a:buFont typeface="Arial"/>
              <a:buNone/>
            </a:pPr>
            <a:r>
              <a:rPr b="1" i="0" lang="en-US" spc="0" sz="1450" u="none" cap="none" strike="noStrike">
                <a:solidFill>
                  <a:srgbClr val="F1EADF"/>
                </a:solidFill>
                <a:latin typeface="Cambria"/>
                <a:ea typeface="Cambria"/>
                <a:cs typeface="Cambria"/>
                <a:sym typeface="Cambria"/>
              </a:rPr>
              <a:t>Analyse critique</a:t>
            </a:r>
            <a:endParaRPr b="0" i="0" spc="0" sz="1400" u="none" cap="none" strike="noStrike">
              <a:solidFill>
                <a:srgbClr val="000000"/>
              </a:solidFill>
              <a:latin typeface="Arial"/>
              <a:ea typeface="Arial"/>
              <a:cs typeface="Arial"/>
              <a:sym typeface="Arial"/>
            </a:endParaRPr>
          </a:p>
        </p:txBody>
      </p:sp>
      <p:sp>
        <p:nvSpPr>
          <p:cNvPr id="996" name="Google Shape;996;p49"/>
          <p:cNvSpPr txBox="1"/>
          <p:nvPr/>
        </p:nvSpPr>
        <p:spPr>
          <a:xfrm>
            <a:off x="9089136" y="3246120"/>
            <a:ext cx="2157900" cy="59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0" lang="en-US" spc="0" sz="1150" u="none" cap="none" strike="noStrike">
                <a:solidFill>
                  <a:srgbClr val="9DB0C2"/>
                </a:solidFill>
                <a:latin typeface="Calibri"/>
                <a:ea typeface="Calibri"/>
                <a:cs typeface="Calibri"/>
                <a:sym typeface="Calibri"/>
              </a:rPr>
              <a:t>Limites techniques et enjeux éthiques.</a:t>
            </a:r>
            <a:endParaRPr b="0" i="0" spc="0" sz="1400" u="none" cap="none" strike="noStrike">
              <a:solidFill>
                <a:srgbClr val="000000"/>
              </a:solidFill>
              <a:latin typeface="Arial"/>
              <a:ea typeface="Arial"/>
              <a:cs typeface="Arial"/>
              <a:sym typeface="Arial"/>
            </a:endParaRPr>
          </a:p>
        </p:txBody>
      </p:sp>
      <p:sp>
        <p:nvSpPr>
          <p:cNvPr id="997" name="Google Shape;997;p49"/>
          <p:cNvSpPr txBox="1"/>
          <p:nvPr/>
        </p:nvSpPr>
        <p:spPr>
          <a:xfrm>
            <a:off x="566928" y="4069080"/>
            <a:ext cx="11055000" cy="3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pc="0" sz="1250" u="none" cap="none" strike="noStrike">
                <a:solidFill>
                  <a:srgbClr val="C77B4C"/>
                </a:solidFill>
                <a:latin typeface="Calibri"/>
                <a:ea typeface="Calibri"/>
                <a:cs typeface="Calibri"/>
                <a:sym typeface="Calibri"/>
              </a:rPr>
              <a:t>Bibliographie</a:t>
            </a:r>
            <a:endParaRPr b="0" i="0" spc="0" sz="1400" u="none" cap="none" strike="noStrike">
              <a:solidFill>
                <a:srgbClr val="000000"/>
              </a:solidFill>
              <a:latin typeface="Arial"/>
              <a:ea typeface="Arial"/>
              <a:cs typeface="Arial"/>
              <a:sym typeface="Arial"/>
            </a:endParaRPr>
          </a:p>
        </p:txBody>
      </p:sp>
      <p:sp>
        <p:nvSpPr>
          <p:cNvPr id="998" name="Google Shape;998;p49"/>
          <p:cNvSpPr/>
          <p:nvPr/>
        </p:nvSpPr>
        <p:spPr>
          <a:xfrm>
            <a:off x="566928" y="4434840"/>
            <a:ext cx="35022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9" name="Google Shape;999;p49"/>
          <p:cNvSpPr txBox="1"/>
          <p:nvPr/>
        </p:nvSpPr>
        <p:spPr>
          <a:xfrm>
            <a:off x="749808" y="4526280"/>
            <a:ext cx="31548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Deep Learning</a:t>
            </a:r>
            <a:endParaRPr b="0" i="0" spc="0" sz="1400" u="none" cap="none" strike="noStrike">
              <a:solidFill>
                <a:srgbClr val="000000"/>
              </a:solidFill>
              <a:latin typeface="Arial"/>
              <a:ea typeface="Arial"/>
              <a:cs typeface="Arial"/>
              <a:sym typeface="Arial"/>
            </a:endParaRPr>
          </a:p>
        </p:txBody>
      </p:sp>
      <p:sp>
        <p:nvSpPr>
          <p:cNvPr id="1000" name="Google Shape;1000;p49"/>
          <p:cNvSpPr txBox="1"/>
          <p:nvPr/>
        </p:nvSpPr>
        <p:spPr>
          <a:xfrm>
            <a:off x="749808" y="4892040"/>
            <a:ext cx="315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Goodfellow, Bengio &amp; Courville</a:t>
            </a:r>
            <a:endParaRPr b="0" i="0" spc="0" sz="1400" u="none" cap="none" strike="noStrike">
              <a:solidFill>
                <a:srgbClr val="000000"/>
              </a:solidFill>
              <a:latin typeface="Arial"/>
              <a:ea typeface="Arial"/>
              <a:cs typeface="Arial"/>
              <a:sym typeface="Arial"/>
            </a:endParaRPr>
          </a:p>
        </p:txBody>
      </p:sp>
      <p:sp>
        <p:nvSpPr>
          <p:cNvPr id="1001" name="Google Shape;1001;p49"/>
          <p:cNvSpPr txBox="1"/>
          <p:nvPr/>
        </p:nvSpPr>
        <p:spPr>
          <a:xfrm>
            <a:off x="749808" y="5376672"/>
            <a:ext cx="31548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3"/>
              </a:rPr>
              <a:t>deeplearningbook.org</a:t>
            </a:r>
            <a:endParaRPr b="0" i="0" spc="0" sz="1400" u="none" cap="none" strike="noStrike">
              <a:solidFill>
                <a:srgbClr val="000000"/>
              </a:solidFill>
              <a:latin typeface="Arial"/>
              <a:ea typeface="Arial"/>
              <a:cs typeface="Arial"/>
              <a:sym typeface="Arial"/>
            </a:endParaRPr>
          </a:p>
        </p:txBody>
      </p:sp>
      <p:sp>
        <p:nvSpPr>
          <p:cNvPr id="1002" name="Google Shape;1002;p49"/>
          <p:cNvSpPr/>
          <p:nvPr/>
        </p:nvSpPr>
        <p:spPr>
          <a:xfrm>
            <a:off x="4343400" y="4434840"/>
            <a:ext cx="35022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3" name="Google Shape;1003;p49"/>
          <p:cNvSpPr txBox="1"/>
          <p:nvPr/>
        </p:nvSpPr>
        <p:spPr>
          <a:xfrm>
            <a:off x="4526280" y="4526280"/>
            <a:ext cx="31548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Hands-On Machine Learning</a:t>
            </a:r>
            <a:endParaRPr b="0" i="0" spc="0" sz="1400" u="none" cap="none" strike="noStrike">
              <a:solidFill>
                <a:srgbClr val="000000"/>
              </a:solidFill>
              <a:latin typeface="Arial"/>
              <a:ea typeface="Arial"/>
              <a:cs typeface="Arial"/>
              <a:sym typeface="Arial"/>
            </a:endParaRPr>
          </a:p>
        </p:txBody>
      </p:sp>
      <p:sp>
        <p:nvSpPr>
          <p:cNvPr id="1004" name="Google Shape;1004;p49"/>
          <p:cNvSpPr txBox="1"/>
          <p:nvPr/>
        </p:nvSpPr>
        <p:spPr>
          <a:xfrm>
            <a:off x="4526280" y="4892040"/>
            <a:ext cx="315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Aurélien Géron (Scikit-Learn, Keras, TensorFlow)</a:t>
            </a:r>
            <a:endParaRPr b="0" i="0" spc="0" sz="1400" u="none" cap="none" strike="noStrike">
              <a:solidFill>
                <a:srgbClr val="000000"/>
              </a:solidFill>
              <a:latin typeface="Arial"/>
              <a:ea typeface="Arial"/>
              <a:cs typeface="Arial"/>
              <a:sym typeface="Arial"/>
            </a:endParaRPr>
          </a:p>
        </p:txBody>
      </p:sp>
      <p:sp>
        <p:nvSpPr>
          <p:cNvPr id="1005" name="Google Shape;1005;p49"/>
          <p:cNvSpPr txBox="1"/>
          <p:nvPr/>
        </p:nvSpPr>
        <p:spPr>
          <a:xfrm>
            <a:off x="4526280" y="5376672"/>
            <a:ext cx="31548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4"/>
              </a:rPr>
              <a:t>GitHub : handson-ml3</a:t>
            </a:r>
            <a:endParaRPr b="0" i="0" spc="0" sz="1400" u="none" cap="none" strike="noStrike">
              <a:solidFill>
                <a:srgbClr val="000000"/>
              </a:solidFill>
              <a:latin typeface="Arial"/>
              <a:ea typeface="Arial"/>
              <a:cs typeface="Arial"/>
              <a:sym typeface="Arial"/>
            </a:endParaRPr>
          </a:p>
        </p:txBody>
      </p:sp>
      <p:sp>
        <p:nvSpPr>
          <p:cNvPr id="1006" name="Google Shape;1006;p49"/>
          <p:cNvSpPr/>
          <p:nvPr/>
        </p:nvSpPr>
        <p:spPr>
          <a:xfrm>
            <a:off x="8119872" y="4434840"/>
            <a:ext cx="3502200" cy="1326000"/>
          </a:xfrm>
          <a:prstGeom prst="roundRect">
            <a:avLst>
              <a:gd fmla="val 2807" name="adj"/>
            </a:avLst>
          </a:prstGeom>
          <a:solidFill>
            <a:srgbClr val="1A344B"/>
          </a:solidFill>
          <a:ln cap="flat" cmpd="sng" w="12700">
            <a:solidFill>
              <a:srgbClr val="2C4A6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07" name="Google Shape;1007;p49"/>
          <p:cNvSpPr txBox="1"/>
          <p:nvPr/>
        </p:nvSpPr>
        <p:spPr>
          <a:xfrm>
            <a:off x="8302752" y="4526280"/>
            <a:ext cx="31548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500"/>
              <a:buFont typeface="Arial"/>
              <a:buNone/>
            </a:pPr>
            <a:r>
              <a:rPr b="1" i="0" lang="en-US" spc="0" sz="1500" u="none" cap="none" strike="noStrike">
                <a:solidFill>
                  <a:srgbClr val="F1EADF"/>
                </a:solidFill>
                <a:latin typeface="Cambria"/>
                <a:ea typeface="Cambria"/>
                <a:cs typeface="Cambria"/>
                <a:sym typeface="Cambria"/>
              </a:rPr>
              <a:t>Generative Deep Learning</a:t>
            </a:r>
            <a:endParaRPr b="0" i="0" spc="0" sz="1400" u="none" cap="none" strike="noStrike">
              <a:solidFill>
                <a:srgbClr val="000000"/>
              </a:solidFill>
              <a:latin typeface="Arial"/>
              <a:ea typeface="Arial"/>
              <a:cs typeface="Arial"/>
              <a:sym typeface="Arial"/>
            </a:endParaRPr>
          </a:p>
        </p:txBody>
      </p:sp>
      <p:sp>
        <p:nvSpPr>
          <p:cNvPr id="1008" name="Google Shape;1008;p49"/>
          <p:cNvSpPr txBox="1"/>
          <p:nvPr/>
        </p:nvSpPr>
        <p:spPr>
          <a:xfrm>
            <a:off x="8302752" y="4892040"/>
            <a:ext cx="3154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50"/>
              <a:buFont typeface="Arial"/>
              <a:buNone/>
            </a:pPr>
            <a:r>
              <a:rPr b="0" i="1" lang="en-US" spc="0" sz="1150" u="none" cap="none" strike="noStrike">
                <a:solidFill>
                  <a:srgbClr val="9DB0C2"/>
                </a:solidFill>
                <a:latin typeface="Calibri"/>
                <a:ea typeface="Calibri"/>
                <a:cs typeface="Calibri"/>
                <a:sym typeface="Calibri"/>
              </a:rPr>
              <a:t>David Foster (Teaching Machines to Paint, Write…)</a:t>
            </a:r>
            <a:endParaRPr b="0" i="0" spc="0" sz="1400" u="none" cap="none" strike="noStrike">
              <a:solidFill>
                <a:srgbClr val="000000"/>
              </a:solidFill>
              <a:latin typeface="Arial"/>
              <a:ea typeface="Arial"/>
              <a:cs typeface="Arial"/>
              <a:sym typeface="Arial"/>
            </a:endParaRPr>
          </a:p>
        </p:txBody>
      </p:sp>
      <p:sp>
        <p:nvSpPr>
          <p:cNvPr id="1009" name="Google Shape;1009;p49"/>
          <p:cNvSpPr txBox="1"/>
          <p:nvPr/>
        </p:nvSpPr>
        <p:spPr>
          <a:xfrm>
            <a:off x="8302752" y="5376672"/>
            <a:ext cx="31548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sng" cap="none" strike="noStrike">
                <a:solidFill>
                  <a:schemeClr val="hlink"/>
                </a:solidFill>
                <a:latin typeface="Calibri"/>
                <a:ea typeface="Calibri"/>
                <a:cs typeface="Calibri"/>
                <a:sym typeface="Calibri"/>
                <a:hlinkClick r:id="rId5"/>
              </a:rPr>
              <a:t>GitHub : code du livre</a:t>
            </a:r>
            <a:endParaRPr b="0" i="0" spc="0" sz="1400" u="none" cap="none" strike="noStrike">
              <a:solidFill>
                <a:srgbClr val="000000"/>
              </a:solidFill>
              <a:latin typeface="Arial"/>
              <a:ea typeface="Arial"/>
              <a:cs typeface="Arial"/>
              <a:sym typeface="Arial"/>
            </a:endParaRPr>
          </a:p>
        </p:txBody>
      </p:sp>
      <p:sp>
        <p:nvSpPr>
          <p:cNvPr id="1010" name="Google Shape;1010;p49"/>
          <p:cNvSpPr txBox="1"/>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1400" u="none" cap="none" strike="noStrike">
              <a:solidFill>
                <a:srgbClr val="000000"/>
              </a:solidFill>
              <a:latin typeface="Arial"/>
              <a:ea typeface="Arial"/>
              <a:cs typeface="Arial"/>
              <a:sym typeface="Arial"/>
            </a:endParaRPr>
          </a:p>
        </p:txBody>
      </p:sp>
      <p:sp>
        <p:nvSpPr>
          <p:cNvPr id="1011" name="Google Shape;1011;p49"/>
          <p:cNvSpPr txBox="1"/>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900"/>
              <a:buFont typeface="Arial"/>
              <a:buNone/>
            </a:pPr>
            <a:r>
              <a:rPr b="0" i="0" lang="en-US" spc="0" sz="900" u="none" cap="none" strike="noStrike">
                <a:solidFill>
                  <a:srgbClr val="9DB0C2"/>
                </a:solidFill>
                <a:latin typeface="Calibri"/>
                <a:ea typeface="Calibri"/>
                <a:cs typeface="Calibri"/>
                <a:sym typeface="Calibri"/>
              </a:rPr>
              <a:t>47</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536"/>
        </a:solidFill>
      </p:bgPr>
    </p:bg>
    <p:spTree>
      <p:nvGrpSpPr>
        <p:cNvPr id="1016" name="Shape 1016"/>
        <p:cNvGrpSpPr/>
        <p:nvPr/>
      </p:nvGrpSpPr>
      <p:grpSpPr>
        <a:xfrm>
          <a:off x="0" y="0"/>
          <a:ext cx="0" cy="0"/>
          <a:chOff x="0" y="0"/>
          <a:chExt cx="0" cy="0"/>
        </a:xfrm>
      </p:grpSpPr>
      <p:sp>
        <p:nvSpPr>
          <p:cNvPr id="1017" name="Google Shape;1017;h4e54527ace7bd234_0_0"/>
          <p:cNvSpPr/>
          <p:nvPr/>
        </p:nvSpPr>
        <p:spPr>
          <a:xfrm>
            <a:off x="9784080" y="457200"/>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8" name="Google Shape;1018;h4e54527ace7bd234_0_0"/>
          <p:cNvSpPr/>
          <p:nvPr/>
        </p:nvSpPr>
        <p:spPr>
          <a:xfrm>
            <a:off x="10168128" y="457200"/>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19" name="Google Shape;1019;h4e54527ace7bd234_0_0"/>
          <p:cNvSpPr/>
          <p:nvPr/>
        </p:nvSpPr>
        <p:spPr>
          <a:xfrm>
            <a:off x="10552176" y="457200"/>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0" name="Google Shape;1020;h4e54527ace7bd234_0_0"/>
          <p:cNvSpPr/>
          <p:nvPr/>
        </p:nvSpPr>
        <p:spPr>
          <a:xfrm>
            <a:off x="10936224" y="457200"/>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1" name="Google Shape;1021;h4e54527ace7bd234_0_0"/>
          <p:cNvSpPr/>
          <p:nvPr/>
        </p:nvSpPr>
        <p:spPr>
          <a:xfrm>
            <a:off x="11320272" y="457200"/>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2" name="Google Shape;1022;h4e54527ace7bd234_0_0"/>
          <p:cNvSpPr/>
          <p:nvPr/>
        </p:nvSpPr>
        <p:spPr>
          <a:xfrm>
            <a:off x="9784080" y="841248"/>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3" name="Google Shape;1023;h4e54527ace7bd234_0_0"/>
          <p:cNvSpPr/>
          <p:nvPr/>
        </p:nvSpPr>
        <p:spPr>
          <a:xfrm>
            <a:off x="10168128" y="841248"/>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4" name="Google Shape;1024;h4e54527ace7bd234_0_0"/>
          <p:cNvSpPr/>
          <p:nvPr/>
        </p:nvSpPr>
        <p:spPr>
          <a:xfrm>
            <a:off x="10552176" y="841248"/>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5" name="Google Shape;1025;h4e54527ace7bd234_0_0"/>
          <p:cNvSpPr/>
          <p:nvPr/>
        </p:nvSpPr>
        <p:spPr>
          <a:xfrm>
            <a:off x="10936224" y="841248"/>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6" name="Google Shape;1026;h4e54527ace7bd234_0_0"/>
          <p:cNvSpPr/>
          <p:nvPr/>
        </p:nvSpPr>
        <p:spPr>
          <a:xfrm>
            <a:off x="11320272" y="841248"/>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7" name="Google Shape;1027;h4e54527ace7bd234_0_0"/>
          <p:cNvSpPr/>
          <p:nvPr/>
        </p:nvSpPr>
        <p:spPr>
          <a:xfrm>
            <a:off x="9784080" y="1225296"/>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8" name="Google Shape;1028;h4e54527ace7bd234_0_0"/>
          <p:cNvSpPr/>
          <p:nvPr/>
        </p:nvSpPr>
        <p:spPr>
          <a:xfrm>
            <a:off x="10168128" y="1225296"/>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9" name="Google Shape;1029;h4e54527ace7bd234_0_0"/>
          <p:cNvSpPr/>
          <p:nvPr/>
        </p:nvSpPr>
        <p:spPr>
          <a:xfrm>
            <a:off x="10552176" y="1225296"/>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0" name="Google Shape;1030;h4e54527ace7bd234_0_0"/>
          <p:cNvSpPr/>
          <p:nvPr/>
        </p:nvSpPr>
        <p:spPr>
          <a:xfrm>
            <a:off x="10936224" y="1225296"/>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1" name="Google Shape;1031;h4e54527ace7bd234_0_0"/>
          <p:cNvSpPr/>
          <p:nvPr/>
        </p:nvSpPr>
        <p:spPr>
          <a:xfrm>
            <a:off x="11320272" y="1225296"/>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2" name="Google Shape;1032;h4e54527ace7bd234_0_0"/>
          <p:cNvSpPr/>
          <p:nvPr/>
        </p:nvSpPr>
        <p:spPr>
          <a:xfrm>
            <a:off x="9784080" y="1609344"/>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3" name="Google Shape;1033;h4e54527ace7bd234_0_0"/>
          <p:cNvSpPr/>
          <p:nvPr/>
        </p:nvSpPr>
        <p:spPr>
          <a:xfrm>
            <a:off x="10168128" y="1609344"/>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4" name="Google Shape;1034;h4e54527ace7bd234_0_0"/>
          <p:cNvSpPr/>
          <p:nvPr/>
        </p:nvSpPr>
        <p:spPr>
          <a:xfrm>
            <a:off x="10552176" y="1609344"/>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5" name="Google Shape;1035;h4e54527ace7bd234_0_0"/>
          <p:cNvSpPr/>
          <p:nvPr/>
        </p:nvSpPr>
        <p:spPr>
          <a:xfrm>
            <a:off x="10936224" y="1609344"/>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6" name="Google Shape;1036;h4e54527ace7bd234_0_0"/>
          <p:cNvSpPr/>
          <p:nvPr/>
        </p:nvSpPr>
        <p:spPr>
          <a:xfrm>
            <a:off x="11320272" y="1609344"/>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7" name="Google Shape;1037;h4e54527ace7bd234_0_0"/>
          <p:cNvSpPr/>
          <p:nvPr/>
        </p:nvSpPr>
        <p:spPr>
          <a:xfrm>
            <a:off x="9784080" y="1993392"/>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8" name="Google Shape;1038;h4e54527ace7bd234_0_0"/>
          <p:cNvSpPr/>
          <p:nvPr/>
        </p:nvSpPr>
        <p:spPr>
          <a:xfrm>
            <a:off x="10168128" y="1993392"/>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9" name="Google Shape;1039;h4e54527ace7bd234_0_0"/>
          <p:cNvSpPr/>
          <p:nvPr/>
        </p:nvSpPr>
        <p:spPr>
          <a:xfrm>
            <a:off x="10552176" y="1993392"/>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0" name="Google Shape;1040;h4e54527ace7bd234_0_0"/>
          <p:cNvSpPr/>
          <p:nvPr/>
        </p:nvSpPr>
        <p:spPr>
          <a:xfrm>
            <a:off x="10936224" y="1993392"/>
            <a:ext cx="128100" cy="128100"/>
          </a:xfrm>
          <a:prstGeom prst="ellipse">
            <a:avLst/>
          </a:prstGeom>
          <a:solidFill>
            <a:srgbClr val="C77B4C"/>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1" name="Google Shape;1041;h4e54527ace7bd234_0_0"/>
          <p:cNvSpPr/>
          <p:nvPr/>
        </p:nvSpPr>
        <p:spPr>
          <a:xfrm>
            <a:off x="11320272" y="1993392"/>
            <a:ext cx="128100" cy="128100"/>
          </a:xfrm>
          <a:prstGeom prst="ellipse">
            <a:avLst/>
          </a:prstGeom>
          <a:solidFill>
            <a:srgbClr val="9A542F"/>
          </a:solidFill>
          <a:ln cap="flat" cmpd="sng" w="12700">
            <a:solidFill>
              <a:srgbClr val="11253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2" name="Google Shape;1042;h4e54527ace7bd234_0_0"/>
          <p:cNvSpPr/>
          <p:nvPr/>
        </p:nvSpPr>
        <p:spPr>
          <a:xfrm>
            <a:off x="566928" y="685800"/>
            <a:ext cx="110550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400"/>
              <a:buFont typeface="Calibri"/>
              <a:buNone/>
            </a:pPr>
            <a:r>
              <a:rPr b="1" i="0" lang="en-US" spc="0" sz="1400" u="none" cap="none" strike="noStrike">
                <a:solidFill>
                  <a:srgbClr val="C77B4C"/>
                </a:solidFill>
                <a:latin typeface="Calibri"/>
                <a:ea typeface="Calibri"/>
                <a:cs typeface="Calibri"/>
                <a:sym typeface="Calibri"/>
              </a:rPr>
              <a:t>TP 1 · SÉANCE 1 </a:t>
            </a:r>
            <a:endParaRPr b="0" i="0" spc="0" sz="1400" u="none" cap="none" strike="noStrike">
              <a:solidFill>
                <a:schemeClr val="dk1"/>
              </a:solidFill>
              <a:latin typeface="Calibri"/>
              <a:ea typeface="Calibri"/>
              <a:cs typeface="Calibri"/>
              <a:sym typeface="Calibri"/>
            </a:endParaRPr>
          </a:p>
        </p:txBody>
      </p:sp>
      <p:sp>
        <p:nvSpPr>
          <p:cNvPr id="1043" name="Google Shape;1043;h4e54527ace7bd234_0_0"/>
          <p:cNvSpPr/>
          <p:nvPr/>
        </p:nvSpPr>
        <p:spPr>
          <a:xfrm>
            <a:off x="566928" y="1097280"/>
            <a:ext cx="11055000" cy="731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3200"/>
              <a:buFont typeface="Cambria"/>
              <a:buNone/>
            </a:pPr>
            <a:r>
              <a:rPr b="1" i="0" lang="en-US" spc="0" sz="3200" u="none" cap="none" strike="noStrike">
                <a:solidFill>
                  <a:srgbClr val="F1EADF"/>
                </a:solidFill>
                <a:latin typeface="Cambria"/>
                <a:ea typeface="Cambria"/>
                <a:cs typeface="Cambria"/>
                <a:sym typeface="Cambria"/>
              </a:rPr>
              <a:t>Mettre en place un chatbot RAG local</a:t>
            </a:r>
            <a:endParaRPr b="0" i="0" spc="0" sz="3200" u="none" cap="none" strike="noStrike">
              <a:solidFill>
                <a:schemeClr val="dk1"/>
              </a:solidFill>
              <a:latin typeface="Calibri"/>
              <a:ea typeface="Calibri"/>
              <a:cs typeface="Calibri"/>
              <a:sym typeface="Calibri"/>
            </a:endParaRPr>
          </a:p>
        </p:txBody>
      </p:sp>
      <p:sp>
        <p:nvSpPr>
          <p:cNvPr id="1044" name="Google Shape;1044;h4e54527ace7bd234_0_0"/>
          <p:cNvSpPr/>
          <p:nvPr/>
        </p:nvSpPr>
        <p:spPr>
          <a:xfrm>
            <a:off x="566928" y="2011680"/>
            <a:ext cx="11055000" cy="777300"/>
          </a:xfrm>
          <a:prstGeom prst="roundRect">
            <a:avLst>
              <a:gd fmla="val 9412"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5" name="Google Shape;1045;h4e54527ace7bd234_0_0"/>
          <p:cNvSpPr/>
          <p:nvPr/>
        </p:nvSpPr>
        <p:spPr>
          <a:xfrm>
            <a:off x="841248" y="2011680"/>
            <a:ext cx="10506600" cy="777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450"/>
              <a:buFont typeface="Calibri"/>
              <a:buNone/>
            </a:pPr>
            <a:r>
              <a:rPr b="1" i="0" lang="en-US" spc="0" sz="1450" u="none" cap="none" strike="noStrike">
                <a:solidFill>
                  <a:srgbClr val="C77B4C"/>
                </a:solidFill>
                <a:latin typeface="Calibri"/>
                <a:ea typeface="Calibri"/>
                <a:cs typeface="Calibri"/>
                <a:sym typeface="Calibri"/>
              </a:rPr>
              <a:t>Objectif   </a:t>
            </a:r>
            <a:r>
              <a:rPr b="0" i="0" lang="en-US" spc="0" sz="1450" u="none" cap="none" strike="noStrike">
                <a:solidFill>
                  <a:srgbClr val="F1EADF"/>
                </a:solidFill>
                <a:latin typeface="Calibri"/>
                <a:ea typeface="Calibri"/>
                <a:cs typeface="Calibri"/>
                <a:sym typeface="Calibri"/>
              </a:rPr>
              <a:t>créer un pipeline RAG fonctionnel sur un corpus fourni, avec une stack open-source locale.</a:t>
            </a:r>
            <a:endParaRPr b="0" i="0" spc="0" sz="1450" u="none" cap="none" strike="noStrike">
              <a:solidFill>
                <a:schemeClr val="dk1"/>
              </a:solidFill>
              <a:latin typeface="Calibri"/>
              <a:ea typeface="Calibri"/>
              <a:cs typeface="Calibri"/>
              <a:sym typeface="Calibri"/>
            </a:endParaRPr>
          </a:p>
        </p:txBody>
      </p:sp>
      <p:sp>
        <p:nvSpPr>
          <p:cNvPr id="1046" name="Google Shape;1046;h4e54527ace7bd234_0_0"/>
          <p:cNvSpPr/>
          <p:nvPr/>
        </p:nvSpPr>
        <p:spPr>
          <a:xfrm>
            <a:off x="566928" y="3017520"/>
            <a:ext cx="54864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CONSIGNES</a:t>
            </a:r>
            <a:endParaRPr b="0" i="0" spc="0" sz="1200" u="none" cap="none" strike="noStrike">
              <a:solidFill>
                <a:schemeClr val="dk1"/>
              </a:solidFill>
              <a:latin typeface="Calibri"/>
              <a:ea typeface="Calibri"/>
              <a:cs typeface="Calibri"/>
              <a:sym typeface="Calibri"/>
            </a:endParaRPr>
          </a:p>
        </p:txBody>
      </p:sp>
      <p:sp>
        <p:nvSpPr>
          <p:cNvPr id="1047" name="Google Shape;1047;h4e54527ace7bd234_0_0"/>
          <p:cNvSpPr/>
          <p:nvPr/>
        </p:nvSpPr>
        <p:spPr>
          <a:xfrm>
            <a:off x="566928" y="3383280"/>
            <a:ext cx="384000" cy="3840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8" name="Google Shape;1048;h4e54527ace7bd234_0_0"/>
          <p:cNvSpPr/>
          <p:nvPr/>
        </p:nvSpPr>
        <p:spPr>
          <a:xfrm>
            <a:off x="566928" y="3383280"/>
            <a:ext cx="3840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400"/>
              <a:buFont typeface="Cambria"/>
              <a:buNone/>
            </a:pPr>
            <a:r>
              <a:rPr b="1" i="0" lang="en-US" spc="0" sz="1400" u="none" cap="none" strike="noStrike">
                <a:solidFill>
                  <a:srgbClr val="112536"/>
                </a:solidFill>
                <a:latin typeface="Cambria"/>
                <a:ea typeface="Cambria"/>
                <a:cs typeface="Cambria"/>
                <a:sym typeface="Cambria"/>
              </a:rPr>
              <a:t>1</a:t>
            </a:r>
            <a:endParaRPr b="0" i="0" spc="0" sz="1400" u="none" cap="none" strike="noStrike">
              <a:solidFill>
                <a:schemeClr val="dk1"/>
              </a:solidFill>
              <a:latin typeface="Calibri"/>
              <a:ea typeface="Calibri"/>
              <a:cs typeface="Calibri"/>
              <a:sym typeface="Calibri"/>
            </a:endParaRPr>
          </a:p>
        </p:txBody>
      </p:sp>
      <p:sp>
        <p:nvSpPr>
          <p:cNvPr id="1049" name="Google Shape;1049;h4e54527ace7bd234_0_0"/>
          <p:cNvSpPr/>
          <p:nvPr/>
        </p:nvSpPr>
        <p:spPr>
          <a:xfrm>
            <a:off x="1133856" y="3355848"/>
            <a:ext cx="67665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Charger le corpus et implémenter un chunking justifié</a:t>
            </a:r>
            <a:endParaRPr b="0" i="0" spc="0" sz="1400" u="none" cap="none" strike="noStrike">
              <a:solidFill>
                <a:schemeClr val="dk1"/>
              </a:solidFill>
              <a:latin typeface="Calibri"/>
              <a:ea typeface="Calibri"/>
              <a:cs typeface="Calibri"/>
              <a:sym typeface="Calibri"/>
            </a:endParaRPr>
          </a:p>
        </p:txBody>
      </p:sp>
      <p:sp>
        <p:nvSpPr>
          <p:cNvPr id="1050" name="Google Shape;1050;h4e54527ace7bd234_0_0"/>
          <p:cNvSpPr/>
          <p:nvPr/>
        </p:nvSpPr>
        <p:spPr>
          <a:xfrm>
            <a:off x="566928" y="3950208"/>
            <a:ext cx="384000" cy="3840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1" name="Google Shape;1051;h4e54527ace7bd234_0_0"/>
          <p:cNvSpPr/>
          <p:nvPr/>
        </p:nvSpPr>
        <p:spPr>
          <a:xfrm>
            <a:off x="566928" y="3950208"/>
            <a:ext cx="3840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400"/>
              <a:buFont typeface="Cambria"/>
              <a:buNone/>
            </a:pPr>
            <a:r>
              <a:rPr b="1" i="0" lang="en-US" spc="0" sz="1400" u="none" cap="none" strike="noStrike">
                <a:solidFill>
                  <a:srgbClr val="112536"/>
                </a:solidFill>
                <a:latin typeface="Cambria"/>
                <a:ea typeface="Cambria"/>
                <a:cs typeface="Cambria"/>
                <a:sym typeface="Cambria"/>
              </a:rPr>
              <a:t>2</a:t>
            </a:r>
            <a:endParaRPr b="0" i="0" spc="0" sz="1400" u="none" cap="none" strike="noStrike">
              <a:solidFill>
                <a:schemeClr val="dk1"/>
              </a:solidFill>
              <a:latin typeface="Calibri"/>
              <a:ea typeface="Calibri"/>
              <a:cs typeface="Calibri"/>
              <a:sym typeface="Calibri"/>
            </a:endParaRPr>
          </a:p>
        </p:txBody>
      </p:sp>
      <p:sp>
        <p:nvSpPr>
          <p:cNvPr id="1052" name="Google Shape;1052;h4e54527ace7bd234_0_0"/>
          <p:cNvSpPr/>
          <p:nvPr/>
        </p:nvSpPr>
        <p:spPr>
          <a:xfrm>
            <a:off x="1133856" y="3922776"/>
            <a:ext cx="67665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Vectoriser avec sentence-transformers et indexer dans ChromaDB</a:t>
            </a:r>
            <a:endParaRPr b="0" i="0" spc="0" sz="1400" u="none" cap="none" strike="noStrike">
              <a:solidFill>
                <a:schemeClr val="dk1"/>
              </a:solidFill>
              <a:latin typeface="Calibri"/>
              <a:ea typeface="Calibri"/>
              <a:cs typeface="Calibri"/>
              <a:sym typeface="Calibri"/>
            </a:endParaRPr>
          </a:p>
        </p:txBody>
      </p:sp>
      <p:sp>
        <p:nvSpPr>
          <p:cNvPr id="1053" name="Google Shape;1053;h4e54527ace7bd234_0_0"/>
          <p:cNvSpPr/>
          <p:nvPr/>
        </p:nvSpPr>
        <p:spPr>
          <a:xfrm>
            <a:off x="566928" y="4517136"/>
            <a:ext cx="384000" cy="3840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4" name="Google Shape;1054;h4e54527ace7bd234_0_0"/>
          <p:cNvSpPr/>
          <p:nvPr/>
        </p:nvSpPr>
        <p:spPr>
          <a:xfrm>
            <a:off x="566928" y="4517136"/>
            <a:ext cx="3840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400"/>
              <a:buFont typeface="Cambria"/>
              <a:buNone/>
            </a:pPr>
            <a:r>
              <a:rPr b="1" i="0" lang="en-US" spc="0" sz="1400" u="none" cap="none" strike="noStrike">
                <a:solidFill>
                  <a:srgbClr val="112536"/>
                </a:solidFill>
                <a:latin typeface="Cambria"/>
                <a:ea typeface="Cambria"/>
                <a:cs typeface="Cambria"/>
                <a:sym typeface="Cambria"/>
              </a:rPr>
              <a:t>3</a:t>
            </a:r>
            <a:endParaRPr b="0" i="0" spc="0" sz="1400" u="none" cap="none" strike="noStrike">
              <a:solidFill>
                <a:schemeClr val="dk1"/>
              </a:solidFill>
              <a:latin typeface="Calibri"/>
              <a:ea typeface="Calibri"/>
              <a:cs typeface="Calibri"/>
              <a:sym typeface="Calibri"/>
            </a:endParaRPr>
          </a:p>
        </p:txBody>
      </p:sp>
      <p:sp>
        <p:nvSpPr>
          <p:cNvPr id="1055" name="Google Shape;1055;h4e54527ace7bd234_0_0"/>
          <p:cNvSpPr/>
          <p:nvPr/>
        </p:nvSpPr>
        <p:spPr>
          <a:xfrm>
            <a:off x="1133856" y="4489704"/>
            <a:ext cx="67665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Connecter la recherche vectorielle à Ollama (LLM local)</a:t>
            </a:r>
            <a:endParaRPr b="0" i="0" spc="0" sz="1400" u="none" cap="none" strike="noStrike">
              <a:solidFill>
                <a:schemeClr val="dk1"/>
              </a:solidFill>
              <a:latin typeface="Calibri"/>
              <a:ea typeface="Calibri"/>
              <a:cs typeface="Calibri"/>
              <a:sym typeface="Calibri"/>
            </a:endParaRPr>
          </a:p>
        </p:txBody>
      </p:sp>
      <p:sp>
        <p:nvSpPr>
          <p:cNvPr id="1056" name="Google Shape;1056;h4e54527ace7bd234_0_0"/>
          <p:cNvSpPr/>
          <p:nvPr/>
        </p:nvSpPr>
        <p:spPr>
          <a:xfrm>
            <a:off x="566928" y="5084064"/>
            <a:ext cx="384000" cy="384000"/>
          </a:xfrm>
          <a:prstGeom prst="ellipse">
            <a:avLst/>
          </a:prstGeom>
          <a:solidFill>
            <a:srgbClr val="9A542F"/>
          </a:solidFill>
          <a:ln cap="flat" cmpd="sng" w="12700">
            <a:solidFill>
              <a:srgbClr val="9A542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7" name="Google Shape;1057;h4e54527ace7bd234_0_0"/>
          <p:cNvSpPr/>
          <p:nvPr/>
        </p:nvSpPr>
        <p:spPr>
          <a:xfrm>
            <a:off x="566928" y="5084064"/>
            <a:ext cx="3840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12536"/>
              </a:buClr>
              <a:buSzPts val="1400"/>
              <a:buFont typeface="Cambria"/>
              <a:buNone/>
            </a:pPr>
            <a:r>
              <a:rPr b="1" i="0" lang="en-US" spc="0" sz="1400" u="none" cap="none" strike="noStrike">
                <a:solidFill>
                  <a:srgbClr val="112536"/>
                </a:solidFill>
                <a:latin typeface="Cambria"/>
                <a:ea typeface="Cambria"/>
                <a:cs typeface="Cambria"/>
                <a:sym typeface="Cambria"/>
              </a:rPr>
              <a:t>4</a:t>
            </a:r>
            <a:endParaRPr b="0" i="0" spc="0" sz="1400" u="none" cap="none" strike="noStrike">
              <a:solidFill>
                <a:schemeClr val="dk1"/>
              </a:solidFill>
              <a:latin typeface="Calibri"/>
              <a:ea typeface="Calibri"/>
              <a:cs typeface="Calibri"/>
              <a:sym typeface="Calibri"/>
            </a:endParaRPr>
          </a:p>
        </p:txBody>
      </p:sp>
      <p:sp>
        <p:nvSpPr>
          <p:cNvPr id="1058" name="Google Shape;1058;h4e54527ace7bd234_0_0"/>
          <p:cNvSpPr/>
          <p:nvPr/>
        </p:nvSpPr>
        <p:spPr>
          <a:xfrm>
            <a:off x="1133856" y="5056632"/>
            <a:ext cx="6766500" cy="438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400"/>
              <a:buFont typeface="Calibri"/>
              <a:buNone/>
            </a:pPr>
            <a:r>
              <a:rPr b="0" i="0" lang="en-US" spc="0" sz="1400" u="none" cap="none" strike="noStrike">
                <a:solidFill>
                  <a:srgbClr val="F1EADF"/>
                </a:solidFill>
                <a:latin typeface="Calibri"/>
                <a:ea typeface="Calibri"/>
                <a:cs typeface="Calibri"/>
                <a:sym typeface="Calibri"/>
              </a:rPr>
              <a:t>Créer une interface basique avec Streamlit ou Gradio</a:t>
            </a:r>
            <a:endParaRPr b="0" i="0" spc="0" sz="1400" u="none" cap="none" strike="noStrike">
              <a:solidFill>
                <a:schemeClr val="dk1"/>
              </a:solidFill>
              <a:latin typeface="Calibri"/>
              <a:ea typeface="Calibri"/>
              <a:cs typeface="Calibri"/>
              <a:sym typeface="Calibri"/>
            </a:endParaRPr>
          </a:p>
        </p:txBody>
      </p:sp>
      <p:sp>
        <p:nvSpPr>
          <p:cNvPr id="1059" name="Google Shape;1059;h4e54527ace7bd234_0_0"/>
          <p:cNvSpPr/>
          <p:nvPr/>
        </p:nvSpPr>
        <p:spPr>
          <a:xfrm>
            <a:off x="7818120" y="3337560"/>
            <a:ext cx="3804000" cy="2331600"/>
          </a:xfrm>
          <a:prstGeom prst="roundRect">
            <a:avLst>
              <a:gd fmla="val 3137" name="adj"/>
            </a:avLst>
          </a:prstGeom>
          <a:solidFill>
            <a:srgbClr val="244766"/>
          </a:solidFill>
          <a:ln cap="flat" cmpd="sng" w="12700">
            <a:solidFill>
              <a:srgbClr val="C77B4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60" name="Google Shape;1060;h4e54527ace7bd234_0_0"/>
          <p:cNvSpPr/>
          <p:nvPr/>
        </p:nvSpPr>
        <p:spPr>
          <a:xfrm>
            <a:off x="8092440" y="3520440"/>
            <a:ext cx="32553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77B4C"/>
              </a:buClr>
              <a:buSzPts val="1200"/>
              <a:buFont typeface="Calibri"/>
              <a:buNone/>
            </a:pPr>
            <a:r>
              <a:rPr b="1" i="0" lang="en-US" spc="0" sz="1200" u="none" cap="none" strike="noStrike">
                <a:solidFill>
                  <a:srgbClr val="C77B4C"/>
                </a:solidFill>
                <a:latin typeface="Calibri"/>
                <a:ea typeface="Calibri"/>
                <a:cs typeface="Calibri"/>
                <a:sym typeface="Calibri"/>
              </a:rPr>
              <a:t>LIVRABLE</a:t>
            </a:r>
            <a:endParaRPr b="0" i="0" spc="0" sz="1200" u="none" cap="none" strike="noStrike">
              <a:solidFill>
                <a:schemeClr val="dk1"/>
              </a:solidFill>
              <a:latin typeface="Calibri"/>
              <a:ea typeface="Calibri"/>
              <a:cs typeface="Calibri"/>
              <a:sym typeface="Calibri"/>
            </a:endParaRPr>
          </a:p>
        </p:txBody>
      </p:sp>
      <p:sp>
        <p:nvSpPr>
          <p:cNvPr id="1061" name="Google Shape;1061;h4e54527ace7bd234_0_0"/>
          <p:cNvSpPr/>
          <p:nvPr/>
        </p:nvSpPr>
        <p:spPr>
          <a:xfrm>
            <a:off x="8092440" y="3840480"/>
            <a:ext cx="32553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1EADF"/>
              </a:buClr>
              <a:buSzPts val="1900"/>
              <a:buFont typeface="Cambria"/>
              <a:buNone/>
            </a:pPr>
            <a:r>
              <a:rPr b="1" i="0" lang="en-US" spc="0" sz="1900" u="none" cap="none" strike="noStrike">
                <a:solidFill>
                  <a:srgbClr val="F1EADF"/>
                </a:solidFill>
                <a:latin typeface="Cambria"/>
                <a:ea typeface="Cambria"/>
                <a:cs typeface="Cambria"/>
                <a:sym typeface="Cambria"/>
              </a:rPr>
              <a:t>Dépôt GitHub</a:t>
            </a:r>
            <a:endParaRPr b="0" i="0" spc="0" sz="1900" u="none" cap="none" strike="noStrike">
              <a:solidFill>
                <a:schemeClr val="dk1"/>
              </a:solidFill>
              <a:latin typeface="Calibri"/>
              <a:ea typeface="Calibri"/>
              <a:cs typeface="Calibri"/>
              <a:sym typeface="Calibri"/>
            </a:endParaRPr>
          </a:p>
        </p:txBody>
      </p:sp>
      <p:sp>
        <p:nvSpPr>
          <p:cNvPr id="1062" name="Google Shape;1062;h4e54527ace7bd234_0_0"/>
          <p:cNvSpPr/>
          <p:nvPr/>
        </p:nvSpPr>
        <p:spPr>
          <a:xfrm>
            <a:off x="8092440" y="4434840"/>
            <a:ext cx="3255300" cy="1188600"/>
          </a:xfrm>
          <a:prstGeom prst="rect">
            <a:avLst/>
          </a:prstGeom>
          <a:noFill/>
          <a:ln>
            <a:noFill/>
          </a:ln>
        </p:spPr>
        <p:txBody>
          <a:bodyPr anchorCtr="0" anchor="t" bIns="45700" lIns="91425" spcFirstLastPara="1" rIns="91425" wrap="square" tIns="45700">
            <a:noAutofit/>
          </a:bodyPr>
          <a:lstStyle/>
          <a:p>
            <a:pPr indent="-177800" lvl="0" marL="177800" marR="0" rtl="0" algn="l">
              <a:lnSpc>
                <a:spcPct val="102000"/>
              </a:lnSpc>
              <a:spcBef>
                <a:spcPts val="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README</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Code source</a:t>
            </a:r>
            <a:endParaRPr b="0" i="0" spc="0" sz="1400" u="none" cap="none" strike="noStrike">
              <a:solidFill>
                <a:schemeClr val="dk1"/>
              </a:solidFill>
              <a:latin typeface="Calibri"/>
              <a:ea typeface="Calibri"/>
              <a:cs typeface="Calibri"/>
              <a:sym typeface="Calibri"/>
            </a:endParaRPr>
          </a:p>
          <a:p>
            <a:pPr indent="-177800" lvl="0" marL="177800" marR="0" rtl="0" algn="l">
              <a:lnSpc>
                <a:spcPct val="102000"/>
              </a:lnSpc>
              <a:spcBef>
                <a:spcPts val="800"/>
              </a:spcBef>
              <a:spcAft>
                <a:spcPts val="0"/>
              </a:spcAft>
              <a:buClr>
                <a:srgbClr val="F1EADF"/>
              </a:buClr>
              <a:buSzPts val="1400"/>
              <a:buFont typeface="Calibri"/>
              <a:buChar char="•"/>
            </a:pPr>
            <a:r>
              <a:rPr b="0" i="0" lang="en-US" spc="0" sz="1400" u="none" cap="none" strike="noStrike">
                <a:solidFill>
                  <a:srgbClr val="F1EADF"/>
                </a:solidFill>
                <a:latin typeface="Calibri"/>
                <a:ea typeface="Calibri"/>
                <a:cs typeface="Calibri"/>
                <a:sym typeface="Calibri"/>
              </a:rPr>
              <a:t>5 exemples Q/R testés</a:t>
            </a:r>
            <a:endParaRPr b="0" i="0" spc="0" sz="1400" u="none" cap="none" strike="noStrike">
              <a:solidFill>
                <a:schemeClr val="dk1"/>
              </a:solidFill>
              <a:latin typeface="Calibri"/>
              <a:ea typeface="Calibri"/>
              <a:cs typeface="Calibri"/>
              <a:sym typeface="Calibri"/>
            </a:endParaRPr>
          </a:p>
        </p:txBody>
      </p:sp>
      <p:sp>
        <p:nvSpPr>
          <p:cNvPr id="1063" name="Google Shape;1063;h4e54527ace7bd234_0_0"/>
          <p:cNvSpPr/>
          <p:nvPr/>
        </p:nvSpPr>
        <p:spPr>
          <a:xfrm>
            <a:off x="566928" y="6455664"/>
            <a:ext cx="82296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FM02 · IA Générative - M2 Lead Dev Full Stack · ENSITECH</a:t>
            </a:r>
            <a:endParaRPr b="0" i="0" spc="0" sz="900" u="none" cap="none" strike="noStrike">
              <a:solidFill>
                <a:schemeClr val="dk1"/>
              </a:solidFill>
              <a:latin typeface="Calibri"/>
              <a:ea typeface="Calibri"/>
              <a:cs typeface="Calibri"/>
              <a:sym typeface="Calibri"/>
            </a:endParaRPr>
          </a:p>
        </p:txBody>
      </p:sp>
      <p:sp>
        <p:nvSpPr>
          <p:cNvPr id="1064" name="Google Shape;1064;h4e54527ace7bd234_0_0"/>
          <p:cNvSpPr/>
          <p:nvPr/>
        </p:nvSpPr>
        <p:spPr>
          <a:xfrm>
            <a:off x="11292840" y="6455664"/>
            <a:ext cx="502800" cy="274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9DB0C2"/>
              </a:buClr>
              <a:buSzPts val="900"/>
              <a:buFont typeface="Calibri"/>
              <a:buNone/>
            </a:pPr>
            <a:r>
              <a:rPr b="0" i="0" lang="en-US" spc="0" sz="900" u="none" cap="none" strike="noStrike">
                <a:solidFill>
                  <a:srgbClr val="9DB0C2"/>
                </a:solidFill>
                <a:latin typeface="Calibri"/>
                <a:ea typeface="Calibri"/>
                <a:cs typeface="Calibri"/>
                <a:sym typeface="Calibri"/>
              </a:rPr>
              <a:t>35</a:t>
            </a:r>
            <a:endParaRPr b="0" i="0" spc="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2026-08-19T10:58:53Z</dcterms:created>
  <dc:creator>ENSITECH</dc:creator>
</cp:coreProperties>
</file>